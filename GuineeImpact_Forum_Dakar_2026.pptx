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(45 secondes). Mesdames et Messieurs, chères sœurs et chers frères activistes, Je m’appelle Mamadou Adama BARRY, Président de Guinée Impact , organisation membre du Groupe de Travail Femmes, Jeunes, Paix et Sécurité en Afrique de l’Ouest et au Sahel, en Guinée. À Somone, nous avons pris des engagements ensemble. Je viens vous rendre compte de ce que nous en avons fait. Et je le dis d’emblée : rien de tout cela n’aurait été possible sans nos équipes, notre Directeur Exécutif, M. Racine Diallo, et surtout les femmes et les jeunes avec qui nous travaillons sur le terrain.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Guinée Impact en bref (30 secondes). Guinée Impact est une plateforme de la société civile guinéenne, basée à Conakry. Notre mission : promouvoir une gouvernance responsable, la participation citoyenne, la paix, le leadership et l’autonomisation des jeunes et des femmes. Nous sommes partenaire du projet Filles et Femmes Engagées pour la Construction de la Paix en Guinée (FIFEP), financé par le Fonds des Nations Unies pour la consolidation de la paix.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parcours en dates (1 minute). Avec notre Groupe de Travail et nos partenaires : Juillet 2024 : nous validons les indicateurs d’une plateforme numérique de suivi de la participation des filles et des femmes à la paix, et nous formons 20 mouvements politiques et organisations de la société civile à l’alerte précoce. Août 2024 : une stratégie nationale de plaidoyer voit le jour, construite à partir des plans locaux de 11 zones. Fin 2024 : nous partageons notre expérience à Accra, avec le Groupe de Travail sous-régional, et nous renforçons notre partenariat avec CARE International. Puis viennent Mamou, le festival Les 7 Jours du 7ᵉ Art et Marrakech. Je vous les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Mamou : cinq jours, cinq façons de parler aux communautés (2 minutes). Une stratégie ne change rien si elle reste dans un bureau. Du 16 au 20 janvier 2025, à Mamou, nos équipes l’ont portée jusqu’aux communautés, avec cinq formats : La radio : une émission interactive de deux heures, en direct, avec des femmes leaders et de jeunes activistes. La table ronde : 30 femmes leaders, jeunes et membres d’organisations de la société civile ont analysé les obstacles à la participation des femmes et proposé des solutions. Le lieu de culte : un dialogue de 50 personnes, mené avec les leaders religieux et communautaires, sur les résolutions 1325 et 2250 et sur les mutilations génitales féminines. La scène : du théâtre en langue locale, devant plus de 100 personnes. Le cercle intergénérationnel : deux espaces de dialogue entre femmes leaders et jeunes. Au total, plus de 180 personnes réunies en cinq jours, sans compter les auditeur·rices de la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reconnaissance internationale (1 minute 30). En juin 2025, à Marrakech, s’est tenu le premier Youth Empowerment Summit – YES Africa : plus de 1 000 jeunes leaders, 118 ONG, 43 pays africains. J’y ai été distingué « Champion de la jeunesse africaine sur le droit des jeunes et leur implication dans les instances de prise de décision » . À Somone, nous avons demandé que les jeunes participent vraiment aux décisions. Ce titre montre que ce combat est entendu à l’échelle du continent. Mais un titre ne suffit pas : ce qui compte, c’est que les jeunes, et en particulier les jeunes femmes, siègent réellement là où les décisions se prennent. Ce titre ne m’appartient pas. Il appartient à nos équipes, aux femmes leaders de Mamou, aux leaders religieux qui ont ouvert le dialogue, et aux jeunes qui se sont engagé·es. Et il dit à chacune et chacun d’entre vous : votre travail compte, et il peut être vu.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Suite de la reconnaissance internationale. J’y suis aussi intervenu sur la résilience climatique, l’agriculture et la sécurité alimentaire, en tant que leader de l’agroécologie et de l’autonomisation des jeunes. Ce n’est pas loin de notre sujet : quand les récoltes manquent, les tensions montent, et ce sont souvent les femmes et les jeunes qui en paient le prix. La sécurité alimentaire fait partie de la paix.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culture au service de la paix : le cinéma (1 minute 15). Depuis la 6ᵉ édition, en décembre 2024, je suis ambassadeur du festival Les 7 Jours du 7ᵉ Art , qui fait vivre chaque année à Conakry le cinéma guinéen et ouvre des portes aux jeunes cinéastes. Pourquoi un défenseur de la paix s’engage-t-il dans un festival de cinéma ? Parce qu’à Mamou, une pièce de théâtre en langue locale a touché plus de monde qu’un long discours. Le cinéma a la même force, avec une portée plus grande. Avec nos équipes, nous avons noué des partenariats avec TV5 Monde , Africa 24 et des personnalités africaines ; élaboré un plan d’action sur cinq ans ; fait former l’équipe de coordination par un spécialiste ; et nous hébergeons l’équipe de gestion du festival dans nos locaux. Notre rôle de société civile, c’est aussi de donner aux jeunes créateur·rices les moyens de durer.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nous avons appris (45 secondes). Les résistances se lèvent par le dialogue. Sur les MGF, nous n’avons pas imposé : nous avons discuté, et quand les leaders religieux ont pris la parole, le message a été reçu autrement. La culture est un outil de plaidoyer. Une histoire bien racontée explique la résolution 1325 mieux qu’un long discours. Les générations ont besoin l’une de l’autre. Les femmes leaders apportent l’expérience ; les jeunes, l’énergie et de nouveaux outils. Ce qui nous freine (20 secondes). Nous restons lucides : mobiliser coûte cher, nos activités dépendent de financements par projet, et nous devons mieux mesurer le changement réel des attitudes.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propositions pour la région (1 minute). Reproduire le modèle « cinq formats » dans la campagne régionale contre les violences faites aux femmes et aux filles. Associer les leaders religieux et communautaires aux campagnes sur les VBG et les MGF. Construire des indicateurs communs pour mesurer le changement d’attitude. Obtenir des partenaires, dont ONU Femmes, des financements pluriannuels pour les organisations locales. Organiser des ciné-débats sur les résolutions 1325 et 2250 avec les festivals de la région. Relier notre réseau aux réseaux panafricains d’autonomisation des jeunes, comme YES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(30 secondes). À Somone, nous avons dit que la politique est façonnée par celles et ceux qui s’engagent. Depuis, à Mamou, à Marrakech et sur les écrans de Conakry, nous avons appris que l’engagement finit toujours par être vu. Nos voix, notre paix : continuons à les porter ensemble, jusqu’au dernier village. Je vous remercie.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4332"/>
        </a:solidFill>
      </p:bgPr>
    </p:bg>
    <p:spTree>
      <p:nvGrpSpPr>
        <p:cNvPr id="1" name=""/>
        <p:cNvGrpSpPr/>
        <p:nvPr/>
      </p:nvGrpSpPr>
      <p:grpSpPr>
        <a:xfrm>
          <a:off x="0" y="0"/>
          <a:ext cx="0" cy="0"/>
          <a:chOff x="0" y="0"/>
          <a:chExt cx="0" cy="0"/>
        </a:xfrm>
      </p:grpSpPr>
      <p:sp>
        <p:nvSpPr>
          <p:cNvPr id="2" name="Shape 0"/>
          <p:cNvSpPr/>
          <p:nvPr/>
        </p:nvSpPr>
        <p:spPr>
          <a:xfrm>
            <a:off x="9692640" y="-1463040"/>
            <a:ext cx="4023360" cy="4023360"/>
          </a:xfrm>
          <a:prstGeom prst="ellipse">
            <a:avLst/>
          </a:prstGeom>
          <a:solidFill>
            <a:srgbClr val="2D6A4F"/>
          </a:solidFill>
          <a:ln w="12700">
            <a:solidFill>
              <a:srgbClr val="2D6A4F"/>
            </a:solidFill>
            <a:prstDash val="solid"/>
          </a:ln>
        </p:spPr>
      </p:sp>
      <p:sp>
        <p:nvSpPr>
          <p:cNvPr id="3" name="Shape 1"/>
          <p:cNvSpPr/>
          <p:nvPr/>
        </p:nvSpPr>
        <p:spPr>
          <a:xfrm>
            <a:off x="-1188720" y="4754880"/>
            <a:ext cx="2926080" cy="2926080"/>
          </a:xfrm>
          <a:prstGeom prst="ellipse">
            <a:avLst/>
          </a:prstGeom>
          <a:solidFill>
            <a:srgbClr val="BC6C25">
              <a:alpha val="30000"/>
            </a:srgbClr>
          </a:solidFill>
          <a:ln w="12700">
            <a:solidFill>
              <a:srgbClr val="BC6C25">
                <a:alpha val="30000"/>
              </a:srgbClr>
            </a:solidFill>
            <a:prstDash val="solid"/>
          </a:ln>
        </p:spPr>
      </p:sp>
      <p:sp>
        <p:nvSpPr>
          <p:cNvPr id="4" name="Text 2"/>
          <p:cNvSpPr txBox="1"/>
          <p:nvPr/>
        </p:nvSpPr>
        <p:spPr>
          <a:xfrm>
            <a:off x="822960" y="1188720"/>
            <a:ext cx="8229600" cy="365760"/>
          </a:xfrm>
          <a:prstGeom prst="rect">
            <a:avLst/>
          </a:prstGeom>
          <a:noFill/>
          <a:ln/>
        </p:spPr>
        <p:txBody>
          <a:bodyPr wrap="square" lIns="0" tIns="0" rIns="0" bIns="0" rtlCol="0" anchor="ctr"/>
          <a:lstStyle/>
          <a:p>
            <a:pPr indent="0" marL="0">
              <a:buNone/>
            </a:pPr>
            <a:r>
              <a:rPr lang="en-US" sz="1600" b="1" spc="100" kern="0" dirty="0">
                <a:solidFill>
                  <a:srgbClr val="D4A373"/>
                </a:solidFill>
                <a:latin typeface="Calibri" pitchFamily="34" charset="0"/>
                <a:ea typeface="Calibri" pitchFamily="34" charset="-122"/>
                <a:cs typeface="Calibri" pitchFamily="34" charset="-120"/>
              </a:rPr>
              <a:t>Forum Régional des Jeunes Féministes · 2ᵉ édition</a:t>
            </a:r>
            <a:endParaRPr lang="en-US" sz="1600" dirty="0"/>
          </a:p>
        </p:txBody>
      </p:sp>
      <p:sp>
        <p:nvSpPr>
          <p:cNvPr id="5" name="Text 3"/>
          <p:cNvSpPr txBox="1"/>
          <p:nvPr/>
        </p:nvSpPr>
        <p:spPr>
          <a:xfrm>
            <a:off x="822960" y="1737360"/>
            <a:ext cx="9144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De Somone à Dakar</a:t>
            </a:r>
            <a:endParaRPr lang="en-US" sz="5400" dirty="0"/>
          </a:p>
        </p:txBody>
      </p:sp>
      <p:sp>
        <p:nvSpPr>
          <p:cNvPr id="6" name="Text 4"/>
          <p:cNvSpPr txBox="1"/>
          <p:nvPr/>
        </p:nvSpPr>
        <p:spPr>
          <a:xfrm>
            <a:off x="822960" y="2880360"/>
            <a:ext cx="8686800" cy="822960"/>
          </a:xfrm>
          <a:prstGeom prst="rect">
            <a:avLst/>
          </a:prstGeom>
          <a:noFill/>
          <a:ln/>
        </p:spPr>
        <p:txBody>
          <a:bodyPr wrap="square" lIns="0" tIns="0" rIns="0" bIns="0" rtlCol="0" anchor="ctr"/>
          <a:lstStyle/>
          <a:p>
            <a:pPr indent="0" marL="0">
              <a:buNone/>
            </a:pPr>
            <a:r>
              <a:rPr lang="en-US" sz="2200" i="1" dirty="0">
                <a:solidFill>
                  <a:srgbClr val="D4A373"/>
                </a:solidFill>
                <a:latin typeface="Calibri" pitchFamily="34" charset="0"/>
                <a:ea typeface="Calibri" pitchFamily="34" charset="-122"/>
                <a:cs typeface="Calibri" pitchFamily="34" charset="-120"/>
              </a:rPr>
              <a:t>Le parcours de Guinée Impact pour la paix et la participation des femmes et des jeunes</a:t>
            </a:r>
            <a:endParaRPr lang="en-US" sz="2200" dirty="0"/>
          </a:p>
        </p:txBody>
      </p:sp>
      <p:sp>
        <p:nvSpPr>
          <p:cNvPr id="7" name="Text 5"/>
          <p:cNvSpPr txBox="1"/>
          <p:nvPr/>
        </p:nvSpPr>
        <p:spPr>
          <a:xfrm>
            <a:off x="822960" y="4114800"/>
            <a:ext cx="7315200" cy="8229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Mamadou Adama BARRY</a:t>
            </a:r>
            <a:endParaRPr lang="en-US" sz="2000" dirty="0"/>
          </a:p>
          <a:p>
            <a:pPr indent="0" marL="0">
              <a:buNone/>
            </a:pPr>
            <a:r>
              <a:rPr lang="en-US" sz="1600" dirty="0">
                <a:solidFill>
                  <a:srgbClr val="FFFFFF"/>
                </a:solidFill>
                <a:latin typeface="Calibri" pitchFamily="34" charset="0"/>
                <a:ea typeface="Calibri" pitchFamily="34" charset="-122"/>
                <a:cs typeface="Calibri" pitchFamily="34" charset="-120"/>
              </a:rPr>
              <a:t>Président de Guinée Impact</a:t>
            </a:r>
            <a:endParaRPr lang="en-US" sz="2000" dirty="0"/>
          </a:p>
        </p:txBody>
      </p:sp>
      <p:sp>
        <p:nvSpPr>
          <p:cNvPr id="8" name="Text 6"/>
          <p:cNvSpPr txBox="1"/>
          <p:nvPr/>
        </p:nvSpPr>
        <p:spPr>
          <a:xfrm>
            <a:off x="822960" y="5943600"/>
            <a:ext cx="731520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Dakar, du 29 septembre au 2 octobre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Qui sommes-nous</a:t>
            </a:r>
            <a:endParaRPr lang="en-US" sz="3600" dirty="0"/>
          </a:p>
        </p:txBody>
      </p:sp>
      <p:sp>
        <p:nvSpPr>
          <p:cNvPr id="3" name="Text 1"/>
          <p:cNvSpPr txBox="1"/>
          <p:nvPr/>
        </p:nvSpPr>
        <p:spPr>
          <a:xfrm>
            <a:off x="640080" y="1463040"/>
            <a:ext cx="5303520" cy="4389120"/>
          </a:xfrm>
          <a:prstGeom prst="rect">
            <a:avLst/>
          </a:prstGeom>
          <a:noFill/>
          <a:ln/>
        </p:spPr>
        <p:txBody>
          <a:bodyPr wrap="square" lIns="0" tIns="0" rIns="0" bIns="0" rtlCol="0" anchor="t"/>
          <a:lstStyle/>
          <a:p>
            <a:pPr indent="0" marL="0">
              <a:spcAft>
                <a:spcPts val="1200"/>
              </a:spcAft>
              <a:buNone/>
            </a:pPr>
            <a:r>
              <a:rPr lang="en-US" sz="1600" dirty="0">
                <a:solidFill>
                  <a:srgbClr val="2B2B2B"/>
                </a:solidFill>
                <a:latin typeface="Calibri" pitchFamily="34" charset="0"/>
                <a:ea typeface="Calibri" pitchFamily="34" charset="-122"/>
                <a:cs typeface="Calibri" pitchFamily="34" charset="-120"/>
              </a:rPr>
              <a:t>Guinée Impact est une plateforme de la société civile guinéenne, basée à Conakry.</a:t>
            </a:r>
            <a:endParaRPr lang="en-US" sz="1600" dirty="0"/>
          </a:p>
          <a:p>
            <a:pPr indent="0" marL="0">
              <a:spcAft>
                <a:spcPts val="1200"/>
              </a:spcAft>
              <a:buNone/>
            </a:pPr>
            <a:r>
              <a:rPr lang="en-US" sz="1600" dirty="0">
                <a:solidFill>
                  <a:srgbClr val="2B2B2B"/>
                </a:solidFill>
                <a:latin typeface="Calibri" pitchFamily="34" charset="0"/>
                <a:ea typeface="Calibri" pitchFamily="34" charset="-122"/>
                <a:cs typeface="Calibri" pitchFamily="34" charset="-120"/>
              </a:rPr>
              <a:t>Notre mission : promouvoir une gouvernance responsable, renforcer la participation citoyenne et accompagner les initiatives qui favorisent la paix, l’inclusion sociale, le leadership et l’autonomisation des jeunes et des femmes.</a:t>
            </a:r>
            <a:endParaRPr lang="en-US" sz="1600" dirty="0"/>
          </a:p>
          <a:p>
            <a:pPr indent="0" marL="0">
              <a:buNone/>
            </a:pPr>
            <a:r>
              <a:rPr lang="en-US" sz="1600" b="1" dirty="0">
                <a:solidFill>
                  <a:srgbClr val="1B4332"/>
                </a:solidFill>
                <a:latin typeface="Calibri" pitchFamily="34" charset="0"/>
                <a:ea typeface="Calibri" pitchFamily="34" charset="-122"/>
                <a:cs typeface="Calibri" pitchFamily="34" charset="-120"/>
              </a:rPr>
              <a:t>Membre du Groupe de Travail Femmes, Jeunes, Paix et Sécurité – Guinée · Partenaire du projet FIFEP (Fonds des Nations Unies pour la consolidation de la paix)</a:t>
            </a:r>
            <a:endParaRPr lang="en-US" sz="1600" dirty="0"/>
          </a:p>
        </p:txBody>
      </p:sp>
      <p:sp>
        <p:nvSpPr>
          <p:cNvPr id="4" name="Shape 2"/>
          <p:cNvSpPr/>
          <p:nvPr/>
        </p:nvSpPr>
        <p:spPr>
          <a:xfrm>
            <a:off x="6492240" y="1371600"/>
            <a:ext cx="5029200" cy="4754880"/>
          </a:xfrm>
          <a:prstGeom prst="roundRect">
            <a:avLst>
              <a:gd name="adj" fmla="val 1923"/>
            </a:avLst>
          </a:prstGeom>
          <a:solidFill>
            <a:srgbClr val="F7F5F1"/>
          </a:solidFill>
          <a:ln w="12700">
            <a:solidFill>
              <a:srgbClr val="F7F5F1"/>
            </a:solidFill>
            <a:prstDash val="solid"/>
          </a:ln>
        </p:spPr>
      </p:sp>
      <p:sp>
        <p:nvSpPr>
          <p:cNvPr id="5" name="Shape 3"/>
          <p:cNvSpPr/>
          <p:nvPr/>
        </p:nvSpPr>
        <p:spPr>
          <a:xfrm>
            <a:off x="6766560" y="1645920"/>
            <a:ext cx="548640" cy="548640"/>
          </a:xfrm>
          <a:prstGeom prst="ellipse">
            <a:avLst/>
          </a:prstGeom>
          <a:solidFill>
            <a:srgbClr val="1B4332"/>
          </a:solidFill>
          <a:ln w="12700">
            <a:solidFill>
              <a:srgbClr val="1B4332"/>
            </a:solidFill>
            <a:prstDash val="solid"/>
          </a:ln>
        </p:spPr>
      </p:sp>
      <p:pic>
        <p:nvPicPr>
          <p:cNvPr id="6" name="Image 0" descr="preencoded.png">    </p:cNvPr>
          <p:cNvPicPr>
            <a:picLocks noChangeAspect="1"/>
          </p:cNvPicPr>
          <p:nvPr/>
        </p:nvPicPr>
        <p:blipFill>
          <a:blip r:embed="rId1"/>
          <a:stretch>
            <a:fillRect/>
          </a:stretch>
        </p:blipFill>
        <p:spPr>
          <a:xfrm>
            <a:off x="6903720" y="1783080"/>
            <a:ext cx="274320" cy="274320"/>
          </a:xfrm>
          <a:prstGeom prst="rect">
            <a:avLst/>
          </a:prstGeom>
        </p:spPr>
      </p:pic>
      <p:sp>
        <p:nvSpPr>
          <p:cNvPr id="7" name="Text 4"/>
          <p:cNvSpPr txBox="1"/>
          <p:nvPr/>
        </p:nvSpPr>
        <p:spPr>
          <a:xfrm>
            <a:off x="7498080" y="164592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Gouvernance, démocratie et participation citoyenne</a:t>
            </a:r>
            <a:endParaRPr lang="en-US" sz="1500" dirty="0"/>
          </a:p>
        </p:txBody>
      </p:sp>
      <p:sp>
        <p:nvSpPr>
          <p:cNvPr id="8" name="Shape 5"/>
          <p:cNvSpPr/>
          <p:nvPr/>
        </p:nvSpPr>
        <p:spPr>
          <a:xfrm>
            <a:off x="6766560" y="2514600"/>
            <a:ext cx="548640" cy="548640"/>
          </a:xfrm>
          <a:prstGeom prst="ellipse">
            <a:avLst/>
          </a:prstGeom>
          <a:solidFill>
            <a:srgbClr val="1B4332"/>
          </a:solidFill>
          <a:ln w="12700">
            <a:solidFill>
              <a:srgbClr val="1B4332"/>
            </a:solidFill>
            <a:prstDash val="solid"/>
          </a:ln>
        </p:spPr>
      </p:sp>
      <p:pic>
        <p:nvPicPr>
          <p:cNvPr id="9" name="Image 1" descr="preencoded.png">    </p:cNvPr>
          <p:cNvPicPr>
            <a:picLocks noChangeAspect="1"/>
          </p:cNvPicPr>
          <p:nvPr/>
        </p:nvPicPr>
        <p:blipFill>
          <a:blip r:embed="rId2"/>
          <a:stretch>
            <a:fillRect/>
          </a:stretch>
        </p:blipFill>
        <p:spPr>
          <a:xfrm>
            <a:off x="6903720" y="2651760"/>
            <a:ext cx="274320" cy="274320"/>
          </a:xfrm>
          <a:prstGeom prst="rect">
            <a:avLst/>
          </a:prstGeom>
        </p:spPr>
      </p:pic>
      <p:sp>
        <p:nvSpPr>
          <p:cNvPr id="10" name="Text 6"/>
          <p:cNvSpPr txBox="1"/>
          <p:nvPr/>
        </p:nvSpPr>
        <p:spPr>
          <a:xfrm>
            <a:off x="7498080" y="251460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Paix, cohésion sociale et prévention des conflits</a:t>
            </a:r>
            <a:endParaRPr lang="en-US" sz="1500" dirty="0"/>
          </a:p>
        </p:txBody>
      </p:sp>
      <p:sp>
        <p:nvSpPr>
          <p:cNvPr id="11" name="Shape 7"/>
          <p:cNvSpPr/>
          <p:nvPr/>
        </p:nvSpPr>
        <p:spPr>
          <a:xfrm>
            <a:off x="6766560" y="3383280"/>
            <a:ext cx="548640" cy="548640"/>
          </a:xfrm>
          <a:prstGeom prst="ellipse">
            <a:avLst/>
          </a:prstGeom>
          <a:solidFill>
            <a:srgbClr val="1B4332"/>
          </a:solidFill>
          <a:ln w="12700">
            <a:solidFill>
              <a:srgbClr val="1B4332"/>
            </a:solidFill>
            <a:prstDash val="solid"/>
          </a:ln>
        </p:spPr>
      </p:sp>
      <p:pic>
        <p:nvPicPr>
          <p:cNvPr id="12" name="Image 2" descr="preencoded.png">    </p:cNvPr>
          <p:cNvPicPr>
            <a:picLocks noChangeAspect="1"/>
          </p:cNvPicPr>
          <p:nvPr/>
        </p:nvPicPr>
        <p:blipFill>
          <a:blip r:embed="rId3"/>
          <a:stretch>
            <a:fillRect/>
          </a:stretch>
        </p:blipFill>
        <p:spPr>
          <a:xfrm>
            <a:off x="6903720" y="3520440"/>
            <a:ext cx="274320" cy="274320"/>
          </a:xfrm>
          <a:prstGeom prst="rect">
            <a:avLst/>
          </a:prstGeom>
        </p:spPr>
      </p:pic>
      <p:sp>
        <p:nvSpPr>
          <p:cNvPr id="13" name="Text 8"/>
          <p:cNvSpPr txBox="1"/>
          <p:nvPr/>
        </p:nvSpPr>
        <p:spPr>
          <a:xfrm>
            <a:off x="7498080" y="338328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Leadership et autonomisation des jeunes et des femmes</a:t>
            </a:r>
            <a:endParaRPr lang="en-US" sz="1500" dirty="0"/>
          </a:p>
        </p:txBody>
      </p:sp>
      <p:sp>
        <p:nvSpPr>
          <p:cNvPr id="14" name="Shape 9"/>
          <p:cNvSpPr/>
          <p:nvPr/>
        </p:nvSpPr>
        <p:spPr>
          <a:xfrm>
            <a:off x="6766560" y="4251960"/>
            <a:ext cx="548640" cy="548640"/>
          </a:xfrm>
          <a:prstGeom prst="ellipse">
            <a:avLst/>
          </a:prstGeom>
          <a:solidFill>
            <a:srgbClr val="1B4332"/>
          </a:solidFill>
          <a:ln w="12700">
            <a:solidFill>
              <a:srgbClr val="1B4332"/>
            </a:solidFill>
            <a:prstDash val="solid"/>
          </a:ln>
        </p:spPr>
      </p:sp>
      <p:pic>
        <p:nvPicPr>
          <p:cNvPr id="15" name="Image 3" descr="preencoded.png">    </p:cNvPr>
          <p:cNvPicPr>
            <a:picLocks noChangeAspect="1"/>
          </p:cNvPicPr>
          <p:nvPr/>
        </p:nvPicPr>
        <p:blipFill>
          <a:blip r:embed="rId4"/>
          <a:stretch>
            <a:fillRect/>
          </a:stretch>
        </p:blipFill>
        <p:spPr>
          <a:xfrm>
            <a:off x="6903720" y="4389120"/>
            <a:ext cx="274320" cy="274320"/>
          </a:xfrm>
          <a:prstGeom prst="rect">
            <a:avLst/>
          </a:prstGeom>
        </p:spPr>
      </p:pic>
      <p:sp>
        <p:nvSpPr>
          <p:cNvPr id="16" name="Text 10"/>
          <p:cNvSpPr txBox="1"/>
          <p:nvPr/>
        </p:nvSpPr>
        <p:spPr>
          <a:xfrm>
            <a:off x="7498080" y="425196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Entrepreneuriat, innovation et employabilité</a:t>
            </a:r>
            <a:endParaRPr lang="en-US" sz="1500" dirty="0"/>
          </a:p>
        </p:txBody>
      </p:sp>
      <p:sp>
        <p:nvSpPr>
          <p:cNvPr id="17" name="Shape 11"/>
          <p:cNvSpPr/>
          <p:nvPr/>
        </p:nvSpPr>
        <p:spPr>
          <a:xfrm>
            <a:off x="6766560" y="5120640"/>
            <a:ext cx="548640" cy="548640"/>
          </a:xfrm>
          <a:prstGeom prst="ellipse">
            <a:avLst/>
          </a:prstGeom>
          <a:solidFill>
            <a:srgbClr val="1B4332"/>
          </a:solidFill>
          <a:ln w="12700">
            <a:solidFill>
              <a:srgbClr val="1B4332"/>
            </a:solidFill>
            <a:prstDash val="solid"/>
          </a:ln>
        </p:spPr>
      </p:sp>
      <p:pic>
        <p:nvPicPr>
          <p:cNvPr id="18" name="Image 4" descr="preencoded.png">    </p:cNvPr>
          <p:cNvPicPr>
            <a:picLocks noChangeAspect="1"/>
          </p:cNvPicPr>
          <p:nvPr/>
        </p:nvPicPr>
        <p:blipFill>
          <a:blip r:embed="rId5"/>
          <a:stretch>
            <a:fillRect/>
          </a:stretch>
        </p:blipFill>
        <p:spPr>
          <a:xfrm>
            <a:off x="6903720" y="5257800"/>
            <a:ext cx="274320" cy="274320"/>
          </a:xfrm>
          <a:prstGeom prst="rect">
            <a:avLst/>
          </a:prstGeom>
        </p:spPr>
      </p:pic>
      <p:sp>
        <p:nvSpPr>
          <p:cNvPr id="19" name="Text 12"/>
          <p:cNvSpPr txBox="1"/>
          <p:nvPr/>
        </p:nvSpPr>
        <p:spPr>
          <a:xfrm>
            <a:off x="7498080" y="512064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Développement local et territorial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Notre parcours en dates</a:t>
            </a:r>
            <a:endParaRPr lang="en-US" sz="3600" dirty="0"/>
          </a:p>
        </p:txBody>
      </p:sp>
      <p:sp>
        <p:nvSpPr>
          <p:cNvPr id="3" name="Shape 1"/>
          <p:cNvSpPr/>
          <p:nvPr/>
        </p:nvSpPr>
        <p:spPr>
          <a:xfrm>
            <a:off x="1417320" y="2514600"/>
            <a:ext cx="9326880" cy="0"/>
          </a:xfrm>
          <a:prstGeom prst="line">
            <a:avLst/>
          </a:prstGeom>
          <a:noFill/>
          <a:ln w="25400">
            <a:solidFill>
              <a:srgbClr val="D4A373"/>
            </a:solidFill>
            <a:prstDash val="solid"/>
          </a:ln>
        </p:spPr>
      </p:sp>
      <p:sp>
        <p:nvSpPr>
          <p:cNvPr id="4" name="Shape 2"/>
          <p:cNvSpPr/>
          <p:nvPr/>
        </p:nvSpPr>
        <p:spPr>
          <a:xfrm>
            <a:off x="1252728" y="2350008"/>
            <a:ext cx="329184" cy="329184"/>
          </a:xfrm>
          <a:prstGeom prst="ellipse">
            <a:avLst/>
          </a:prstGeom>
          <a:solidFill>
            <a:srgbClr val="1B4332"/>
          </a:solidFill>
          <a:ln w="25400">
            <a:solidFill>
              <a:srgbClr val="FFFFFF"/>
            </a:solidFill>
            <a:prstDash val="solid"/>
          </a:ln>
        </p:spPr>
      </p:sp>
      <p:sp>
        <p:nvSpPr>
          <p:cNvPr id="5" name="Text 3"/>
          <p:cNvSpPr txBox="1"/>
          <p:nvPr/>
        </p:nvSpPr>
        <p:spPr>
          <a:xfrm>
            <a:off x="68580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Juil. 2024</a:t>
            </a:r>
            <a:endParaRPr lang="en-US" sz="1500" dirty="0"/>
          </a:p>
        </p:txBody>
      </p:sp>
      <p:sp>
        <p:nvSpPr>
          <p:cNvPr id="6" name="Text 4"/>
          <p:cNvSpPr txBox="1"/>
          <p:nvPr/>
        </p:nvSpPr>
        <p:spPr>
          <a:xfrm>
            <a:off x="71323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Indicateurs de suivi validés ; 20 organisations formées à l’alerte précoce</a:t>
            </a:r>
            <a:endParaRPr lang="en-US" sz="1300" dirty="0"/>
          </a:p>
        </p:txBody>
      </p:sp>
      <p:sp>
        <p:nvSpPr>
          <p:cNvPr id="7" name="Shape 5"/>
          <p:cNvSpPr/>
          <p:nvPr/>
        </p:nvSpPr>
        <p:spPr>
          <a:xfrm>
            <a:off x="2807208" y="2350008"/>
            <a:ext cx="329184" cy="329184"/>
          </a:xfrm>
          <a:prstGeom prst="ellipse">
            <a:avLst/>
          </a:prstGeom>
          <a:solidFill>
            <a:srgbClr val="1B4332"/>
          </a:solidFill>
          <a:ln w="25400">
            <a:solidFill>
              <a:srgbClr val="FFFFFF"/>
            </a:solidFill>
            <a:prstDash val="solid"/>
          </a:ln>
        </p:spPr>
      </p:sp>
      <p:sp>
        <p:nvSpPr>
          <p:cNvPr id="8" name="Text 6"/>
          <p:cNvSpPr txBox="1"/>
          <p:nvPr/>
        </p:nvSpPr>
        <p:spPr>
          <a:xfrm>
            <a:off x="224028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Août 2024</a:t>
            </a:r>
            <a:endParaRPr lang="en-US" sz="1500" dirty="0"/>
          </a:p>
        </p:txBody>
      </p:sp>
      <p:sp>
        <p:nvSpPr>
          <p:cNvPr id="9" name="Text 7"/>
          <p:cNvSpPr txBox="1"/>
          <p:nvPr/>
        </p:nvSpPr>
        <p:spPr>
          <a:xfrm>
            <a:off x="226771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Stratégie nationale de plaidoyer, issue de 11 plans locaux</a:t>
            </a:r>
            <a:endParaRPr lang="en-US" sz="1300" dirty="0"/>
          </a:p>
        </p:txBody>
      </p:sp>
      <p:sp>
        <p:nvSpPr>
          <p:cNvPr id="10" name="Shape 8"/>
          <p:cNvSpPr/>
          <p:nvPr/>
        </p:nvSpPr>
        <p:spPr>
          <a:xfrm>
            <a:off x="4361688" y="2350008"/>
            <a:ext cx="329184" cy="329184"/>
          </a:xfrm>
          <a:prstGeom prst="ellipse">
            <a:avLst/>
          </a:prstGeom>
          <a:solidFill>
            <a:srgbClr val="1B4332"/>
          </a:solidFill>
          <a:ln w="25400">
            <a:solidFill>
              <a:srgbClr val="FFFFFF"/>
            </a:solidFill>
            <a:prstDash val="solid"/>
          </a:ln>
        </p:spPr>
      </p:sp>
      <p:sp>
        <p:nvSpPr>
          <p:cNvPr id="11" name="Text 9"/>
          <p:cNvSpPr txBox="1"/>
          <p:nvPr/>
        </p:nvSpPr>
        <p:spPr>
          <a:xfrm>
            <a:off x="379476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2024</a:t>
            </a:r>
            <a:endParaRPr lang="en-US" sz="1500" dirty="0"/>
          </a:p>
        </p:txBody>
      </p:sp>
      <p:sp>
        <p:nvSpPr>
          <p:cNvPr id="12" name="Text 10"/>
          <p:cNvSpPr txBox="1"/>
          <p:nvPr/>
        </p:nvSpPr>
        <p:spPr>
          <a:xfrm>
            <a:off x="382219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Partage d’expérience à la réunion annuelle du GT à Accra</a:t>
            </a:r>
            <a:endParaRPr lang="en-US" sz="1300" dirty="0"/>
          </a:p>
        </p:txBody>
      </p:sp>
      <p:sp>
        <p:nvSpPr>
          <p:cNvPr id="13" name="Shape 11"/>
          <p:cNvSpPr/>
          <p:nvPr/>
        </p:nvSpPr>
        <p:spPr>
          <a:xfrm>
            <a:off x="5916168" y="2350008"/>
            <a:ext cx="329184" cy="329184"/>
          </a:xfrm>
          <a:prstGeom prst="ellipse">
            <a:avLst/>
          </a:prstGeom>
          <a:solidFill>
            <a:srgbClr val="1B4332"/>
          </a:solidFill>
          <a:ln w="25400">
            <a:solidFill>
              <a:srgbClr val="FFFFFF"/>
            </a:solidFill>
            <a:prstDash val="solid"/>
          </a:ln>
        </p:spPr>
      </p:sp>
      <p:sp>
        <p:nvSpPr>
          <p:cNvPr id="14" name="Text 12"/>
          <p:cNvSpPr txBox="1"/>
          <p:nvPr/>
        </p:nvSpPr>
        <p:spPr>
          <a:xfrm>
            <a:off x="534924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Oct. 2024</a:t>
            </a:r>
            <a:endParaRPr lang="en-US" sz="1500" dirty="0"/>
          </a:p>
        </p:txBody>
      </p:sp>
      <p:sp>
        <p:nvSpPr>
          <p:cNvPr id="15" name="Text 13"/>
          <p:cNvSpPr txBox="1"/>
          <p:nvPr/>
        </p:nvSpPr>
        <p:spPr>
          <a:xfrm>
            <a:off x="537667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Partenariat renforcé avec CARE International</a:t>
            </a:r>
            <a:endParaRPr lang="en-US" sz="1300" dirty="0"/>
          </a:p>
        </p:txBody>
      </p:sp>
      <p:sp>
        <p:nvSpPr>
          <p:cNvPr id="16" name="Shape 14"/>
          <p:cNvSpPr/>
          <p:nvPr/>
        </p:nvSpPr>
        <p:spPr>
          <a:xfrm>
            <a:off x="7470648" y="2350008"/>
            <a:ext cx="329184" cy="329184"/>
          </a:xfrm>
          <a:prstGeom prst="ellipse">
            <a:avLst/>
          </a:prstGeom>
          <a:solidFill>
            <a:srgbClr val="1B4332"/>
          </a:solidFill>
          <a:ln w="25400">
            <a:solidFill>
              <a:srgbClr val="FFFFFF"/>
            </a:solidFill>
            <a:prstDash val="solid"/>
          </a:ln>
        </p:spPr>
      </p:sp>
      <p:sp>
        <p:nvSpPr>
          <p:cNvPr id="17" name="Text 15"/>
          <p:cNvSpPr txBox="1"/>
          <p:nvPr/>
        </p:nvSpPr>
        <p:spPr>
          <a:xfrm>
            <a:off x="690372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Déc. 2024</a:t>
            </a:r>
            <a:endParaRPr lang="en-US" sz="1500" dirty="0"/>
          </a:p>
        </p:txBody>
      </p:sp>
      <p:sp>
        <p:nvSpPr>
          <p:cNvPr id="18" name="Text 16"/>
          <p:cNvSpPr txBox="1"/>
          <p:nvPr/>
        </p:nvSpPr>
        <p:spPr>
          <a:xfrm>
            <a:off x="693115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Ambassadeur du festival Les 7 Jours du 7ᵉ Art</a:t>
            </a:r>
            <a:endParaRPr lang="en-US" sz="1300" dirty="0"/>
          </a:p>
        </p:txBody>
      </p:sp>
      <p:sp>
        <p:nvSpPr>
          <p:cNvPr id="19" name="Shape 17"/>
          <p:cNvSpPr/>
          <p:nvPr/>
        </p:nvSpPr>
        <p:spPr>
          <a:xfrm>
            <a:off x="9025128" y="2350008"/>
            <a:ext cx="329184" cy="329184"/>
          </a:xfrm>
          <a:prstGeom prst="ellipse">
            <a:avLst/>
          </a:prstGeom>
          <a:solidFill>
            <a:srgbClr val="1B4332"/>
          </a:solidFill>
          <a:ln w="25400">
            <a:solidFill>
              <a:srgbClr val="FFFFFF"/>
            </a:solidFill>
            <a:prstDash val="solid"/>
          </a:ln>
        </p:spPr>
      </p:sp>
      <p:sp>
        <p:nvSpPr>
          <p:cNvPr id="20" name="Text 18"/>
          <p:cNvSpPr txBox="1"/>
          <p:nvPr/>
        </p:nvSpPr>
        <p:spPr>
          <a:xfrm>
            <a:off x="845820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Janv. 2025</a:t>
            </a:r>
            <a:endParaRPr lang="en-US" sz="1500" dirty="0"/>
          </a:p>
        </p:txBody>
      </p:sp>
      <p:sp>
        <p:nvSpPr>
          <p:cNvPr id="21" name="Text 19"/>
          <p:cNvSpPr txBox="1"/>
          <p:nvPr/>
        </p:nvSpPr>
        <p:spPr>
          <a:xfrm>
            <a:off x="848563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Mamou : le plaidoyer porté jusqu’aux communautés</a:t>
            </a:r>
            <a:endParaRPr lang="en-US" sz="1300" dirty="0"/>
          </a:p>
        </p:txBody>
      </p:sp>
      <p:sp>
        <p:nvSpPr>
          <p:cNvPr id="22" name="Shape 20"/>
          <p:cNvSpPr/>
          <p:nvPr/>
        </p:nvSpPr>
        <p:spPr>
          <a:xfrm>
            <a:off x="10579608" y="2350008"/>
            <a:ext cx="329184" cy="329184"/>
          </a:xfrm>
          <a:prstGeom prst="ellipse">
            <a:avLst/>
          </a:prstGeom>
          <a:solidFill>
            <a:srgbClr val="D4A373"/>
          </a:solidFill>
          <a:ln w="25400">
            <a:solidFill>
              <a:srgbClr val="FFFFFF"/>
            </a:solidFill>
            <a:prstDash val="solid"/>
          </a:ln>
        </p:spPr>
      </p:sp>
      <p:sp>
        <p:nvSpPr>
          <p:cNvPr id="23" name="Text 21"/>
          <p:cNvSpPr txBox="1"/>
          <p:nvPr/>
        </p:nvSpPr>
        <p:spPr>
          <a:xfrm>
            <a:off x="1001268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Juin 2025</a:t>
            </a:r>
            <a:endParaRPr lang="en-US" sz="1500" dirty="0"/>
          </a:p>
        </p:txBody>
      </p:sp>
      <p:sp>
        <p:nvSpPr>
          <p:cNvPr id="24" name="Text 22"/>
          <p:cNvSpPr txBox="1"/>
          <p:nvPr/>
        </p:nvSpPr>
        <p:spPr>
          <a:xfrm>
            <a:off x="1004011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Marrakech : Champion de la jeunesse africaine</a:t>
            </a:r>
            <a:endParaRPr lang="en-US" sz="1300" dirty="0"/>
          </a:p>
        </p:txBody>
      </p:sp>
      <p:sp>
        <p:nvSpPr>
          <p:cNvPr id="25" name="Shape 23"/>
          <p:cNvSpPr/>
          <p:nvPr/>
        </p:nvSpPr>
        <p:spPr>
          <a:xfrm>
            <a:off x="640080" y="4937760"/>
            <a:ext cx="10881360" cy="1005840"/>
          </a:xfrm>
          <a:prstGeom prst="roundRect">
            <a:avLst>
              <a:gd name="adj" fmla="val 9091"/>
            </a:avLst>
          </a:prstGeom>
          <a:solidFill>
            <a:srgbClr val="1B4332"/>
          </a:solidFill>
          <a:ln w="12700">
            <a:solidFill>
              <a:srgbClr val="1B4332"/>
            </a:solidFill>
            <a:prstDash val="solid"/>
          </a:ln>
        </p:spPr>
      </p:sp>
      <p:sp>
        <p:nvSpPr>
          <p:cNvPr id="26" name="Text 24"/>
          <p:cNvSpPr txBox="1"/>
          <p:nvPr/>
        </p:nvSpPr>
        <p:spPr>
          <a:xfrm>
            <a:off x="914400" y="4937760"/>
            <a:ext cx="10332720" cy="1005840"/>
          </a:xfrm>
          <a:prstGeom prst="rect">
            <a:avLst/>
          </a:prstGeom>
          <a:noFill/>
          <a:ln/>
        </p:spPr>
        <p:txBody>
          <a:bodyPr wrap="square" lIns="0" tIns="0" rIns="0" bIns="0" rtlCol="0" anchor="ctr"/>
          <a:lstStyle/>
          <a:p>
            <a:pPr indent="0" marL="0">
              <a:buNone/>
            </a:pPr>
            <a:r>
              <a:rPr lang="en-US" sz="2000" b="1" dirty="0">
                <a:solidFill>
                  <a:srgbClr val="D4A373"/>
                </a:solidFill>
                <a:latin typeface="Calibri" pitchFamily="34" charset="0"/>
                <a:ea typeface="Calibri" pitchFamily="34" charset="-122"/>
                <a:cs typeface="Calibri" pitchFamily="34" charset="-120"/>
              </a:rPr>
              <a:t>Aujourd’hui, Dakar : </a:t>
            </a:r>
            <a:pPr indent="0" marL="0">
              <a:buNone/>
            </a:pPr>
            <a:r>
              <a:rPr lang="en-US" sz="2000" dirty="0">
                <a:solidFill>
                  <a:srgbClr val="FFFFFF"/>
                </a:solidFill>
                <a:latin typeface="Calibri" pitchFamily="34" charset="0"/>
                <a:ea typeface="Calibri" pitchFamily="34" charset="-122"/>
                <a:cs typeface="Calibri" pitchFamily="34" charset="-120"/>
              </a:rPr>
              <a:t>nous venons partager nos leçons avec le réseau.</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Mamou : 5 jours, 5 formats</a:t>
            </a:r>
            <a:endParaRPr lang="en-US" sz="3600" dirty="0"/>
          </a:p>
        </p:txBody>
      </p:sp>
      <p:sp>
        <p:nvSpPr>
          <p:cNvPr id="3" name="Text 1"/>
          <p:cNvSpPr txBox="1"/>
          <p:nvPr/>
        </p:nvSpPr>
        <p:spPr>
          <a:xfrm>
            <a:off x="640080" y="1188720"/>
            <a:ext cx="10881360" cy="457200"/>
          </a:xfrm>
          <a:prstGeom prst="rect">
            <a:avLst/>
          </a:prstGeom>
          <a:noFill/>
          <a:ln/>
        </p:spPr>
        <p:txBody>
          <a:bodyPr wrap="square" lIns="0" tIns="0" rIns="0" bIns="0" rtlCol="0" anchor="ctr"/>
          <a:lstStyle/>
          <a:p>
            <a:pPr indent="0" marL="0">
              <a:buNone/>
            </a:pPr>
            <a:r>
              <a:rPr lang="en-US" sz="1800" i="1" dirty="0">
                <a:solidFill>
                  <a:srgbClr val="BC6C25"/>
                </a:solidFill>
                <a:latin typeface="Calibri" pitchFamily="34" charset="0"/>
                <a:ea typeface="Calibri" pitchFamily="34" charset="-122"/>
                <a:cs typeface="Calibri" pitchFamily="34" charset="-120"/>
              </a:rPr>
              <a:t>Du 16 au 20 janvier 2025, la stratégie nationale de plaidoyer portée jusqu’aux communautés</a:t>
            </a:r>
            <a:endParaRPr lang="en-US" sz="1800" dirty="0"/>
          </a:p>
        </p:txBody>
      </p:sp>
      <p:sp>
        <p:nvSpPr>
          <p:cNvPr id="4" name="Shape 2"/>
          <p:cNvSpPr/>
          <p:nvPr/>
        </p:nvSpPr>
        <p:spPr>
          <a:xfrm>
            <a:off x="640080" y="1920240"/>
            <a:ext cx="2011680" cy="2926080"/>
          </a:xfrm>
          <a:prstGeom prst="roundRect">
            <a:avLst>
              <a:gd name="adj" fmla="val 4545"/>
            </a:avLst>
          </a:prstGeom>
          <a:solidFill>
            <a:srgbClr val="F7F5F1"/>
          </a:solidFill>
          <a:ln w="12700">
            <a:solidFill>
              <a:srgbClr val="F7F5F1"/>
            </a:solidFill>
            <a:prstDash val="solid"/>
          </a:ln>
        </p:spPr>
      </p:sp>
      <p:sp>
        <p:nvSpPr>
          <p:cNvPr id="5" name="Shape 3"/>
          <p:cNvSpPr/>
          <p:nvPr/>
        </p:nvSpPr>
        <p:spPr>
          <a:xfrm>
            <a:off x="868680" y="2148840"/>
            <a:ext cx="548640" cy="548640"/>
          </a:xfrm>
          <a:prstGeom prst="ellipse">
            <a:avLst/>
          </a:prstGeom>
          <a:solidFill>
            <a:srgbClr val="1B4332"/>
          </a:solidFill>
          <a:ln w="12700">
            <a:solidFill>
              <a:srgbClr val="1B4332"/>
            </a:solidFill>
            <a:prstDash val="solid"/>
          </a:ln>
        </p:spPr>
      </p:sp>
      <p:pic>
        <p:nvPicPr>
          <p:cNvPr id="6" name="Image 0" descr="preencoded.png">    </p:cNvPr>
          <p:cNvPicPr>
            <a:picLocks noChangeAspect="1"/>
          </p:cNvPicPr>
          <p:nvPr/>
        </p:nvPicPr>
        <p:blipFill>
          <a:blip r:embed="rId1"/>
          <a:stretch>
            <a:fillRect/>
          </a:stretch>
        </p:blipFill>
        <p:spPr>
          <a:xfrm>
            <a:off x="1005840" y="2286000"/>
            <a:ext cx="274320" cy="274320"/>
          </a:xfrm>
          <a:prstGeom prst="rect">
            <a:avLst/>
          </a:prstGeom>
        </p:spPr>
      </p:pic>
      <p:sp>
        <p:nvSpPr>
          <p:cNvPr id="7" name="Text 4"/>
          <p:cNvSpPr txBox="1"/>
          <p:nvPr/>
        </p:nvSpPr>
        <p:spPr>
          <a:xfrm>
            <a:off x="86868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2 h</a:t>
            </a:r>
            <a:endParaRPr lang="en-US" sz="3600" dirty="0"/>
          </a:p>
        </p:txBody>
      </p:sp>
      <p:sp>
        <p:nvSpPr>
          <p:cNvPr id="8" name="Text 5"/>
          <p:cNvSpPr txBox="1"/>
          <p:nvPr/>
        </p:nvSpPr>
        <p:spPr>
          <a:xfrm>
            <a:off x="86868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Émission de radio interactive en direct</a:t>
            </a:r>
            <a:endParaRPr lang="en-US" sz="1400" dirty="0"/>
          </a:p>
        </p:txBody>
      </p:sp>
      <p:sp>
        <p:nvSpPr>
          <p:cNvPr id="9" name="Shape 6"/>
          <p:cNvSpPr/>
          <p:nvPr/>
        </p:nvSpPr>
        <p:spPr>
          <a:xfrm>
            <a:off x="2857500" y="1920240"/>
            <a:ext cx="2011680" cy="2926080"/>
          </a:xfrm>
          <a:prstGeom prst="roundRect">
            <a:avLst>
              <a:gd name="adj" fmla="val 4545"/>
            </a:avLst>
          </a:prstGeom>
          <a:solidFill>
            <a:srgbClr val="F7F5F1"/>
          </a:solidFill>
          <a:ln w="12700">
            <a:solidFill>
              <a:srgbClr val="F7F5F1"/>
            </a:solidFill>
            <a:prstDash val="solid"/>
          </a:ln>
        </p:spPr>
      </p:sp>
      <p:sp>
        <p:nvSpPr>
          <p:cNvPr id="10" name="Shape 7"/>
          <p:cNvSpPr/>
          <p:nvPr/>
        </p:nvSpPr>
        <p:spPr>
          <a:xfrm>
            <a:off x="3086100" y="2148840"/>
            <a:ext cx="548640" cy="548640"/>
          </a:xfrm>
          <a:prstGeom prst="ellipse">
            <a:avLst/>
          </a:prstGeom>
          <a:solidFill>
            <a:srgbClr val="1B4332"/>
          </a:solidFill>
          <a:ln w="12700">
            <a:solidFill>
              <a:srgbClr val="1B4332"/>
            </a:solidFill>
            <a:prstDash val="solid"/>
          </a:ln>
        </p:spPr>
      </p:sp>
      <p:pic>
        <p:nvPicPr>
          <p:cNvPr id="11" name="Image 1" descr="preencoded.png">    </p:cNvPr>
          <p:cNvPicPr>
            <a:picLocks noChangeAspect="1"/>
          </p:cNvPicPr>
          <p:nvPr/>
        </p:nvPicPr>
        <p:blipFill>
          <a:blip r:embed="rId2"/>
          <a:stretch>
            <a:fillRect/>
          </a:stretch>
        </p:blipFill>
        <p:spPr>
          <a:xfrm>
            <a:off x="3223260" y="2286000"/>
            <a:ext cx="274320" cy="274320"/>
          </a:xfrm>
          <a:prstGeom prst="rect">
            <a:avLst/>
          </a:prstGeom>
        </p:spPr>
      </p:pic>
      <p:sp>
        <p:nvSpPr>
          <p:cNvPr id="12" name="Text 8"/>
          <p:cNvSpPr txBox="1"/>
          <p:nvPr/>
        </p:nvSpPr>
        <p:spPr>
          <a:xfrm>
            <a:off x="308610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30</a:t>
            </a:r>
            <a:endParaRPr lang="en-US" sz="3600" dirty="0"/>
          </a:p>
        </p:txBody>
      </p:sp>
      <p:sp>
        <p:nvSpPr>
          <p:cNvPr id="13" name="Text 9"/>
          <p:cNvSpPr txBox="1"/>
          <p:nvPr/>
        </p:nvSpPr>
        <p:spPr>
          <a:xfrm>
            <a:off x="308610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participant·es à la table ronde</a:t>
            </a:r>
            <a:endParaRPr lang="en-US" sz="1400" dirty="0"/>
          </a:p>
        </p:txBody>
      </p:sp>
      <p:sp>
        <p:nvSpPr>
          <p:cNvPr id="14" name="Shape 10"/>
          <p:cNvSpPr/>
          <p:nvPr/>
        </p:nvSpPr>
        <p:spPr>
          <a:xfrm>
            <a:off x="5074920" y="1920240"/>
            <a:ext cx="2011680" cy="2926080"/>
          </a:xfrm>
          <a:prstGeom prst="roundRect">
            <a:avLst>
              <a:gd name="adj" fmla="val 4545"/>
            </a:avLst>
          </a:prstGeom>
          <a:solidFill>
            <a:srgbClr val="F7F5F1"/>
          </a:solidFill>
          <a:ln w="12700">
            <a:solidFill>
              <a:srgbClr val="F7F5F1"/>
            </a:solidFill>
            <a:prstDash val="solid"/>
          </a:ln>
        </p:spPr>
      </p:sp>
      <p:sp>
        <p:nvSpPr>
          <p:cNvPr id="15" name="Shape 11"/>
          <p:cNvSpPr/>
          <p:nvPr/>
        </p:nvSpPr>
        <p:spPr>
          <a:xfrm>
            <a:off x="5303520" y="2148840"/>
            <a:ext cx="548640" cy="548640"/>
          </a:xfrm>
          <a:prstGeom prst="ellipse">
            <a:avLst/>
          </a:prstGeom>
          <a:solidFill>
            <a:srgbClr val="1B4332"/>
          </a:solidFill>
          <a:ln w="12700">
            <a:solidFill>
              <a:srgbClr val="1B4332"/>
            </a:solidFill>
            <a:prstDash val="solid"/>
          </a:ln>
        </p:spPr>
      </p:sp>
      <p:pic>
        <p:nvPicPr>
          <p:cNvPr id="16" name="Image 2" descr="preencoded.png">    </p:cNvPr>
          <p:cNvPicPr>
            <a:picLocks noChangeAspect="1"/>
          </p:cNvPicPr>
          <p:nvPr/>
        </p:nvPicPr>
        <p:blipFill>
          <a:blip r:embed="rId3"/>
          <a:stretch>
            <a:fillRect/>
          </a:stretch>
        </p:blipFill>
        <p:spPr>
          <a:xfrm>
            <a:off x="5440680" y="2286000"/>
            <a:ext cx="274320" cy="274320"/>
          </a:xfrm>
          <a:prstGeom prst="rect">
            <a:avLst/>
          </a:prstGeom>
        </p:spPr>
      </p:pic>
      <p:sp>
        <p:nvSpPr>
          <p:cNvPr id="17" name="Text 12"/>
          <p:cNvSpPr txBox="1"/>
          <p:nvPr/>
        </p:nvSpPr>
        <p:spPr>
          <a:xfrm>
            <a:off x="530352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50</a:t>
            </a:r>
            <a:endParaRPr lang="en-US" sz="3600" dirty="0"/>
          </a:p>
        </p:txBody>
      </p:sp>
      <p:sp>
        <p:nvSpPr>
          <p:cNvPr id="18" name="Text 13"/>
          <p:cNvSpPr txBox="1"/>
          <p:nvPr/>
        </p:nvSpPr>
        <p:spPr>
          <a:xfrm>
            <a:off x="530352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personnes au dialogue avec les leaders religieux</a:t>
            </a:r>
            <a:endParaRPr lang="en-US" sz="1400" dirty="0"/>
          </a:p>
        </p:txBody>
      </p:sp>
      <p:sp>
        <p:nvSpPr>
          <p:cNvPr id="19" name="Shape 14"/>
          <p:cNvSpPr/>
          <p:nvPr/>
        </p:nvSpPr>
        <p:spPr>
          <a:xfrm>
            <a:off x="7292340" y="1920240"/>
            <a:ext cx="2011680" cy="2926080"/>
          </a:xfrm>
          <a:prstGeom prst="roundRect">
            <a:avLst>
              <a:gd name="adj" fmla="val 4545"/>
            </a:avLst>
          </a:prstGeom>
          <a:solidFill>
            <a:srgbClr val="F7F5F1"/>
          </a:solidFill>
          <a:ln w="12700">
            <a:solidFill>
              <a:srgbClr val="F7F5F1"/>
            </a:solidFill>
            <a:prstDash val="solid"/>
          </a:ln>
        </p:spPr>
      </p:sp>
      <p:sp>
        <p:nvSpPr>
          <p:cNvPr id="20" name="Shape 15"/>
          <p:cNvSpPr/>
          <p:nvPr/>
        </p:nvSpPr>
        <p:spPr>
          <a:xfrm>
            <a:off x="7520940" y="2148840"/>
            <a:ext cx="548640" cy="548640"/>
          </a:xfrm>
          <a:prstGeom prst="ellipse">
            <a:avLst/>
          </a:prstGeom>
          <a:solidFill>
            <a:srgbClr val="1B4332"/>
          </a:solidFill>
          <a:ln w="12700">
            <a:solidFill>
              <a:srgbClr val="1B4332"/>
            </a:solidFill>
            <a:prstDash val="solid"/>
          </a:ln>
        </p:spPr>
      </p:sp>
      <p:pic>
        <p:nvPicPr>
          <p:cNvPr id="21" name="Image 3" descr="preencoded.png">    </p:cNvPr>
          <p:cNvPicPr>
            <a:picLocks noChangeAspect="1"/>
          </p:cNvPicPr>
          <p:nvPr/>
        </p:nvPicPr>
        <p:blipFill>
          <a:blip r:embed="rId4"/>
          <a:stretch>
            <a:fillRect/>
          </a:stretch>
        </p:blipFill>
        <p:spPr>
          <a:xfrm>
            <a:off x="7658100" y="2286000"/>
            <a:ext cx="274320" cy="274320"/>
          </a:xfrm>
          <a:prstGeom prst="rect">
            <a:avLst/>
          </a:prstGeom>
        </p:spPr>
      </p:pic>
      <p:sp>
        <p:nvSpPr>
          <p:cNvPr id="22" name="Text 16"/>
          <p:cNvSpPr txBox="1"/>
          <p:nvPr/>
        </p:nvSpPr>
        <p:spPr>
          <a:xfrm>
            <a:off x="752094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100+</a:t>
            </a:r>
            <a:endParaRPr lang="en-US" sz="3600" dirty="0"/>
          </a:p>
        </p:txBody>
      </p:sp>
      <p:sp>
        <p:nvSpPr>
          <p:cNvPr id="23" name="Text 17"/>
          <p:cNvSpPr txBox="1"/>
          <p:nvPr/>
        </p:nvSpPr>
        <p:spPr>
          <a:xfrm>
            <a:off x="752094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spectateur·rices du théâtre en langue locale</a:t>
            </a:r>
            <a:endParaRPr lang="en-US" sz="1400" dirty="0"/>
          </a:p>
        </p:txBody>
      </p:sp>
      <p:sp>
        <p:nvSpPr>
          <p:cNvPr id="24" name="Shape 18"/>
          <p:cNvSpPr/>
          <p:nvPr/>
        </p:nvSpPr>
        <p:spPr>
          <a:xfrm>
            <a:off x="9509760" y="1920240"/>
            <a:ext cx="2011680" cy="2926080"/>
          </a:xfrm>
          <a:prstGeom prst="roundRect">
            <a:avLst>
              <a:gd name="adj" fmla="val 4545"/>
            </a:avLst>
          </a:prstGeom>
          <a:solidFill>
            <a:srgbClr val="F7F5F1"/>
          </a:solidFill>
          <a:ln w="12700">
            <a:solidFill>
              <a:srgbClr val="F7F5F1"/>
            </a:solidFill>
            <a:prstDash val="solid"/>
          </a:ln>
        </p:spPr>
      </p:sp>
      <p:sp>
        <p:nvSpPr>
          <p:cNvPr id="25" name="Shape 19"/>
          <p:cNvSpPr/>
          <p:nvPr/>
        </p:nvSpPr>
        <p:spPr>
          <a:xfrm>
            <a:off x="9738360" y="2148840"/>
            <a:ext cx="548640" cy="548640"/>
          </a:xfrm>
          <a:prstGeom prst="ellipse">
            <a:avLst/>
          </a:prstGeom>
          <a:solidFill>
            <a:srgbClr val="1B4332"/>
          </a:solidFill>
          <a:ln w="12700">
            <a:solidFill>
              <a:srgbClr val="1B4332"/>
            </a:solidFill>
            <a:prstDash val="solid"/>
          </a:ln>
        </p:spPr>
      </p:sp>
      <p:pic>
        <p:nvPicPr>
          <p:cNvPr id="26" name="Image 4" descr="preencoded.png">    </p:cNvPr>
          <p:cNvPicPr>
            <a:picLocks noChangeAspect="1"/>
          </p:cNvPicPr>
          <p:nvPr/>
        </p:nvPicPr>
        <p:blipFill>
          <a:blip r:embed="rId5"/>
          <a:stretch>
            <a:fillRect/>
          </a:stretch>
        </p:blipFill>
        <p:spPr>
          <a:xfrm>
            <a:off x="9875520" y="2286000"/>
            <a:ext cx="274320" cy="274320"/>
          </a:xfrm>
          <a:prstGeom prst="rect">
            <a:avLst/>
          </a:prstGeom>
        </p:spPr>
      </p:pic>
      <p:sp>
        <p:nvSpPr>
          <p:cNvPr id="27" name="Text 20"/>
          <p:cNvSpPr txBox="1"/>
          <p:nvPr/>
        </p:nvSpPr>
        <p:spPr>
          <a:xfrm>
            <a:off x="973836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2</a:t>
            </a:r>
            <a:endParaRPr lang="en-US" sz="3600" dirty="0"/>
          </a:p>
        </p:txBody>
      </p:sp>
      <p:sp>
        <p:nvSpPr>
          <p:cNvPr id="28" name="Text 21"/>
          <p:cNvSpPr txBox="1"/>
          <p:nvPr/>
        </p:nvSpPr>
        <p:spPr>
          <a:xfrm>
            <a:off x="973836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dialogues entre femmes leaders et jeunes</a:t>
            </a:r>
            <a:endParaRPr lang="en-US" sz="1400" dirty="0"/>
          </a:p>
        </p:txBody>
      </p:sp>
      <p:sp>
        <p:nvSpPr>
          <p:cNvPr id="29" name="Text 22"/>
          <p:cNvSpPr txBox="1"/>
          <p:nvPr/>
        </p:nvSpPr>
        <p:spPr>
          <a:xfrm>
            <a:off x="640080" y="5212080"/>
            <a:ext cx="10881360" cy="548640"/>
          </a:xfrm>
          <a:prstGeom prst="rect">
            <a:avLst/>
          </a:prstGeom>
          <a:noFill/>
          <a:ln/>
        </p:spPr>
        <p:txBody>
          <a:bodyPr wrap="square" lIns="0" tIns="0" rIns="0" bIns="0" rtlCol="0" anchor="ctr"/>
          <a:lstStyle/>
          <a:p>
            <a:pPr indent="0" marL="0">
              <a:buNone/>
            </a:pPr>
            <a:r>
              <a:rPr lang="en-US" sz="1600" b="1" dirty="0">
                <a:solidFill>
                  <a:srgbClr val="1B4332"/>
                </a:solidFill>
                <a:latin typeface="Calibri" pitchFamily="34" charset="0"/>
                <a:ea typeface="Calibri" pitchFamily="34" charset="-122"/>
                <a:cs typeface="Calibri" pitchFamily="34" charset="-120"/>
              </a:rPr>
              <a:t>Plus de 180 personnes </a:t>
            </a:r>
            <a:pPr indent="0" marL="0">
              <a:buNone/>
            </a:pPr>
            <a:r>
              <a:rPr lang="en-US" sz="1600" dirty="0">
                <a:solidFill>
                  <a:srgbClr val="6B6B6B"/>
                </a:solidFill>
                <a:latin typeface="Calibri" pitchFamily="34" charset="0"/>
                <a:ea typeface="Calibri" pitchFamily="34" charset="-122"/>
                <a:cs typeface="Calibri" pitchFamily="34" charset="-120"/>
              </a:rPr>
              <a:t>réunies en cinq jours, sans compter les auditeur·rices de la radio. Rapport d’activités de Guinée Impact.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4332"/>
        </a:solidFill>
      </p:bgPr>
    </p:bg>
    <p:spTree>
      <p:nvGrpSpPr>
        <p:cNvPr id="1" name=""/>
        <p:cNvGrpSpPr/>
        <p:nvPr/>
      </p:nvGrpSpPr>
      <p:grpSpPr>
        <a:xfrm>
          <a:off x="0" y="0"/>
          <a:ext cx="0" cy="0"/>
          <a:chOff x="0" y="0"/>
          <a:chExt cx="0" cy="0"/>
        </a:xfrm>
      </p:grpSpPr>
      <p:sp>
        <p:nvSpPr>
          <p:cNvPr id="2" name="Shape 0"/>
          <p:cNvSpPr/>
          <p:nvPr/>
        </p:nvSpPr>
        <p:spPr>
          <a:xfrm>
            <a:off x="9692640" y="-1463040"/>
            <a:ext cx="4023360" cy="4023360"/>
          </a:xfrm>
          <a:prstGeom prst="ellipse">
            <a:avLst/>
          </a:prstGeom>
          <a:solidFill>
            <a:srgbClr val="2D6A4F"/>
          </a:solidFill>
          <a:ln w="12700">
            <a:solidFill>
              <a:srgbClr val="2D6A4F"/>
            </a:solidFill>
            <a:prstDash val="solid"/>
          </a:ln>
        </p:spPr>
      </p:sp>
      <p:sp>
        <p:nvSpPr>
          <p:cNvPr id="3" name="Shape 1"/>
          <p:cNvSpPr/>
          <p:nvPr/>
        </p:nvSpPr>
        <p:spPr>
          <a:xfrm>
            <a:off x="-1188720" y="4754880"/>
            <a:ext cx="2926080" cy="2926080"/>
          </a:xfrm>
          <a:prstGeom prst="ellipse">
            <a:avLst/>
          </a:prstGeom>
          <a:solidFill>
            <a:srgbClr val="BC6C25">
              <a:alpha val="30000"/>
            </a:srgbClr>
          </a:solidFill>
          <a:ln w="12700">
            <a:solidFill>
              <a:srgbClr val="BC6C25">
                <a:alpha val="30000"/>
              </a:srgbClr>
            </a:solidFill>
            <a:prstDash val="solid"/>
          </a:ln>
        </p:spPr>
      </p:sp>
      <p:pic>
        <p:nvPicPr>
          <p:cNvPr id="4" name="Image 0" descr="yes_africa_trophee.jpg">    </p:cNvPr>
          <p:cNvPicPr>
            <a:picLocks noChangeAspect="1"/>
          </p:cNvPicPr>
          <p:nvPr/>
        </p:nvPicPr>
        <p:blipFill>
          <a:blip r:embed="rId1"/>
          <a:stretch>
            <a:fillRect/>
          </a:stretch>
        </p:blipFill>
        <p:spPr>
          <a:xfrm>
            <a:off x="640080" y="1097280"/>
            <a:ext cx="5486400" cy="3805084"/>
          </a:xfrm>
          <a:prstGeom prst="rect">
            <a:avLst/>
          </a:prstGeom>
        </p:spPr>
      </p:pic>
      <p:sp>
        <p:nvSpPr>
          <p:cNvPr id="5" name="Text 2"/>
          <p:cNvSpPr txBox="1"/>
          <p:nvPr/>
        </p:nvSpPr>
        <p:spPr>
          <a:xfrm>
            <a:off x="6583680" y="1005840"/>
            <a:ext cx="5120640" cy="457200"/>
          </a:xfrm>
          <a:prstGeom prst="rect">
            <a:avLst/>
          </a:prstGeom>
          <a:noFill/>
          <a:ln/>
        </p:spPr>
        <p:txBody>
          <a:bodyPr wrap="square" lIns="0" tIns="0" rIns="0" bIns="0" rtlCol="0" anchor="ctr"/>
          <a:lstStyle/>
          <a:p>
            <a:pPr indent="0" marL="0">
              <a:buNone/>
            </a:pPr>
            <a:r>
              <a:rPr lang="en-US" sz="1500" b="1" dirty="0">
                <a:solidFill>
                  <a:srgbClr val="D4A373"/>
                </a:solidFill>
                <a:latin typeface="Calibri" pitchFamily="34" charset="0"/>
                <a:ea typeface="Calibri" pitchFamily="34" charset="-122"/>
                <a:cs typeface="Calibri" pitchFamily="34" charset="-120"/>
              </a:rPr>
              <a:t>Youth Empowerment Summit – YES Africa 2025</a:t>
            </a:r>
            <a:endParaRPr lang="en-US" sz="1500" dirty="0"/>
          </a:p>
        </p:txBody>
      </p:sp>
      <p:sp>
        <p:nvSpPr>
          <p:cNvPr id="6" name="Text 3"/>
          <p:cNvSpPr txBox="1"/>
          <p:nvPr/>
        </p:nvSpPr>
        <p:spPr>
          <a:xfrm>
            <a:off x="6583680" y="1463040"/>
            <a:ext cx="5120640" cy="10972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Champion de la jeunesse africaine</a:t>
            </a:r>
            <a:endParaRPr lang="en-US" sz="3200" dirty="0"/>
          </a:p>
        </p:txBody>
      </p:sp>
      <p:sp>
        <p:nvSpPr>
          <p:cNvPr id="7" name="Text 4"/>
          <p:cNvSpPr txBox="1"/>
          <p:nvPr/>
        </p:nvSpPr>
        <p:spPr>
          <a:xfrm>
            <a:off x="6583680" y="2606040"/>
            <a:ext cx="5120640" cy="731520"/>
          </a:xfrm>
          <a:prstGeom prst="rect">
            <a:avLst/>
          </a:prstGeom>
          <a:noFill/>
          <a:ln/>
        </p:spPr>
        <p:txBody>
          <a:bodyPr wrap="square" lIns="0" tIns="0" rIns="0" bIns="0" rtlCol="0" anchor="ctr"/>
          <a:lstStyle/>
          <a:p>
            <a:pPr indent="0" marL="0">
              <a:buNone/>
            </a:pPr>
            <a:r>
              <a:rPr lang="en-US" sz="1700" i="1" dirty="0">
                <a:solidFill>
                  <a:srgbClr val="FFFFFF"/>
                </a:solidFill>
                <a:latin typeface="Calibri" pitchFamily="34" charset="0"/>
                <a:ea typeface="Calibri" pitchFamily="34" charset="-122"/>
                <a:cs typeface="Calibri" pitchFamily="34" charset="-120"/>
              </a:rPr>
              <a:t>sur le droit des jeunes et leur implication dans les instances de prise de décision</a:t>
            </a:r>
            <a:endParaRPr lang="en-US" sz="1700" dirty="0"/>
          </a:p>
        </p:txBody>
      </p:sp>
      <p:sp>
        <p:nvSpPr>
          <p:cNvPr id="8" name="Text 5"/>
          <p:cNvSpPr txBox="1"/>
          <p:nvPr/>
        </p:nvSpPr>
        <p:spPr>
          <a:xfrm>
            <a:off x="6583680" y="3657600"/>
            <a:ext cx="1645920" cy="640080"/>
          </a:xfrm>
          <a:prstGeom prst="rect">
            <a:avLst/>
          </a:prstGeom>
          <a:noFill/>
          <a:ln/>
        </p:spPr>
        <p:txBody>
          <a:bodyPr wrap="square" lIns="0" tIns="0" rIns="0" bIns="0" rtlCol="0" anchor="ctr"/>
          <a:lstStyle/>
          <a:p>
            <a:pPr indent="0" marL="0">
              <a:buNone/>
            </a:pPr>
            <a:r>
              <a:rPr lang="en-US" sz="3000" b="1" dirty="0">
                <a:solidFill>
                  <a:srgbClr val="D4A373"/>
                </a:solidFill>
                <a:latin typeface="Cambria" pitchFamily="34" charset="0"/>
                <a:ea typeface="Cambria" pitchFamily="34" charset="-122"/>
                <a:cs typeface="Cambria" pitchFamily="34" charset="-120"/>
              </a:rPr>
              <a:t>1 000+</a:t>
            </a:r>
            <a:endParaRPr lang="en-US" sz="3000" dirty="0"/>
          </a:p>
        </p:txBody>
      </p:sp>
      <p:sp>
        <p:nvSpPr>
          <p:cNvPr id="9" name="Text 6"/>
          <p:cNvSpPr txBox="1"/>
          <p:nvPr/>
        </p:nvSpPr>
        <p:spPr>
          <a:xfrm>
            <a:off x="6583680" y="4297680"/>
            <a:ext cx="1645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jeunes leaders</a:t>
            </a:r>
            <a:endParaRPr lang="en-US" sz="1300" dirty="0"/>
          </a:p>
        </p:txBody>
      </p:sp>
      <p:sp>
        <p:nvSpPr>
          <p:cNvPr id="10" name="Text 7"/>
          <p:cNvSpPr txBox="1"/>
          <p:nvPr/>
        </p:nvSpPr>
        <p:spPr>
          <a:xfrm>
            <a:off x="8321040" y="3657600"/>
            <a:ext cx="1645920" cy="640080"/>
          </a:xfrm>
          <a:prstGeom prst="rect">
            <a:avLst/>
          </a:prstGeom>
          <a:noFill/>
          <a:ln/>
        </p:spPr>
        <p:txBody>
          <a:bodyPr wrap="square" lIns="0" tIns="0" rIns="0" bIns="0" rtlCol="0" anchor="ctr"/>
          <a:lstStyle/>
          <a:p>
            <a:pPr indent="0" marL="0">
              <a:buNone/>
            </a:pPr>
            <a:r>
              <a:rPr lang="en-US" sz="3000" b="1" dirty="0">
                <a:solidFill>
                  <a:srgbClr val="D4A373"/>
                </a:solidFill>
                <a:latin typeface="Cambria" pitchFamily="34" charset="0"/>
                <a:ea typeface="Cambria" pitchFamily="34" charset="-122"/>
                <a:cs typeface="Cambria" pitchFamily="34" charset="-120"/>
              </a:rPr>
              <a:t>118</a:t>
            </a:r>
            <a:endParaRPr lang="en-US" sz="3000" dirty="0"/>
          </a:p>
        </p:txBody>
      </p:sp>
      <p:sp>
        <p:nvSpPr>
          <p:cNvPr id="11" name="Text 8"/>
          <p:cNvSpPr txBox="1"/>
          <p:nvPr/>
        </p:nvSpPr>
        <p:spPr>
          <a:xfrm>
            <a:off x="8321040" y="4297680"/>
            <a:ext cx="1645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ONG</a:t>
            </a:r>
            <a:endParaRPr lang="en-US" sz="1300" dirty="0"/>
          </a:p>
        </p:txBody>
      </p:sp>
      <p:sp>
        <p:nvSpPr>
          <p:cNvPr id="12" name="Text 9"/>
          <p:cNvSpPr txBox="1"/>
          <p:nvPr/>
        </p:nvSpPr>
        <p:spPr>
          <a:xfrm>
            <a:off x="10058400" y="3657600"/>
            <a:ext cx="1645920" cy="640080"/>
          </a:xfrm>
          <a:prstGeom prst="rect">
            <a:avLst/>
          </a:prstGeom>
          <a:noFill/>
          <a:ln/>
        </p:spPr>
        <p:txBody>
          <a:bodyPr wrap="square" lIns="0" tIns="0" rIns="0" bIns="0" rtlCol="0" anchor="ctr"/>
          <a:lstStyle/>
          <a:p>
            <a:pPr indent="0" marL="0">
              <a:buNone/>
            </a:pPr>
            <a:r>
              <a:rPr lang="en-US" sz="3000" b="1" dirty="0">
                <a:solidFill>
                  <a:srgbClr val="D4A373"/>
                </a:solidFill>
                <a:latin typeface="Cambria" pitchFamily="34" charset="0"/>
                <a:ea typeface="Cambria" pitchFamily="34" charset="-122"/>
                <a:cs typeface="Cambria" pitchFamily="34" charset="-120"/>
              </a:rPr>
              <a:t>43</a:t>
            </a:r>
            <a:endParaRPr lang="en-US" sz="3000" dirty="0"/>
          </a:p>
        </p:txBody>
      </p:sp>
      <p:sp>
        <p:nvSpPr>
          <p:cNvPr id="13" name="Text 10"/>
          <p:cNvSpPr txBox="1"/>
          <p:nvPr/>
        </p:nvSpPr>
        <p:spPr>
          <a:xfrm>
            <a:off x="10058400" y="4297680"/>
            <a:ext cx="1645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pays africains</a:t>
            </a:r>
            <a:endParaRPr lang="en-US" sz="1300" dirty="0"/>
          </a:p>
        </p:txBody>
      </p:sp>
      <p:sp>
        <p:nvSpPr>
          <p:cNvPr id="14" name="Text 11"/>
          <p:cNvSpPr txBox="1"/>
          <p:nvPr/>
        </p:nvSpPr>
        <p:spPr>
          <a:xfrm>
            <a:off x="6583680" y="4937760"/>
            <a:ext cx="5120640" cy="6400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Marrakech, 19 et 20 juin 2025 · Fondation Jadara et Union Panafricaine de la Jeunesse</a:t>
            </a:r>
            <a:endParaRPr lang="en-US" sz="1300" dirty="0"/>
          </a:p>
        </p:txBody>
      </p:sp>
      <p:sp>
        <p:nvSpPr>
          <p:cNvPr id="15" name="Text 12"/>
          <p:cNvSpPr txBox="1"/>
          <p:nvPr/>
        </p:nvSpPr>
        <p:spPr>
          <a:xfrm>
            <a:off x="640080" y="5989320"/>
            <a:ext cx="5486400" cy="548640"/>
          </a:xfrm>
          <a:prstGeom prst="rect">
            <a:avLst/>
          </a:prstGeom>
          <a:noFill/>
          <a:ln/>
        </p:spPr>
        <p:txBody>
          <a:bodyPr wrap="square" lIns="0" tIns="0" rIns="0" bIns="0" rtlCol="0" anchor="ctr"/>
          <a:lstStyle/>
          <a:p>
            <a:pPr indent="0" marL="0">
              <a:buNone/>
            </a:pPr>
            <a:r>
              <a:rPr lang="en-US" sz="1300" i="1" dirty="0">
                <a:solidFill>
                  <a:srgbClr val="D4A373"/>
                </a:solidFill>
                <a:latin typeface="Calibri" pitchFamily="34" charset="0"/>
                <a:ea typeface="Calibri" pitchFamily="34" charset="-122"/>
                <a:cs typeface="Calibri" pitchFamily="34" charset="-120"/>
              </a:rPr>
              <a:t>Une reconnaissance collective : nos équipes, les femmes leaders, les leaders religieux et les jeunes.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yes_africa_panel_agriculture.jpg">    </p:cNvPr>
          <p:cNvPicPr>
            <a:picLocks noChangeAspect="1"/>
          </p:cNvPicPr>
          <p:nvPr/>
        </p:nvPicPr>
        <p:blipFill>
          <a:blip r:embed="rId1"/>
          <a:stretch>
            <a:fillRect/>
          </a:stretch>
        </p:blipFill>
        <p:spPr>
          <a:xfrm>
            <a:off x="640080" y="548640"/>
            <a:ext cx="4572000" cy="5715000"/>
          </a:xfrm>
          <a:prstGeom prst="rect">
            <a:avLst/>
          </a:prstGeom>
        </p:spPr>
      </p:pic>
      <p:sp>
        <p:nvSpPr>
          <p:cNvPr id="3" name="Text 0"/>
          <p:cNvSpPr txBox="1"/>
          <p:nvPr/>
        </p:nvSpPr>
        <p:spPr>
          <a:xfrm>
            <a:off x="5760720" y="548640"/>
            <a:ext cx="5760720" cy="1280160"/>
          </a:xfrm>
          <a:prstGeom prst="rect">
            <a:avLst/>
          </a:prstGeom>
          <a:noFill/>
          <a:ln/>
        </p:spPr>
        <p:txBody>
          <a:bodyPr wrap="square" lIns="0" tIns="0" rIns="0" bIns="0" rtlCol="0" anchor="ctr"/>
          <a:lstStyle/>
          <a:p>
            <a:pPr indent="0" marL="0">
              <a:buNone/>
            </a:pPr>
            <a:r>
              <a:rPr lang="en-US" sz="3200" b="1" dirty="0">
                <a:solidFill>
                  <a:srgbClr val="1B4332"/>
                </a:solidFill>
                <a:latin typeface="Cambria" pitchFamily="34" charset="0"/>
                <a:ea typeface="Cambria" pitchFamily="34" charset="-122"/>
                <a:cs typeface="Cambria" pitchFamily="34" charset="-120"/>
              </a:rPr>
              <a:t>La sécurité alimentaire fait partie de la paix</a:t>
            </a:r>
            <a:endParaRPr lang="en-US" sz="3200" dirty="0"/>
          </a:p>
        </p:txBody>
      </p:sp>
      <p:sp>
        <p:nvSpPr>
          <p:cNvPr id="4" name="Text 1"/>
          <p:cNvSpPr txBox="1"/>
          <p:nvPr/>
        </p:nvSpPr>
        <p:spPr>
          <a:xfrm>
            <a:off x="5760720" y="2011680"/>
            <a:ext cx="5760720" cy="1463040"/>
          </a:xfrm>
          <a:prstGeom prst="rect">
            <a:avLst/>
          </a:prstGeom>
          <a:noFill/>
          <a:ln/>
        </p:spPr>
        <p:txBody>
          <a:bodyPr wrap="square" lIns="0" tIns="0" rIns="0" bIns="0" rtlCol="0" anchor="t"/>
          <a:lstStyle/>
          <a:p>
            <a:pPr indent="0" marL="0">
              <a:buNone/>
            </a:pPr>
            <a:r>
              <a:rPr lang="en-US" sz="1500" b="1" dirty="0">
                <a:solidFill>
                  <a:srgbClr val="BC6C25"/>
                </a:solidFill>
                <a:latin typeface="Calibri" pitchFamily="34" charset="0"/>
                <a:ea typeface="Calibri" pitchFamily="34" charset="-122"/>
                <a:cs typeface="Calibri" pitchFamily="34" charset="-120"/>
              </a:rPr>
              <a:t>Intervenant à Marrakech</a:t>
            </a:r>
            <a:endParaRPr lang="en-US" sz="1500" dirty="0"/>
          </a:p>
          <a:p>
            <a:pPr indent="0" marL="0">
              <a:buNone/>
            </a:pPr>
            <a:r>
              <a:rPr lang="en-US" sz="1500" i="1" dirty="0">
                <a:solidFill>
                  <a:srgbClr val="2B2B2B"/>
                </a:solidFill>
                <a:latin typeface="Calibri" pitchFamily="34" charset="0"/>
                <a:ea typeface="Calibri" pitchFamily="34" charset="-122"/>
                <a:cs typeface="Calibri" pitchFamily="34" charset="-120"/>
              </a:rPr>
              <a:t>« Cultiver la résilience face au changement climatique : l’agriculture et l’agroalimentaire, piliers de la sécurité alimentaire et leviers d’innovation pour la jeunesse africaine »</a:t>
            </a:r>
            <a:endParaRPr lang="en-US" sz="1500" dirty="0"/>
          </a:p>
        </p:txBody>
      </p:sp>
      <p:sp>
        <p:nvSpPr>
          <p:cNvPr id="5" name="Shape 2"/>
          <p:cNvSpPr/>
          <p:nvPr/>
        </p:nvSpPr>
        <p:spPr>
          <a:xfrm>
            <a:off x="5760720" y="3749040"/>
            <a:ext cx="548640" cy="548640"/>
          </a:xfrm>
          <a:prstGeom prst="ellipse">
            <a:avLst/>
          </a:prstGeom>
          <a:solidFill>
            <a:srgbClr val="1B4332"/>
          </a:solidFill>
          <a:ln w="12700">
            <a:solidFill>
              <a:srgbClr val="1B4332"/>
            </a:solidFill>
            <a:prstDash val="solid"/>
          </a:ln>
        </p:spPr>
      </p:sp>
      <p:pic>
        <p:nvPicPr>
          <p:cNvPr id="6" name="Image 1" descr="preencoded.png">    </p:cNvPr>
          <p:cNvPicPr>
            <a:picLocks noChangeAspect="1"/>
          </p:cNvPicPr>
          <p:nvPr/>
        </p:nvPicPr>
        <p:blipFill>
          <a:blip r:embed="rId2"/>
          <a:stretch>
            <a:fillRect/>
          </a:stretch>
        </p:blipFill>
        <p:spPr>
          <a:xfrm>
            <a:off x="5897880" y="3886200"/>
            <a:ext cx="274320" cy="274320"/>
          </a:xfrm>
          <a:prstGeom prst="rect">
            <a:avLst/>
          </a:prstGeom>
        </p:spPr>
      </p:pic>
      <p:sp>
        <p:nvSpPr>
          <p:cNvPr id="7" name="Text 3"/>
          <p:cNvSpPr txBox="1"/>
          <p:nvPr/>
        </p:nvSpPr>
        <p:spPr>
          <a:xfrm>
            <a:off x="6492240" y="3703320"/>
            <a:ext cx="5029200" cy="10058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Quand la terre s’épuise et que les récoltes manquent, les tensions montent, et ce sont souvent les femmes et les jeunes qui en paient le prix.</a:t>
            </a:r>
            <a:endParaRPr lang="en-US" sz="1500" dirty="0"/>
          </a:p>
        </p:txBody>
      </p:sp>
      <p:pic>
        <p:nvPicPr>
          <p:cNvPr id="8" name="Image 2" descr="yes_africa_salle_pleniere.jpg">    </p:cNvPr>
          <p:cNvPicPr>
            <a:picLocks noChangeAspect="1"/>
          </p:cNvPicPr>
          <p:nvPr/>
        </p:nvPicPr>
        <p:blipFill>
          <a:blip r:embed="rId3"/>
          <a:stretch>
            <a:fillRect/>
          </a:stretch>
        </p:blipFill>
        <p:spPr>
          <a:xfrm>
            <a:off x="5760720" y="4892040"/>
            <a:ext cx="2194560" cy="1509857"/>
          </a:xfrm>
          <a:prstGeom prst="rect">
            <a:avLst/>
          </a:prstGeom>
        </p:spPr>
      </p:pic>
      <p:sp>
        <p:nvSpPr>
          <p:cNvPr id="9" name="Text 4"/>
          <p:cNvSpPr txBox="1"/>
          <p:nvPr/>
        </p:nvSpPr>
        <p:spPr>
          <a:xfrm>
            <a:off x="8138160" y="4937760"/>
            <a:ext cx="3383280" cy="1371600"/>
          </a:xfrm>
          <a:prstGeom prst="rect">
            <a:avLst/>
          </a:prstGeom>
          <a:noFill/>
          <a:ln/>
        </p:spPr>
        <p:txBody>
          <a:bodyPr wrap="square" lIns="0" tIns="0" rIns="0" bIns="0" rtlCol="0" anchor="t"/>
          <a:lstStyle/>
          <a:p>
            <a:pPr indent="0" marL="0">
              <a:buNone/>
            </a:pPr>
            <a:r>
              <a:rPr lang="en-US" sz="1300" dirty="0">
                <a:solidFill>
                  <a:srgbClr val="6B6B6B"/>
                </a:solidFill>
                <a:latin typeface="Calibri" pitchFamily="34" charset="0"/>
                <a:ea typeface="Calibri" pitchFamily="34" charset="-122"/>
                <a:cs typeface="Calibri" pitchFamily="34" charset="-120"/>
              </a:rPr>
              <a:t>Aux côtés d’expert·es du Malawi, du Maroc et du Bénin, en tant que leader de l’agroécologie et de l’autonomisation des jeunes.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La culture au service de la paix</a:t>
            </a:r>
            <a:endParaRPr lang="en-US" sz="3600" dirty="0"/>
          </a:p>
        </p:txBody>
      </p:sp>
      <p:sp>
        <p:nvSpPr>
          <p:cNvPr id="3" name="Shape 1"/>
          <p:cNvSpPr/>
          <p:nvPr/>
        </p:nvSpPr>
        <p:spPr>
          <a:xfrm>
            <a:off x="640080" y="1371600"/>
            <a:ext cx="5303520" cy="4160520"/>
          </a:xfrm>
          <a:prstGeom prst="roundRect">
            <a:avLst>
              <a:gd name="adj" fmla="val 2198"/>
            </a:avLst>
          </a:prstGeom>
          <a:solidFill>
            <a:srgbClr val="F7F5F1"/>
          </a:solidFill>
          <a:ln w="12700">
            <a:solidFill>
              <a:srgbClr val="F7F5F1"/>
            </a:solidFill>
            <a:prstDash val="solid"/>
          </a:ln>
        </p:spPr>
      </p:sp>
      <p:sp>
        <p:nvSpPr>
          <p:cNvPr id="4" name="Shape 2"/>
          <p:cNvSpPr/>
          <p:nvPr/>
        </p:nvSpPr>
        <p:spPr>
          <a:xfrm>
            <a:off x="1005840" y="1600200"/>
            <a:ext cx="640080" cy="640080"/>
          </a:xfrm>
          <a:prstGeom prst="ellipse">
            <a:avLst/>
          </a:prstGeom>
          <a:solidFill>
            <a:srgbClr val="1B4332"/>
          </a:solidFill>
          <a:ln w="12700">
            <a:solidFill>
              <a:srgbClr val="1B4332"/>
            </a:solidFill>
            <a:prstDash val="solid"/>
          </a:ln>
        </p:spPr>
      </p:sp>
      <p:pic>
        <p:nvPicPr>
          <p:cNvPr id="5" name="Image 0" descr="preencoded.png">    </p:cNvPr>
          <p:cNvPicPr>
            <a:picLocks noChangeAspect="1"/>
          </p:cNvPicPr>
          <p:nvPr/>
        </p:nvPicPr>
        <p:blipFill>
          <a:blip r:embed="rId1"/>
          <a:stretch>
            <a:fillRect/>
          </a:stretch>
        </p:blipFill>
        <p:spPr>
          <a:xfrm>
            <a:off x="1165860" y="1760220"/>
            <a:ext cx="320040" cy="320040"/>
          </a:xfrm>
          <a:prstGeom prst="rect">
            <a:avLst/>
          </a:prstGeom>
        </p:spPr>
      </p:pic>
      <p:sp>
        <p:nvSpPr>
          <p:cNvPr id="6" name="Text 3"/>
          <p:cNvSpPr txBox="1"/>
          <p:nvPr/>
        </p:nvSpPr>
        <p:spPr>
          <a:xfrm>
            <a:off x="1005840" y="2377440"/>
            <a:ext cx="4572000" cy="548640"/>
          </a:xfrm>
          <a:prstGeom prst="rect">
            <a:avLst/>
          </a:prstGeom>
          <a:noFill/>
          <a:ln/>
        </p:spPr>
        <p:txBody>
          <a:bodyPr wrap="square" lIns="0" tIns="0" rIns="0" bIns="0" rtlCol="0" anchor="ctr"/>
          <a:lstStyle/>
          <a:p>
            <a:pPr indent="0" marL="0">
              <a:buNone/>
            </a:pPr>
            <a:r>
              <a:rPr lang="en-US" sz="2000" b="1" dirty="0">
                <a:solidFill>
                  <a:srgbClr val="1B4332"/>
                </a:solidFill>
                <a:latin typeface="Cambria" pitchFamily="34" charset="0"/>
                <a:ea typeface="Cambria" pitchFamily="34" charset="-122"/>
                <a:cs typeface="Cambria" pitchFamily="34" charset="-120"/>
              </a:rPr>
              <a:t>Le théâtre à Mamou</a:t>
            </a:r>
            <a:endParaRPr lang="en-US" sz="2000" dirty="0"/>
          </a:p>
        </p:txBody>
      </p:sp>
      <p:sp>
        <p:nvSpPr>
          <p:cNvPr id="7" name="Text 4"/>
          <p:cNvSpPr txBox="1"/>
          <p:nvPr/>
        </p:nvSpPr>
        <p:spPr>
          <a:xfrm>
            <a:off x="1005840" y="2971800"/>
            <a:ext cx="4663440" cy="2423160"/>
          </a:xfrm>
          <a:prstGeom prst="rect">
            <a:avLst/>
          </a:prstGeom>
          <a:noFill/>
          <a:ln/>
        </p:spPr>
        <p:txBody>
          <a:bodyPr wrap="square" lIns="0" tIns="0" rIns="0" bIns="0" rtlCol="0" anchor="t"/>
          <a:lstStyle/>
          <a:p>
            <a:pPr indent="0" marL="0">
              <a:spcAft>
                <a:spcPts val="300"/>
              </a:spcAft>
              <a:buNone/>
            </a:pPr>
            <a:r>
              <a:rPr lang="en-US" sz="1400" dirty="0">
                <a:solidFill>
                  <a:srgbClr val="2B2B2B"/>
                </a:solidFill>
                <a:latin typeface="Calibri" pitchFamily="34" charset="0"/>
                <a:ea typeface="Calibri" pitchFamily="34" charset="-122"/>
                <a:cs typeface="Calibri" pitchFamily="34" charset="-120"/>
              </a:rPr>
              <a:t>Une pièce en langue locale sur les résolutions 1325 et 2250 et les MGF, devant plus de 100 personnes. Une histoire bien racontée touche plus de monde qu’un long discours.</a:t>
            </a:r>
            <a:endParaRPr lang="en-US" sz="1400" dirty="0"/>
          </a:p>
        </p:txBody>
      </p:sp>
      <p:sp>
        <p:nvSpPr>
          <p:cNvPr id="8" name="Shape 5"/>
          <p:cNvSpPr/>
          <p:nvPr/>
        </p:nvSpPr>
        <p:spPr>
          <a:xfrm>
            <a:off x="6217920" y="1371600"/>
            <a:ext cx="5303520" cy="4160520"/>
          </a:xfrm>
          <a:prstGeom prst="roundRect">
            <a:avLst>
              <a:gd name="adj" fmla="val 2198"/>
            </a:avLst>
          </a:prstGeom>
          <a:solidFill>
            <a:srgbClr val="F7F5F1"/>
          </a:solidFill>
          <a:ln w="12700">
            <a:solidFill>
              <a:srgbClr val="F7F5F1"/>
            </a:solidFill>
            <a:prstDash val="solid"/>
          </a:ln>
        </p:spPr>
      </p:sp>
      <p:sp>
        <p:nvSpPr>
          <p:cNvPr id="9" name="Shape 6"/>
          <p:cNvSpPr/>
          <p:nvPr/>
        </p:nvSpPr>
        <p:spPr>
          <a:xfrm>
            <a:off x="6583680" y="1600200"/>
            <a:ext cx="640080" cy="640080"/>
          </a:xfrm>
          <a:prstGeom prst="ellipse">
            <a:avLst/>
          </a:prstGeom>
          <a:solidFill>
            <a:srgbClr val="1B4332"/>
          </a:solidFill>
          <a:ln w="12700">
            <a:solidFill>
              <a:srgbClr val="1B4332"/>
            </a:solidFill>
            <a:prstDash val="solid"/>
          </a:ln>
        </p:spPr>
      </p:sp>
      <p:pic>
        <p:nvPicPr>
          <p:cNvPr id="10" name="Image 1" descr="preencoded.png">    </p:cNvPr>
          <p:cNvPicPr>
            <a:picLocks noChangeAspect="1"/>
          </p:cNvPicPr>
          <p:nvPr/>
        </p:nvPicPr>
        <p:blipFill>
          <a:blip r:embed="rId2"/>
          <a:stretch>
            <a:fillRect/>
          </a:stretch>
        </p:blipFill>
        <p:spPr>
          <a:xfrm>
            <a:off x="6743700" y="1760220"/>
            <a:ext cx="320040" cy="320040"/>
          </a:xfrm>
          <a:prstGeom prst="rect">
            <a:avLst/>
          </a:prstGeom>
        </p:spPr>
      </p:pic>
      <p:sp>
        <p:nvSpPr>
          <p:cNvPr id="11" name="Text 7"/>
          <p:cNvSpPr txBox="1"/>
          <p:nvPr/>
        </p:nvSpPr>
        <p:spPr>
          <a:xfrm>
            <a:off x="6583680" y="2377440"/>
            <a:ext cx="4572000" cy="548640"/>
          </a:xfrm>
          <a:prstGeom prst="rect">
            <a:avLst/>
          </a:prstGeom>
          <a:noFill/>
          <a:ln/>
        </p:spPr>
        <p:txBody>
          <a:bodyPr wrap="square" lIns="0" tIns="0" rIns="0" bIns="0" rtlCol="0" anchor="ctr"/>
          <a:lstStyle/>
          <a:p>
            <a:pPr indent="0" marL="0">
              <a:buNone/>
            </a:pPr>
            <a:r>
              <a:rPr lang="en-US" sz="2000" b="1" dirty="0">
                <a:solidFill>
                  <a:srgbClr val="1B4332"/>
                </a:solidFill>
                <a:latin typeface="Cambria" pitchFamily="34" charset="0"/>
                <a:ea typeface="Cambria" pitchFamily="34" charset="-122"/>
                <a:cs typeface="Cambria" pitchFamily="34" charset="-120"/>
              </a:rPr>
              <a:t>Le festival Les 7 Jours du 7ᵉ Art</a:t>
            </a:r>
            <a:endParaRPr lang="en-US" sz="2000" dirty="0"/>
          </a:p>
        </p:txBody>
      </p:sp>
      <p:sp>
        <p:nvSpPr>
          <p:cNvPr id="12" name="Text 8"/>
          <p:cNvSpPr txBox="1"/>
          <p:nvPr/>
        </p:nvSpPr>
        <p:spPr>
          <a:xfrm>
            <a:off x="6583680" y="2971800"/>
            <a:ext cx="4663440" cy="2423160"/>
          </a:xfrm>
          <a:prstGeom prst="rect">
            <a:avLst/>
          </a:prstGeom>
          <a:noFill/>
          <a:ln/>
        </p:spPr>
        <p:txBody>
          <a:bodyPr wrap="square" lIns="0" tIns="0" rIns="0" bIns="0" rtlCol="0" anchor="t"/>
          <a:lstStyle/>
          <a:p>
            <a:pPr indent="0" marL="0">
              <a:spcAft>
                <a:spcPts val="400"/>
              </a:spcAft>
              <a:buNone/>
            </a:pPr>
            <a:r>
              <a:rPr lang="en-US" sz="1400" b="1" dirty="0">
                <a:solidFill>
                  <a:srgbClr val="2B2B2B"/>
                </a:solidFill>
                <a:latin typeface="Calibri" pitchFamily="34" charset="0"/>
                <a:ea typeface="Calibri" pitchFamily="34" charset="-122"/>
                <a:cs typeface="Calibri" pitchFamily="34" charset="-120"/>
              </a:rPr>
              <a:t>Ambassadeur depuis la 6ᵉ édition (décembre 2024) :</a:t>
            </a:r>
            <a:endParaRPr lang="en-US" sz="1400" dirty="0"/>
          </a:p>
          <a:p>
            <a:pPr marL="342900" indent="-342900">
              <a:spcAft>
                <a:spcPts val="300"/>
              </a:spcAft>
              <a:buSzPct val="100000"/>
              <a:buChar char="•"/>
            </a:pPr>
            <a:r>
              <a:rPr lang="en-US" sz="1400" dirty="0">
                <a:solidFill>
                  <a:srgbClr val="2B2B2B"/>
                </a:solidFill>
                <a:latin typeface="Calibri" pitchFamily="34" charset="0"/>
                <a:ea typeface="Calibri" pitchFamily="34" charset="-122"/>
                <a:cs typeface="Calibri" pitchFamily="34" charset="-120"/>
              </a:rPr>
              <a:t>Partenariats avec TV5 Monde, Africa 24 et des personnalités africaines</a:t>
            </a:r>
            <a:endParaRPr lang="en-US" sz="1400" dirty="0"/>
          </a:p>
          <a:p>
            <a:pPr marL="342900" indent="-342900">
              <a:spcAft>
                <a:spcPts val="300"/>
              </a:spcAft>
              <a:buSzPct val="100000"/>
              <a:buChar char="•"/>
            </a:pPr>
            <a:r>
              <a:rPr lang="en-US" sz="1400" dirty="0">
                <a:solidFill>
                  <a:srgbClr val="2B2B2B"/>
                </a:solidFill>
                <a:latin typeface="Calibri" pitchFamily="34" charset="0"/>
                <a:ea typeface="Calibri" pitchFamily="34" charset="-122"/>
                <a:cs typeface="Calibri" pitchFamily="34" charset="-120"/>
              </a:rPr>
              <a:t>Plan d’action sur cinq ans</a:t>
            </a:r>
            <a:endParaRPr lang="en-US" sz="1400" dirty="0"/>
          </a:p>
          <a:p>
            <a:pPr marL="342900" indent="-342900">
              <a:spcAft>
                <a:spcPts val="300"/>
              </a:spcAft>
              <a:buSzPct val="100000"/>
              <a:buChar char="•"/>
            </a:pPr>
            <a:r>
              <a:rPr lang="en-US" sz="1400" dirty="0">
                <a:solidFill>
                  <a:srgbClr val="2B2B2B"/>
                </a:solidFill>
                <a:latin typeface="Calibri" pitchFamily="34" charset="0"/>
                <a:ea typeface="Calibri" pitchFamily="34" charset="-122"/>
                <a:cs typeface="Calibri" pitchFamily="34" charset="-120"/>
              </a:rPr>
              <a:t>Équipe de coordination formée par un spécialiste</a:t>
            </a:r>
            <a:endParaRPr lang="en-US" sz="1400" dirty="0"/>
          </a:p>
          <a:p>
            <a:pPr marL="342900" indent="-342900">
              <a:spcAft>
                <a:spcPts val="300"/>
              </a:spcAft>
              <a:buSzPct val="100000"/>
              <a:buChar char="•"/>
            </a:pPr>
            <a:r>
              <a:rPr lang="en-US" sz="1400" dirty="0">
                <a:solidFill>
                  <a:srgbClr val="2B2B2B"/>
                </a:solidFill>
                <a:latin typeface="Calibri" pitchFamily="34" charset="0"/>
                <a:ea typeface="Calibri" pitchFamily="34" charset="-122"/>
                <a:cs typeface="Calibri" pitchFamily="34" charset="-120"/>
              </a:rPr>
              <a:t>Équipe de gestion hébergée chez Guinée Impact</a:t>
            </a:r>
            <a:endParaRPr lang="en-US" sz="1400" dirty="0"/>
          </a:p>
        </p:txBody>
      </p:sp>
      <p:sp>
        <p:nvSpPr>
          <p:cNvPr id="13" name="Text 9"/>
          <p:cNvSpPr txBox="1"/>
          <p:nvPr/>
        </p:nvSpPr>
        <p:spPr>
          <a:xfrm>
            <a:off x="640080" y="5760720"/>
            <a:ext cx="10881360" cy="731520"/>
          </a:xfrm>
          <a:prstGeom prst="rect">
            <a:avLst/>
          </a:prstGeom>
          <a:noFill/>
          <a:ln/>
        </p:spPr>
        <p:txBody>
          <a:bodyPr wrap="square" lIns="0" tIns="0" rIns="0" bIns="0" rtlCol="0" anchor="ctr"/>
          <a:lstStyle/>
          <a:p>
            <a:pPr indent="0" marL="0">
              <a:buNone/>
            </a:pPr>
            <a:r>
              <a:rPr lang="en-US" sz="1700" i="1" dirty="0">
                <a:solidFill>
                  <a:srgbClr val="BC6C25"/>
                </a:solidFill>
                <a:latin typeface="Calibri" pitchFamily="34" charset="0"/>
                <a:ea typeface="Calibri" pitchFamily="34" charset="-122"/>
                <a:cs typeface="Calibri" pitchFamily="34" charset="-120"/>
              </a:rPr>
              <a:t>Proposition : des ciné-débats sur les résolutions 1325 et 2250 et les violences faites aux femmes, avec les festivals de la région.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Ce que nous avons appris</a:t>
            </a:r>
            <a:endParaRPr lang="en-US" sz="3600" dirty="0"/>
          </a:p>
        </p:txBody>
      </p:sp>
      <p:sp>
        <p:nvSpPr>
          <p:cNvPr id="3" name="Shape 1"/>
          <p:cNvSpPr/>
          <p:nvPr/>
        </p:nvSpPr>
        <p:spPr>
          <a:xfrm>
            <a:off x="640080" y="1463040"/>
            <a:ext cx="3474720" cy="3291840"/>
          </a:xfrm>
          <a:prstGeom prst="roundRect">
            <a:avLst>
              <a:gd name="adj" fmla="val 2778"/>
            </a:avLst>
          </a:prstGeom>
          <a:solidFill>
            <a:srgbClr val="F7F5F1"/>
          </a:solidFill>
          <a:ln w="12700">
            <a:solidFill>
              <a:srgbClr val="F7F5F1"/>
            </a:solidFill>
            <a:prstDash val="solid"/>
          </a:ln>
        </p:spPr>
      </p:sp>
      <p:sp>
        <p:nvSpPr>
          <p:cNvPr id="4" name="Shape 2"/>
          <p:cNvSpPr/>
          <p:nvPr/>
        </p:nvSpPr>
        <p:spPr>
          <a:xfrm>
            <a:off x="914400" y="1691640"/>
            <a:ext cx="640080" cy="640080"/>
          </a:xfrm>
          <a:prstGeom prst="ellipse">
            <a:avLst/>
          </a:prstGeom>
          <a:solidFill>
            <a:srgbClr val="1B4332"/>
          </a:solidFill>
          <a:ln w="12700">
            <a:solidFill>
              <a:srgbClr val="1B4332"/>
            </a:solidFill>
            <a:prstDash val="solid"/>
          </a:ln>
        </p:spPr>
      </p:sp>
      <p:pic>
        <p:nvPicPr>
          <p:cNvPr id="5" name="Image 0" descr="preencoded.png">    </p:cNvPr>
          <p:cNvPicPr>
            <a:picLocks noChangeAspect="1"/>
          </p:cNvPicPr>
          <p:nvPr/>
        </p:nvPicPr>
        <p:blipFill>
          <a:blip r:embed="rId1"/>
          <a:stretch>
            <a:fillRect/>
          </a:stretch>
        </p:blipFill>
        <p:spPr>
          <a:xfrm>
            <a:off x="1074420" y="1851660"/>
            <a:ext cx="320040" cy="320040"/>
          </a:xfrm>
          <a:prstGeom prst="rect">
            <a:avLst/>
          </a:prstGeom>
        </p:spPr>
      </p:pic>
      <p:sp>
        <p:nvSpPr>
          <p:cNvPr id="6" name="Text 3"/>
          <p:cNvSpPr txBox="1"/>
          <p:nvPr/>
        </p:nvSpPr>
        <p:spPr>
          <a:xfrm>
            <a:off x="914400" y="2514600"/>
            <a:ext cx="2926080" cy="8229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Les résistances se lèvent par le dialogue</a:t>
            </a:r>
            <a:endParaRPr lang="en-US" sz="1700" dirty="0"/>
          </a:p>
        </p:txBody>
      </p:sp>
      <p:sp>
        <p:nvSpPr>
          <p:cNvPr id="7" name="Text 4"/>
          <p:cNvSpPr txBox="1"/>
          <p:nvPr/>
        </p:nvSpPr>
        <p:spPr>
          <a:xfrm>
            <a:off x="914400" y="3337560"/>
            <a:ext cx="2926080" cy="137160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Sur les MGF, nous n’avons pas imposé : nous avons discuté. Quand les leaders religieux ont pris la parole, le message a été reçu autrement.</a:t>
            </a:r>
            <a:endParaRPr lang="en-US" sz="1400" dirty="0"/>
          </a:p>
        </p:txBody>
      </p:sp>
      <p:sp>
        <p:nvSpPr>
          <p:cNvPr id="8" name="Shape 5"/>
          <p:cNvSpPr/>
          <p:nvPr/>
        </p:nvSpPr>
        <p:spPr>
          <a:xfrm>
            <a:off x="4343400" y="1463040"/>
            <a:ext cx="3474720" cy="3291840"/>
          </a:xfrm>
          <a:prstGeom prst="roundRect">
            <a:avLst>
              <a:gd name="adj" fmla="val 2778"/>
            </a:avLst>
          </a:prstGeom>
          <a:solidFill>
            <a:srgbClr val="F7F5F1"/>
          </a:solidFill>
          <a:ln w="12700">
            <a:solidFill>
              <a:srgbClr val="F7F5F1"/>
            </a:solidFill>
            <a:prstDash val="solid"/>
          </a:ln>
        </p:spPr>
      </p:sp>
      <p:sp>
        <p:nvSpPr>
          <p:cNvPr id="9" name="Shape 6"/>
          <p:cNvSpPr/>
          <p:nvPr/>
        </p:nvSpPr>
        <p:spPr>
          <a:xfrm>
            <a:off x="4617720" y="1691640"/>
            <a:ext cx="640080" cy="640080"/>
          </a:xfrm>
          <a:prstGeom prst="ellipse">
            <a:avLst/>
          </a:prstGeom>
          <a:solidFill>
            <a:srgbClr val="1B4332"/>
          </a:solidFill>
          <a:ln w="12700">
            <a:solidFill>
              <a:srgbClr val="1B4332"/>
            </a:solidFill>
            <a:prstDash val="solid"/>
          </a:ln>
        </p:spPr>
      </p:sp>
      <p:pic>
        <p:nvPicPr>
          <p:cNvPr id="10" name="Image 1" descr="preencoded.png">    </p:cNvPr>
          <p:cNvPicPr>
            <a:picLocks noChangeAspect="1"/>
          </p:cNvPicPr>
          <p:nvPr/>
        </p:nvPicPr>
        <p:blipFill>
          <a:blip r:embed="rId2"/>
          <a:stretch>
            <a:fillRect/>
          </a:stretch>
        </p:blipFill>
        <p:spPr>
          <a:xfrm>
            <a:off x="4777740" y="1851660"/>
            <a:ext cx="320040" cy="320040"/>
          </a:xfrm>
          <a:prstGeom prst="rect">
            <a:avLst/>
          </a:prstGeom>
        </p:spPr>
      </p:pic>
      <p:sp>
        <p:nvSpPr>
          <p:cNvPr id="11" name="Text 7"/>
          <p:cNvSpPr txBox="1"/>
          <p:nvPr/>
        </p:nvSpPr>
        <p:spPr>
          <a:xfrm>
            <a:off x="4617720" y="2514600"/>
            <a:ext cx="2926080" cy="8229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Parler la langue des communautés</a:t>
            </a:r>
            <a:endParaRPr lang="en-US" sz="1700" dirty="0"/>
          </a:p>
        </p:txBody>
      </p:sp>
      <p:sp>
        <p:nvSpPr>
          <p:cNvPr id="12" name="Text 8"/>
          <p:cNvSpPr txBox="1"/>
          <p:nvPr/>
        </p:nvSpPr>
        <p:spPr>
          <a:xfrm>
            <a:off x="4617720" y="3337560"/>
            <a:ext cx="2926080" cy="137160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Radio, théâtre, cinéma : la culture est un outil de plaidoyer.</a:t>
            </a:r>
            <a:endParaRPr lang="en-US" sz="1400" dirty="0"/>
          </a:p>
        </p:txBody>
      </p:sp>
      <p:sp>
        <p:nvSpPr>
          <p:cNvPr id="13" name="Shape 9"/>
          <p:cNvSpPr/>
          <p:nvPr/>
        </p:nvSpPr>
        <p:spPr>
          <a:xfrm>
            <a:off x="8046720" y="1463040"/>
            <a:ext cx="3474720" cy="3291840"/>
          </a:xfrm>
          <a:prstGeom prst="roundRect">
            <a:avLst>
              <a:gd name="adj" fmla="val 2778"/>
            </a:avLst>
          </a:prstGeom>
          <a:solidFill>
            <a:srgbClr val="F7F5F1"/>
          </a:solidFill>
          <a:ln w="12700">
            <a:solidFill>
              <a:srgbClr val="F7F5F1"/>
            </a:solidFill>
            <a:prstDash val="solid"/>
          </a:ln>
        </p:spPr>
      </p:sp>
      <p:sp>
        <p:nvSpPr>
          <p:cNvPr id="14" name="Shape 10"/>
          <p:cNvSpPr/>
          <p:nvPr/>
        </p:nvSpPr>
        <p:spPr>
          <a:xfrm>
            <a:off x="8321040" y="1691640"/>
            <a:ext cx="640080" cy="640080"/>
          </a:xfrm>
          <a:prstGeom prst="ellipse">
            <a:avLst/>
          </a:prstGeom>
          <a:solidFill>
            <a:srgbClr val="1B4332"/>
          </a:solidFill>
          <a:ln w="12700">
            <a:solidFill>
              <a:srgbClr val="1B4332"/>
            </a:solidFill>
            <a:prstDash val="solid"/>
          </a:ln>
        </p:spPr>
      </p:sp>
      <p:pic>
        <p:nvPicPr>
          <p:cNvPr id="15" name="Image 2" descr="preencoded.png">    </p:cNvPr>
          <p:cNvPicPr>
            <a:picLocks noChangeAspect="1"/>
          </p:cNvPicPr>
          <p:nvPr/>
        </p:nvPicPr>
        <p:blipFill>
          <a:blip r:embed="rId3"/>
          <a:stretch>
            <a:fillRect/>
          </a:stretch>
        </p:blipFill>
        <p:spPr>
          <a:xfrm>
            <a:off x="8481060" y="1851660"/>
            <a:ext cx="320040" cy="320040"/>
          </a:xfrm>
          <a:prstGeom prst="rect">
            <a:avLst/>
          </a:prstGeom>
        </p:spPr>
      </p:pic>
      <p:sp>
        <p:nvSpPr>
          <p:cNvPr id="16" name="Text 11"/>
          <p:cNvSpPr txBox="1"/>
          <p:nvPr/>
        </p:nvSpPr>
        <p:spPr>
          <a:xfrm>
            <a:off x="8321040" y="2514600"/>
            <a:ext cx="2926080" cy="8229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Les générations ont besoin l’une de l’autre</a:t>
            </a:r>
            <a:endParaRPr lang="en-US" sz="1700" dirty="0"/>
          </a:p>
        </p:txBody>
      </p:sp>
      <p:sp>
        <p:nvSpPr>
          <p:cNvPr id="17" name="Text 12"/>
          <p:cNvSpPr txBox="1"/>
          <p:nvPr/>
        </p:nvSpPr>
        <p:spPr>
          <a:xfrm>
            <a:off x="8321040" y="3337560"/>
            <a:ext cx="2926080" cy="137160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Les femmes leaders apportent l’expérience ; les jeunes, l’énergie et de nouveaux outils.</a:t>
            </a:r>
            <a:endParaRPr lang="en-US" sz="1400" dirty="0"/>
          </a:p>
        </p:txBody>
      </p:sp>
      <p:sp>
        <p:nvSpPr>
          <p:cNvPr id="18" name="Shape 13"/>
          <p:cNvSpPr/>
          <p:nvPr/>
        </p:nvSpPr>
        <p:spPr>
          <a:xfrm>
            <a:off x="640080" y="5074920"/>
            <a:ext cx="10881360" cy="1005840"/>
          </a:xfrm>
          <a:prstGeom prst="roundRect">
            <a:avLst>
              <a:gd name="adj" fmla="val 9091"/>
            </a:avLst>
          </a:prstGeom>
          <a:solidFill>
            <a:srgbClr val="1B4332"/>
          </a:solidFill>
          <a:ln w="12700">
            <a:solidFill>
              <a:srgbClr val="1B4332"/>
            </a:solidFill>
            <a:prstDash val="solid"/>
          </a:ln>
        </p:spPr>
      </p:sp>
      <p:sp>
        <p:nvSpPr>
          <p:cNvPr id="19" name="Text 14"/>
          <p:cNvSpPr txBox="1"/>
          <p:nvPr/>
        </p:nvSpPr>
        <p:spPr>
          <a:xfrm>
            <a:off x="914400" y="5074920"/>
            <a:ext cx="10332720" cy="1005840"/>
          </a:xfrm>
          <a:prstGeom prst="rect">
            <a:avLst/>
          </a:prstGeom>
          <a:noFill/>
          <a:ln/>
        </p:spPr>
        <p:txBody>
          <a:bodyPr wrap="square" lIns="0" tIns="0" rIns="0" bIns="0" rtlCol="0" anchor="ctr"/>
          <a:lstStyle/>
          <a:p>
            <a:pPr indent="0" marL="0">
              <a:buNone/>
            </a:pPr>
            <a:r>
              <a:rPr lang="en-US" sz="1600" b="1" dirty="0">
                <a:solidFill>
                  <a:srgbClr val="D4A373"/>
                </a:solidFill>
                <a:latin typeface="Calibri" pitchFamily="34" charset="0"/>
                <a:ea typeface="Calibri" pitchFamily="34" charset="-122"/>
                <a:cs typeface="Calibri" pitchFamily="34" charset="-120"/>
              </a:rPr>
              <a:t>Nos défis : </a:t>
            </a:r>
            <a:pPr indent="0" marL="0">
              <a:buNone/>
            </a:pPr>
            <a:r>
              <a:rPr lang="en-US" sz="1600" dirty="0">
                <a:solidFill>
                  <a:srgbClr val="FFFFFF"/>
                </a:solidFill>
                <a:latin typeface="Calibri" pitchFamily="34" charset="0"/>
                <a:ea typeface="Calibri" pitchFamily="34" charset="-122"/>
                <a:cs typeface="Calibri" pitchFamily="34" charset="-120"/>
              </a:rPr>
              <a:t>mobiliser les participant·es · financer la logistique · sortir du financement par projet · mesurer le changement réel des attitudes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Nos propositions pour la région</a:t>
            </a:r>
            <a:endParaRPr lang="en-US" sz="3600" dirty="0"/>
          </a:p>
        </p:txBody>
      </p:sp>
      <p:sp>
        <p:nvSpPr>
          <p:cNvPr id="3" name="Shape 1"/>
          <p:cNvSpPr/>
          <p:nvPr/>
        </p:nvSpPr>
        <p:spPr>
          <a:xfrm>
            <a:off x="640080" y="1463040"/>
            <a:ext cx="5349240" cy="1325880"/>
          </a:xfrm>
          <a:prstGeom prst="roundRect">
            <a:avLst>
              <a:gd name="adj" fmla="val 6897"/>
            </a:avLst>
          </a:prstGeom>
          <a:solidFill>
            <a:srgbClr val="F7F5F1"/>
          </a:solidFill>
          <a:ln w="12700">
            <a:solidFill>
              <a:srgbClr val="F7F5F1"/>
            </a:solidFill>
            <a:prstDash val="solid"/>
          </a:ln>
        </p:spPr>
      </p:sp>
      <p:sp>
        <p:nvSpPr>
          <p:cNvPr id="4" name="Shape 2"/>
          <p:cNvSpPr/>
          <p:nvPr/>
        </p:nvSpPr>
        <p:spPr>
          <a:xfrm>
            <a:off x="868680" y="1801368"/>
            <a:ext cx="640080" cy="640080"/>
          </a:xfrm>
          <a:prstGeom prst="ellipse">
            <a:avLst/>
          </a:prstGeom>
          <a:solidFill>
            <a:srgbClr val="1B4332"/>
          </a:solidFill>
          <a:ln w="12700">
            <a:solidFill>
              <a:srgbClr val="1B4332"/>
            </a:solidFill>
            <a:prstDash val="solid"/>
          </a:ln>
        </p:spPr>
      </p:sp>
      <p:sp>
        <p:nvSpPr>
          <p:cNvPr id="5" name="Text 3"/>
          <p:cNvSpPr txBox="1"/>
          <p:nvPr/>
        </p:nvSpPr>
        <p:spPr>
          <a:xfrm>
            <a:off x="868680" y="180136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691640" y="146304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Reproduire le modèle « cinq formats » dans la campagne régionale contre les violences faites aux femmes et aux filles</a:t>
            </a:r>
            <a:endParaRPr lang="en-US" sz="1500" dirty="0"/>
          </a:p>
        </p:txBody>
      </p:sp>
      <p:sp>
        <p:nvSpPr>
          <p:cNvPr id="7" name="Shape 5"/>
          <p:cNvSpPr/>
          <p:nvPr/>
        </p:nvSpPr>
        <p:spPr>
          <a:xfrm>
            <a:off x="6172200" y="1463040"/>
            <a:ext cx="5349240" cy="1325880"/>
          </a:xfrm>
          <a:prstGeom prst="roundRect">
            <a:avLst>
              <a:gd name="adj" fmla="val 6897"/>
            </a:avLst>
          </a:prstGeom>
          <a:solidFill>
            <a:srgbClr val="F7F5F1"/>
          </a:solidFill>
          <a:ln w="12700">
            <a:solidFill>
              <a:srgbClr val="F7F5F1"/>
            </a:solidFill>
            <a:prstDash val="solid"/>
          </a:ln>
        </p:spPr>
      </p:sp>
      <p:sp>
        <p:nvSpPr>
          <p:cNvPr id="8" name="Shape 6"/>
          <p:cNvSpPr/>
          <p:nvPr/>
        </p:nvSpPr>
        <p:spPr>
          <a:xfrm>
            <a:off x="6400800" y="1801368"/>
            <a:ext cx="640080" cy="640080"/>
          </a:xfrm>
          <a:prstGeom prst="ellipse">
            <a:avLst/>
          </a:prstGeom>
          <a:solidFill>
            <a:srgbClr val="1B4332"/>
          </a:solidFill>
          <a:ln w="12700">
            <a:solidFill>
              <a:srgbClr val="1B4332"/>
            </a:solidFill>
            <a:prstDash val="solid"/>
          </a:ln>
        </p:spPr>
      </p:sp>
      <p:sp>
        <p:nvSpPr>
          <p:cNvPr id="9" name="Text 7"/>
          <p:cNvSpPr txBox="1"/>
          <p:nvPr/>
        </p:nvSpPr>
        <p:spPr>
          <a:xfrm>
            <a:off x="6400800" y="180136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7223760" y="146304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Associer les leaders religieux et communautaires aux campagnes sur les VBG et les MGF</a:t>
            </a:r>
            <a:endParaRPr lang="en-US" sz="1500" dirty="0"/>
          </a:p>
        </p:txBody>
      </p:sp>
      <p:sp>
        <p:nvSpPr>
          <p:cNvPr id="11" name="Shape 9"/>
          <p:cNvSpPr/>
          <p:nvPr/>
        </p:nvSpPr>
        <p:spPr>
          <a:xfrm>
            <a:off x="640080" y="3017520"/>
            <a:ext cx="5349240" cy="1325880"/>
          </a:xfrm>
          <a:prstGeom prst="roundRect">
            <a:avLst>
              <a:gd name="adj" fmla="val 6897"/>
            </a:avLst>
          </a:prstGeom>
          <a:solidFill>
            <a:srgbClr val="F7F5F1"/>
          </a:solidFill>
          <a:ln w="12700">
            <a:solidFill>
              <a:srgbClr val="F7F5F1"/>
            </a:solidFill>
            <a:prstDash val="solid"/>
          </a:ln>
        </p:spPr>
      </p:sp>
      <p:sp>
        <p:nvSpPr>
          <p:cNvPr id="12" name="Shape 10"/>
          <p:cNvSpPr/>
          <p:nvPr/>
        </p:nvSpPr>
        <p:spPr>
          <a:xfrm>
            <a:off x="868680" y="3355848"/>
            <a:ext cx="640080" cy="640080"/>
          </a:xfrm>
          <a:prstGeom prst="ellipse">
            <a:avLst/>
          </a:prstGeom>
          <a:solidFill>
            <a:srgbClr val="1B4332"/>
          </a:solidFill>
          <a:ln w="12700">
            <a:solidFill>
              <a:srgbClr val="1B4332"/>
            </a:solidFill>
            <a:prstDash val="solid"/>
          </a:ln>
        </p:spPr>
      </p:sp>
      <p:sp>
        <p:nvSpPr>
          <p:cNvPr id="13" name="Text 11"/>
          <p:cNvSpPr txBox="1"/>
          <p:nvPr/>
        </p:nvSpPr>
        <p:spPr>
          <a:xfrm>
            <a:off x="868680" y="335584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691640" y="301752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Construire des indicateurs communs pour mesurer le changement d’attitude</a:t>
            </a:r>
            <a:endParaRPr lang="en-US" sz="1500" dirty="0"/>
          </a:p>
        </p:txBody>
      </p:sp>
      <p:sp>
        <p:nvSpPr>
          <p:cNvPr id="15" name="Shape 13"/>
          <p:cNvSpPr/>
          <p:nvPr/>
        </p:nvSpPr>
        <p:spPr>
          <a:xfrm>
            <a:off x="6172200" y="3017520"/>
            <a:ext cx="5349240" cy="1325880"/>
          </a:xfrm>
          <a:prstGeom prst="roundRect">
            <a:avLst>
              <a:gd name="adj" fmla="val 6897"/>
            </a:avLst>
          </a:prstGeom>
          <a:solidFill>
            <a:srgbClr val="F7F5F1"/>
          </a:solidFill>
          <a:ln w="12700">
            <a:solidFill>
              <a:srgbClr val="F7F5F1"/>
            </a:solidFill>
            <a:prstDash val="solid"/>
          </a:ln>
        </p:spPr>
      </p:sp>
      <p:sp>
        <p:nvSpPr>
          <p:cNvPr id="16" name="Shape 14"/>
          <p:cNvSpPr/>
          <p:nvPr/>
        </p:nvSpPr>
        <p:spPr>
          <a:xfrm>
            <a:off x="6400800" y="3355848"/>
            <a:ext cx="640080" cy="640080"/>
          </a:xfrm>
          <a:prstGeom prst="ellipse">
            <a:avLst/>
          </a:prstGeom>
          <a:solidFill>
            <a:srgbClr val="1B4332"/>
          </a:solidFill>
          <a:ln w="12700">
            <a:solidFill>
              <a:srgbClr val="1B4332"/>
            </a:solidFill>
            <a:prstDash val="solid"/>
          </a:ln>
        </p:spPr>
      </p:sp>
      <p:sp>
        <p:nvSpPr>
          <p:cNvPr id="17" name="Text 15"/>
          <p:cNvSpPr txBox="1"/>
          <p:nvPr/>
        </p:nvSpPr>
        <p:spPr>
          <a:xfrm>
            <a:off x="6400800" y="335584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7223760" y="301752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Obtenir des partenaires des financements pluriannuels pour les organisations locales</a:t>
            </a:r>
            <a:endParaRPr lang="en-US" sz="1500" dirty="0"/>
          </a:p>
        </p:txBody>
      </p:sp>
      <p:sp>
        <p:nvSpPr>
          <p:cNvPr id="19" name="Shape 17"/>
          <p:cNvSpPr/>
          <p:nvPr/>
        </p:nvSpPr>
        <p:spPr>
          <a:xfrm>
            <a:off x="640080" y="4572000"/>
            <a:ext cx="5349240" cy="1325880"/>
          </a:xfrm>
          <a:prstGeom prst="roundRect">
            <a:avLst>
              <a:gd name="adj" fmla="val 6897"/>
            </a:avLst>
          </a:prstGeom>
          <a:solidFill>
            <a:srgbClr val="F7F5F1"/>
          </a:solidFill>
          <a:ln w="12700">
            <a:solidFill>
              <a:srgbClr val="F7F5F1"/>
            </a:solidFill>
            <a:prstDash val="solid"/>
          </a:ln>
        </p:spPr>
      </p:sp>
      <p:sp>
        <p:nvSpPr>
          <p:cNvPr id="20" name="Shape 18"/>
          <p:cNvSpPr/>
          <p:nvPr/>
        </p:nvSpPr>
        <p:spPr>
          <a:xfrm>
            <a:off x="868680" y="4910328"/>
            <a:ext cx="640080" cy="640080"/>
          </a:xfrm>
          <a:prstGeom prst="ellipse">
            <a:avLst/>
          </a:prstGeom>
          <a:solidFill>
            <a:srgbClr val="1B4332"/>
          </a:solidFill>
          <a:ln w="12700">
            <a:solidFill>
              <a:srgbClr val="1B4332"/>
            </a:solidFill>
            <a:prstDash val="solid"/>
          </a:ln>
        </p:spPr>
      </p:sp>
      <p:sp>
        <p:nvSpPr>
          <p:cNvPr id="21" name="Text 19"/>
          <p:cNvSpPr txBox="1"/>
          <p:nvPr/>
        </p:nvSpPr>
        <p:spPr>
          <a:xfrm>
            <a:off x="868680" y="491032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2" name="Text 20"/>
          <p:cNvSpPr txBox="1"/>
          <p:nvPr/>
        </p:nvSpPr>
        <p:spPr>
          <a:xfrm>
            <a:off x="1691640" y="457200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Organiser des ciné-débats sur 1325 et 2250 avec les festivals de la région</a:t>
            </a:r>
            <a:endParaRPr lang="en-US" sz="1500" dirty="0"/>
          </a:p>
        </p:txBody>
      </p:sp>
      <p:sp>
        <p:nvSpPr>
          <p:cNvPr id="23" name="Shape 21"/>
          <p:cNvSpPr/>
          <p:nvPr/>
        </p:nvSpPr>
        <p:spPr>
          <a:xfrm>
            <a:off x="6172200" y="4572000"/>
            <a:ext cx="5349240" cy="1325880"/>
          </a:xfrm>
          <a:prstGeom prst="roundRect">
            <a:avLst>
              <a:gd name="adj" fmla="val 6897"/>
            </a:avLst>
          </a:prstGeom>
          <a:solidFill>
            <a:srgbClr val="F7F5F1"/>
          </a:solidFill>
          <a:ln w="12700">
            <a:solidFill>
              <a:srgbClr val="F7F5F1"/>
            </a:solidFill>
            <a:prstDash val="solid"/>
          </a:ln>
        </p:spPr>
      </p:sp>
      <p:sp>
        <p:nvSpPr>
          <p:cNvPr id="24" name="Shape 22"/>
          <p:cNvSpPr/>
          <p:nvPr/>
        </p:nvSpPr>
        <p:spPr>
          <a:xfrm>
            <a:off x="6400800" y="4910328"/>
            <a:ext cx="640080" cy="640080"/>
          </a:xfrm>
          <a:prstGeom prst="ellipse">
            <a:avLst/>
          </a:prstGeom>
          <a:solidFill>
            <a:srgbClr val="1B4332"/>
          </a:solidFill>
          <a:ln w="12700">
            <a:solidFill>
              <a:srgbClr val="1B4332"/>
            </a:solidFill>
            <a:prstDash val="solid"/>
          </a:ln>
        </p:spPr>
      </p:sp>
      <p:sp>
        <p:nvSpPr>
          <p:cNvPr id="25" name="Text 23"/>
          <p:cNvSpPr txBox="1"/>
          <p:nvPr/>
        </p:nvSpPr>
        <p:spPr>
          <a:xfrm>
            <a:off x="6400800" y="491032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26" name="Text 24"/>
          <p:cNvSpPr txBox="1"/>
          <p:nvPr/>
        </p:nvSpPr>
        <p:spPr>
          <a:xfrm>
            <a:off x="7223760" y="457200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Relier notre réseau aux réseaux panafricains d’autonomisation des jeunes, comme YES Africa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4332"/>
        </a:solidFill>
      </p:bgPr>
    </p:bg>
    <p:spTree>
      <p:nvGrpSpPr>
        <p:cNvPr id="1" name=""/>
        <p:cNvGrpSpPr/>
        <p:nvPr/>
      </p:nvGrpSpPr>
      <p:grpSpPr>
        <a:xfrm>
          <a:off x="0" y="0"/>
          <a:ext cx="0" cy="0"/>
          <a:chOff x="0" y="0"/>
          <a:chExt cx="0" cy="0"/>
        </a:xfrm>
      </p:grpSpPr>
      <p:sp>
        <p:nvSpPr>
          <p:cNvPr id="2" name="Shape 0"/>
          <p:cNvSpPr/>
          <p:nvPr/>
        </p:nvSpPr>
        <p:spPr>
          <a:xfrm>
            <a:off x="9692640" y="-1463040"/>
            <a:ext cx="4023360" cy="4023360"/>
          </a:xfrm>
          <a:prstGeom prst="ellipse">
            <a:avLst/>
          </a:prstGeom>
          <a:solidFill>
            <a:srgbClr val="2D6A4F"/>
          </a:solidFill>
          <a:ln w="12700">
            <a:solidFill>
              <a:srgbClr val="2D6A4F"/>
            </a:solidFill>
            <a:prstDash val="solid"/>
          </a:ln>
        </p:spPr>
      </p:sp>
      <p:sp>
        <p:nvSpPr>
          <p:cNvPr id="3" name="Shape 1"/>
          <p:cNvSpPr/>
          <p:nvPr/>
        </p:nvSpPr>
        <p:spPr>
          <a:xfrm>
            <a:off x="-1188720" y="4754880"/>
            <a:ext cx="2926080" cy="2926080"/>
          </a:xfrm>
          <a:prstGeom prst="ellipse">
            <a:avLst/>
          </a:prstGeom>
          <a:solidFill>
            <a:srgbClr val="BC6C25">
              <a:alpha val="30000"/>
            </a:srgbClr>
          </a:solidFill>
          <a:ln w="12700">
            <a:solidFill>
              <a:srgbClr val="BC6C25">
                <a:alpha val="30000"/>
              </a:srgbClr>
            </a:solidFill>
            <a:prstDash val="solid"/>
          </a:ln>
        </p:spPr>
      </p:sp>
      <p:sp>
        <p:nvSpPr>
          <p:cNvPr id="4" name="Text 2"/>
          <p:cNvSpPr txBox="1"/>
          <p:nvPr/>
        </p:nvSpPr>
        <p:spPr>
          <a:xfrm>
            <a:off x="822960" y="1005840"/>
            <a:ext cx="8686800"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 Nos voix, notre paix : portons-les ensemble, jusqu’au dernier village. »</a:t>
            </a:r>
            <a:endParaRPr lang="en-US" sz="3000" dirty="0"/>
          </a:p>
        </p:txBody>
      </p:sp>
      <p:sp>
        <p:nvSpPr>
          <p:cNvPr id="5" name="Text 3"/>
          <p:cNvSpPr txBox="1"/>
          <p:nvPr/>
        </p:nvSpPr>
        <p:spPr>
          <a:xfrm>
            <a:off x="822960" y="2560320"/>
            <a:ext cx="5486400" cy="548640"/>
          </a:xfrm>
          <a:prstGeom prst="rect">
            <a:avLst/>
          </a:prstGeom>
          <a:noFill/>
          <a:ln/>
        </p:spPr>
        <p:txBody>
          <a:bodyPr wrap="square" lIns="0" tIns="0" rIns="0" bIns="0" rtlCol="0" anchor="ctr"/>
          <a:lstStyle/>
          <a:p>
            <a:pPr indent="0" marL="0">
              <a:buNone/>
            </a:pPr>
            <a:r>
              <a:rPr lang="en-US" sz="2200" i="1" dirty="0">
                <a:solidFill>
                  <a:srgbClr val="D4A373"/>
                </a:solidFill>
                <a:latin typeface="Calibri" pitchFamily="34" charset="0"/>
                <a:ea typeface="Calibri" pitchFamily="34" charset="-122"/>
                <a:cs typeface="Calibri" pitchFamily="34" charset="-120"/>
              </a:rPr>
              <a:t>Merci</a:t>
            </a:r>
            <a:endParaRPr lang="en-US" sz="2200" dirty="0"/>
          </a:p>
        </p:txBody>
      </p:sp>
      <p:sp>
        <p:nvSpPr>
          <p:cNvPr id="6" name="Shape 4"/>
          <p:cNvSpPr/>
          <p:nvPr/>
        </p:nvSpPr>
        <p:spPr>
          <a:xfrm>
            <a:off x="822960" y="3429000"/>
            <a:ext cx="502920" cy="502920"/>
          </a:xfrm>
          <a:prstGeom prst="ellipse">
            <a:avLst/>
          </a:prstGeom>
          <a:solidFill>
            <a:srgbClr val="2D6A4F"/>
          </a:solidFill>
          <a:ln w="12700">
            <a:solidFill>
              <a:srgbClr val="2D6A4F"/>
            </a:solidFill>
            <a:prstDash val="solid"/>
          </a:ln>
        </p:spPr>
      </p:sp>
      <p:pic>
        <p:nvPicPr>
          <p:cNvPr id="7" name="Image 0" descr="preencoded.png">    </p:cNvPr>
          <p:cNvPicPr>
            <a:picLocks noChangeAspect="1"/>
          </p:cNvPicPr>
          <p:nvPr/>
        </p:nvPicPr>
        <p:blipFill>
          <a:blip r:embed="rId1"/>
          <a:stretch>
            <a:fillRect/>
          </a:stretch>
        </p:blipFill>
        <p:spPr>
          <a:xfrm>
            <a:off x="948690" y="3554730"/>
            <a:ext cx="251460" cy="251460"/>
          </a:xfrm>
          <a:prstGeom prst="rect">
            <a:avLst/>
          </a:prstGeom>
        </p:spPr>
      </p:pic>
      <p:sp>
        <p:nvSpPr>
          <p:cNvPr id="8" name="Text 5"/>
          <p:cNvSpPr txBox="1"/>
          <p:nvPr/>
        </p:nvSpPr>
        <p:spPr>
          <a:xfrm>
            <a:off x="1508760" y="341071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PRÉSIDENT</a:t>
            </a:r>
            <a:endParaRPr lang="en-US" sz="1100" dirty="0"/>
          </a:p>
        </p:txBody>
      </p:sp>
      <p:sp>
        <p:nvSpPr>
          <p:cNvPr id="9" name="Text 6"/>
          <p:cNvSpPr txBox="1"/>
          <p:nvPr/>
        </p:nvSpPr>
        <p:spPr>
          <a:xfrm>
            <a:off x="1508760" y="366674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Mamadou Adama BARRY</a:t>
            </a:r>
            <a:endParaRPr lang="en-US" sz="1500" dirty="0"/>
          </a:p>
        </p:txBody>
      </p:sp>
      <p:sp>
        <p:nvSpPr>
          <p:cNvPr id="10" name="Shape 7"/>
          <p:cNvSpPr/>
          <p:nvPr/>
        </p:nvSpPr>
        <p:spPr>
          <a:xfrm>
            <a:off x="822960" y="4160520"/>
            <a:ext cx="502920" cy="502920"/>
          </a:xfrm>
          <a:prstGeom prst="ellipse">
            <a:avLst/>
          </a:prstGeom>
          <a:solidFill>
            <a:srgbClr val="2D6A4F"/>
          </a:solidFill>
          <a:ln w="12700">
            <a:solidFill>
              <a:srgbClr val="2D6A4F"/>
            </a:solidFill>
            <a:prstDash val="solid"/>
          </a:ln>
        </p:spPr>
      </p:sp>
      <p:pic>
        <p:nvPicPr>
          <p:cNvPr id="11" name="Image 1" descr="preencoded.png">    </p:cNvPr>
          <p:cNvPicPr>
            <a:picLocks noChangeAspect="1"/>
          </p:cNvPicPr>
          <p:nvPr/>
        </p:nvPicPr>
        <p:blipFill>
          <a:blip r:embed="rId2"/>
          <a:stretch>
            <a:fillRect/>
          </a:stretch>
        </p:blipFill>
        <p:spPr>
          <a:xfrm>
            <a:off x="948690" y="4286250"/>
            <a:ext cx="251460" cy="251460"/>
          </a:xfrm>
          <a:prstGeom prst="rect">
            <a:avLst/>
          </a:prstGeom>
        </p:spPr>
      </p:pic>
      <p:sp>
        <p:nvSpPr>
          <p:cNvPr id="12" name="Text 8"/>
          <p:cNvSpPr txBox="1"/>
          <p:nvPr/>
        </p:nvSpPr>
        <p:spPr>
          <a:xfrm>
            <a:off x="1508760" y="414223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SIÈGE SOCIAL</a:t>
            </a:r>
            <a:endParaRPr lang="en-US" sz="1100" dirty="0"/>
          </a:p>
        </p:txBody>
      </p:sp>
      <p:sp>
        <p:nvSpPr>
          <p:cNvPr id="13" name="Text 9"/>
          <p:cNvSpPr txBox="1"/>
          <p:nvPr/>
        </p:nvSpPr>
        <p:spPr>
          <a:xfrm>
            <a:off x="1508760" y="439826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Yattayah Fossidet, Commune de Sonfonia, Conakry, Guinée</a:t>
            </a:r>
            <a:endParaRPr lang="en-US" sz="1500" dirty="0"/>
          </a:p>
        </p:txBody>
      </p:sp>
      <p:sp>
        <p:nvSpPr>
          <p:cNvPr id="14" name="Shape 10"/>
          <p:cNvSpPr/>
          <p:nvPr/>
        </p:nvSpPr>
        <p:spPr>
          <a:xfrm>
            <a:off x="822960" y="4892040"/>
            <a:ext cx="502920" cy="50292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948690" y="5017770"/>
            <a:ext cx="251460" cy="251460"/>
          </a:xfrm>
          <a:prstGeom prst="rect">
            <a:avLst/>
          </a:prstGeom>
        </p:spPr>
      </p:pic>
      <p:sp>
        <p:nvSpPr>
          <p:cNvPr id="16" name="Text 11"/>
          <p:cNvSpPr txBox="1"/>
          <p:nvPr/>
        </p:nvSpPr>
        <p:spPr>
          <a:xfrm>
            <a:off x="1508760" y="487375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TÉLÉPHONE</a:t>
            </a:r>
            <a:endParaRPr lang="en-US" sz="1100" dirty="0"/>
          </a:p>
        </p:txBody>
      </p:sp>
      <p:sp>
        <p:nvSpPr>
          <p:cNvPr id="17" name="Text 12"/>
          <p:cNvSpPr txBox="1"/>
          <p:nvPr/>
        </p:nvSpPr>
        <p:spPr>
          <a:xfrm>
            <a:off x="1508760" y="512978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(+224) 620 42 52 10</a:t>
            </a:r>
            <a:endParaRPr lang="en-US" sz="1500" dirty="0"/>
          </a:p>
        </p:txBody>
      </p:sp>
      <p:sp>
        <p:nvSpPr>
          <p:cNvPr id="18" name="Shape 13"/>
          <p:cNvSpPr/>
          <p:nvPr/>
        </p:nvSpPr>
        <p:spPr>
          <a:xfrm>
            <a:off x="822960" y="5623560"/>
            <a:ext cx="502920" cy="502920"/>
          </a:xfrm>
          <a:prstGeom prst="ellipse">
            <a:avLst/>
          </a:prstGeom>
          <a:solidFill>
            <a:srgbClr val="2D6A4F"/>
          </a:solidFill>
          <a:ln w="12700">
            <a:solidFill>
              <a:srgbClr val="2D6A4F"/>
            </a:solidFill>
            <a:prstDash val="solid"/>
          </a:ln>
        </p:spPr>
      </p:sp>
      <p:pic>
        <p:nvPicPr>
          <p:cNvPr id="19" name="Image 3" descr="preencoded.png">    </p:cNvPr>
          <p:cNvPicPr>
            <a:picLocks noChangeAspect="1"/>
          </p:cNvPicPr>
          <p:nvPr/>
        </p:nvPicPr>
        <p:blipFill>
          <a:blip r:embed="rId4"/>
          <a:stretch>
            <a:fillRect/>
          </a:stretch>
        </p:blipFill>
        <p:spPr>
          <a:xfrm>
            <a:off x="948690" y="5749290"/>
            <a:ext cx="251460" cy="251460"/>
          </a:xfrm>
          <a:prstGeom prst="rect">
            <a:avLst/>
          </a:prstGeom>
        </p:spPr>
      </p:pic>
      <p:sp>
        <p:nvSpPr>
          <p:cNvPr id="20" name="Text 14"/>
          <p:cNvSpPr txBox="1"/>
          <p:nvPr/>
        </p:nvSpPr>
        <p:spPr>
          <a:xfrm>
            <a:off x="1508760" y="560527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E-MAILS</a:t>
            </a:r>
            <a:endParaRPr lang="en-US" sz="1100" dirty="0"/>
          </a:p>
        </p:txBody>
      </p:sp>
      <p:sp>
        <p:nvSpPr>
          <p:cNvPr id="21" name="Text 15"/>
          <p:cNvSpPr txBox="1"/>
          <p:nvPr/>
        </p:nvSpPr>
        <p:spPr>
          <a:xfrm>
            <a:off x="1508760" y="586130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guineeimpactgn@gmail.com · barrymed45@gmail.com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 Somone à Dakar – Guinée Impact</dc:title>
  <dc:subject>PptxGenJS Presentation</dc:subject>
  <dc:creator>Guinée Impact</dc:creator>
  <cp:lastModifiedBy>Guinée Impact</cp:lastModifiedBy>
  <cp:revision>1</cp:revision>
  <dcterms:created xsi:type="dcterms:W3CDTF">2026-09-23T13:35:47Z</dcterms:created>
  <dcterms:modified xsi:type="dcterms:W3CDTF">2026-09-23T13:35:47Z</dcterms:modified>
</cp:coreProperties>
</file>