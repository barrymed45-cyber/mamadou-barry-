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Ouverture (1 min). Mesdames et Messieurs, chères sœurs et chers frères activistes. Je m'appelle Mamadou Adama BARRY, Président de Guinée Impact, organisation membre du Groupe de Travail Femmes, Jeunes, Paix et Sécurité en Afrique de l'Ouest et au Sahel, en Guinée. À Somone, nous avons pris des engagements ensemble. Je suis venu vous rendre compte de ce que Guinée Impact en a fait. Rien de cela n'aurait été possible sans nos équipes, nos collaborateur·rices, notre Directeur Exécutif M. Racine Diallo, et surtout les femmes et les jeunes avec qui nous travaillons.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Guinée Impact en bref (30 s). Plateforme de la société civile guinéenne basée à Conakry. Mission : gouvernance responsable, participation citoyenne, paix, inclusion sociale, leadership et autonomisation des jeunes et des femmes. Membre du Groupe de Travail Femmes, Jeunes, Paix et Sécurité et partenaire du projet FIFEP, financé par le Fonds des Nations Unies pour la consolidation de la paix.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parcours en dates (1 min 30). Avec notre Groupe de Travail et nos partenaires : juillet 2024, validation des indicateurs de la plateforme numérique de suivi de la participation des filles et des femmes, et formation de 20 mouvements politiques et OSC à l'alerte précoce ; août 2024, stratégie nationale de plaidoyer construite à partir de 11 plans locaux (FIFEP) ; 2024, réunion annuelle du Groupe de Travail à Accra ; octobre 2024, partenariat renforcé avec CARE International ; décembre 2024, ambassadeur de la 6e édition du festival Les 7 Jours du 7e Art ; janvier 2025, Mamou ; juin 2025, Marrakech ; aujourd'hui, Dakar.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Mamou (2 min). Une stratégie ne change rien si elle reste dans un bureau. Du 16 au 20 janvier 2025, nos équipes l'ont portée jusqu'aux communautés : radio interactive de 2 heures en direct ; table ronde de 30 femmes leaders, jeunes et OSC sur les obstacles à la participation des femmes ; dialogue communautaire de 50 personnes avec les leaders religieux sur les résolutions 1325 et 2250 et les MGF ; soirée culturelle avec théâtre en langue locale devant plus de 100 personnes ; deux espaces de dialogue intergénérationnel. Plus de 180 personnes réunies.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reconnaissance internationale (1 min 30, avec la diapositive suivante). Les 19 et 20 juin 2025, à Marrakech, premier Youth Empowerment Summit – YES Africa, co-organisé par la Fondation Jadara et l'Union Panafricaine de la Jeunesse : plus de 1 000 jeunes leaders, 118 ONG, 43 pays. J'y ai été distingué Champion de la jeunesse africaine sur le droit des jeunes et leur implication dans les instances de prise de décision. À Somone, nous avons demandé une participation significative des jeunes dans les instances de décision : ce combat est entendu à l'échelle du continent. Mais un titre ne suffit pas : ce qui compte, c'est que les jeunes, et en particulier les jeunes femmes, siègent réellement là où les décisions se prennent. Ce titre appartient à nos équipes, aux femmes leaders de Mamou, aux leaders religieux et aux jeunes.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J'y ai aussi pris la parole comme intervenant de la conférence sur la résilience climatique, l'agriculture et l'agroalimentaire pour la jeunesse africaine, aux côtés d'expert·es du Malawi, du Maroc et du Bénin, en tant que leader de l'agroécologie et de l'autonomisation des jeunes. Quand la terre s'épuise et que les récoltes manquent, les tensions montent, et ce sont souvent les femmes et les jeunes qui en paient le prix. La sécurité alimentaire fait partie de la paix.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culture au service de la paix (1 min 30). J'ai été ambassadeur du festival Les 7 Jours du 7e Art depuis sa 6e édition, en décembre 2024. Chaque année à Conakry, ce festival fait vivre le cinéma guinéen et ouvre aux jeunes cinéastes des occasions de se former, de diffuser leurs films et de coproduire. Pourquoi un défenseur de la paix s'engage-t-il dans un festival de cinéma ? Parce qu'à Mamou, une pièce de théâtre en langue locale a touché plus de monde qu'un long discours. Le cinéma, c'est la même force, avec une portée plus grande. Comme ambassadeur, avec nos équipes, nous avons noué des partenariats avec des médias internationaux comme TV5 Monde et Africa 24 et avec des personnalités africaines ; élaboré un plan d'action sur cinq ans ; fait former l'équipe de coordination par un spécialiste ; et hébergé l'équipe de gestion du festival dans les locaux de Guinée Impact, de la 6e édition à aujourd'hui. Notre rôle de société civile : donner aux jeunes créateurs les moyens de durer.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que nous avons appris (1 min) et ce qui nous freine (30 s). Les résistances se lèvent par le dialogue, avec les leaders religieux. La culture est un outil de plaidoyer. Les générations ont besoin l'une de l'autre. Nos défis : la mobilisation des participant·es, la logistique, la dépendance aux financements par projet, et la mesure du changement réel dans les attitudes et les comportements.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Nos propositions (1 min). 1. Reproduire le modèle cinq formats dans la campagne régionale décidée à Somone. 2. Associer les leaders religieux et communautaires aux campagnes sur les VBG et les MGF. 3. Construire ensemble des indicateurs communs du changement d'attitude, en s'appuyant sur ceux déjà validés en Guinée. 4. Demander aux partenaires, dont ONU Femmes, des financements pluriannuels. 5. Organiser des ciné-débats avec les festivals de la région. 6. Relier notre réseau aux réseaux d'autonomisation des jeunes comme YES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(30 s). À Somone, nous avons dit que la politique est façonnée par celles et ceux qui s'engagent. Depuis, à Mamou, à Marrakech et sur les écrans de Conakry, nous avons appris que l'engagement finit toujours par être vu, et que l'art aide à le faire entendre. Nos voix, notre paix : continuons à les porter ensemble, jusqu'au dernier village. Je vous remercie.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image" Target="../media/image-6-3.jp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p:bgPr>
    </p:bg>
    <p:spTree>
      <p:nvGrpSpPr>
        <p:cNvPr id="1" name=""/>
        <p:cNvGrpSpPr/>
        <p:nvPr/>
      </p:nvGrpSpPr>
      <p:grpSpPr>
        <a:xfrm>
          <a:off x="0" y="0"/>
          <a:ext cx="0" cy="0"/>
          <a:chOff x="0" y="0"/>
          <a:chExt cx="0" cy="0"/>
        </a:xfrm>
      </p:grpSpPr>
      <p:sp>
        <p:nvSpPr>
          <p:cNvPr id="2" name="Shape 0"/>
          <p:cNvSpPr/>
          <p:nvPr/>
        </p:nvSpPr>
        <p:spPr>
          <a:xfrm>
            <a:off x="9692640" y="-1463040"/>
            <a:ext cx="4023360" cy="4023360"/>
          </a:xfrm>
          <a:prstGeom prst="ellipse">
            <a:avLst/>
          </a:prstGeom>
          <a:solidFill>
            <a:srgbClr val="2D6A4F"/>
          </a:solidFill>
          <a:ln w="12700">
            <a:solidFill>
              <a:srgbClr val="2D6A4F"/>
            </a:solidFill>
            <a:prstDash val="solid"/>
          </a:ln>
        </p:spPr>
      </p:sp>
      <p:sp>
        <p:nvSpPr>
          <p:cNvPr id="3" name="Shape 1"/>
          <p:cNvSpPr/>
          <p:nvPr/>
        </p:nvSpPr>
        <p:spPr>
          <a:xfrm>
            <a:off x="-1188720" y="4754880"/>
            <a:ext cx="2926080" cy="2926080"/>
          </a:xfrm>
          <a:prstGeom prst="ellipse">
            <a:avLst/>
          </a:prstGeom>
          <a:solidFill>
            <a:srgbClr val="BC6C25">
              <a:alpha val="30000"/>
            </a:srgbClr>
          </a:solidFill>
          <a:ln w="12700">
            <a:solidFill>
              <a:srgbClr val="BC6C25">
                <a:alpha val="30000"/>
              </a:srgbClr>
            </a:solidFill>
            <a:prstDash val="solid"/>
          </a:ln>
        </p:spPr>
      </p:sp>
      <p:sp>
        <p:nvSpPr>
          <p:cNvPr id="4" name="Text 2"/>
          <p:cNvSpPr txBox="1"/>
          <p:nvPr/>
        </p:nvSpPr>
        <p:spPr>
          <a:xfrm>
            <a:off x="822960" y="1188720"/>
            <a:ext cx="8229600" cy="365760"/>
          </a:xfrm>
          <a:prstGeom prst="rect">
            <a:avLst/>
          </a:prstGeom>
          <a:noFill/>
          <a:ln/>
        </p:spPr>
        <p:txBody>
          <a:bodyPr wrap="square" lIns="0" tIns="0" rIns="0" bIns="0" rtlCol="0" anchor="ctr"/>
          <a:lstStyle/>
          <a:p>
            <a:pPr indent="0" marL="0">
              <a:buNone/>
            </a:pPr>
            <a:r>
              <a:rPr lang="en-US" sz="1600" b="1" spc="100" kern="0" dirty="0">
                <a:solidFill>
                  <a:srgbClr val="D4A373"/>
                </a:solidFill>
                <a:latin typeface="Calibri" pitchFamily="34" charset="0"/>
                <a:ea typeface="Calibri" pitchFamily="34" charset="-122"/>
                <a:cs typeface="Calibri" pitchFamily="34" charset="-120"/>
              </a:rPr>
              <a:t>Forum Régional des Jeunes Féministes · 2ᵉ édition</a:t>
            </a:r>
            <a:endParaRPr lang="en-US" sz="1600" dirty="0"/>
          </a:p>
        </p:txBody>
      </p:sp>
      <p:sp>
        <p:nvSpPr>
          <p:cNvPr id="5" name="Text 3"/>
          <p:cNvSpPr txBox="1"/>
          <p:nvPr/>
        </p:nvSpPr>
        <p:spPr>
          <a:xfrm>
            <a:off x="822960" y="1737360"/>
            <a:ext cx="9144000" cy="10972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De Somone à Dakar</a:t>
            </a:r>
            <a:endParaRPr lang="en-US" sz="5400" dirty="0"/>
          </a:p>
        </p:txBody>
      </p:sp>
      <p:sp>
        <p:nvSpPr>
          <p:cNvPr id="6" name="Text 4"/>
          <p:cNvSpPr txBox="1"/>
          <p:nvPr/>
        </p:nvSpPr>
        <p:spPr>
          <a:xfrm>
            <a:off x="822960" y="2880360"/>
            <a:ext cx="8686800" cy="822960"/>
          </a:xfrm>
          <a:prstGeom prst="rect">
            <a:avLst/>
          </a:prstGeom>
          <a:noFill/>
          <a:ln/>
        </p:spPr>
        <p:txBody>
          <a:bodyPr wrap="square" lIns="0" tIns="0" rIns="0" bIns="0" rtlCol="0" anchor="ctr"/>
          <a:lstStyle/>
          <a:p>
            <a:pPr indent="0" marL="0">
              <a:buNone/>
            </a:pPr>
            <a:r>
              <a:rPr lang="en-US" sz="2200" i="1" dirty="0">
                <a:solidFill>
                  <a:srgbClr val="D4A373"/>
                </a:solidFill>
                <a:latin typeface="Calibri" pitchFamily="34" charset="0"/>
                <a:ea typeface="Calibri" pitchFamily="34" charset="-122"/>
                <a:cs typeface="Calibri" pitchFamily="34" charset="-120"/>
              </a:rPr>
              <a:t>Le parcours de Guinée Impact pour la paix et la participation des femmes et des jeunes</a:t>
            </a:r>
            <a:endParaRPr lang="en-US" sz="2200" dirty="0"/>
          </a:p>
        </p:txBody>
      </p:sp>
      <p:sp>
        <p:nvSpPr>
          <p:cNvPr id="7" name="Text 5"/>
          <p:cNvSpPr txBox="1"/>
          <p:nvPr/>
        </p:nvSpPr>
        <p:spPr>
          <a:xfrm>
            <a:off x="822960" y="4114800"/>
            <a:ext cx="7315200" cy="8229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Mamadou Adama BARRY</a:t>
            </a:r>
            <a:endParaRPr lang="en-US" sz="2000" dirty="0"/>
          </a:p>
          <a:p>
            <a:pPr indent="0" marL="0">
              <a:buNone/>
            </a:pPr>
            <a:r>
              <a:rPr lang="en-US" sz="1600" dirty="0">
                <a:solidFill>
                  <a:srgbClr val="FFFFFF"/>
                </a:solidFill>
                <a:latin typeface="Calibri" pitchFamily="34" charset="0"/>
                <a:ea typeface="Calibri" pitchFamily="34" charset="-122"/>
                <a:cs typeface="Calibri" pitchFamily="34" charset="-120"/>
              </a:rPr>
              <a:t>Président de Guinée Impact</a:t>
            </a:r>
            <a:endParaRPr lang="en-US" sz="2000" dirty="0"/>
          </a:p>
        </p:txBody>
      </p:sp>
      <p:sp>
        <p:nvSpPr>
          <p:cNvPr id="8" name="Text 6"/>
          <p:cNvSpPr txBox="1"/>
          <p:nvPr/>
        </p:nvSpPr>
        <p:spPr>
          <a:xfrm>
            <a:off x="822960" y="5943600"/>
            <a:ext cx="73152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Dakar, du 29 septembre au 2 octobre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indent="0" marL="0">
              <a:buNone/>
            </a:pPr>
            <a:r>
              <a:rPr lang="en-US" sz="3600" b="1" dirty="0">
                <a:solidFill>
                  <a:srgbClr val="1B4332"/>
                </a:solidFill>
                <a:latin typeface="Cambria" pitchFamily="34" charset="0"/>
                <a:ea typeface="Cambria" pitchFamily="34" charset="-122"/>
                <a:cs typeface="Cambria" pitchFamily="34" charset="-120"/>
              </a:rPr>
              <a:t>Qui sommes-nous</a:t>
            </a:r>
            <a:endParaRPr lang="en-US" sz="3600" dirty="0"/>
          </a:p>
        </p:txBody>
      </p:sp>
      <p:sp>
        <p:nvSpPr>
          <p:cNvPr id="3" name="Text 1"/>
          <p:cNvSpPr txBox="1"/>
          <p:nvPr/>
        </p:nvSpPr>
        <p:spPr>
          <a:xfrm>
            <a:off x="640080" y="1463040"/>
            <a:ext cx="5303520" cy="4389120"/>
          </a:xfrm>
          <a:prstGeom prst="rect">
            <a:avLst/>
          </a:prstGeom>
          <a:noFill/>
          <a:ln/>
        </p:spPr>
        <p:txBody>
          <a:bodyPr wrap="square" lIns="0" tIns="0" rIns="0" bIns="0" rtlCol="0" anchor="t"/>
          <a:lstStyle/>
          <a:p>
            <a:pPr indent="0" marL="0">
              <a:spcAft>
                <a:spcPts val="1200"/>
              </a:spcAft>
              <a:buNone/>
            </a:pPr>
            <a:r>
              <a:rPr lang="en-US" sz="1600" dirty="0">
                <a:solidFill>
                  <a:srgbClr val="2B2B2B"/>
                </a:solidFill>
                <a:latin typeface="Calibri" pitchFamily="34" charset="0"/>
                <a:ea typeface="Calibri" pitchFamily="34" charset="-122"/>
                <a:cs typeface="Calibri" pitchFamily="34" charset="-120"/>
              </a:rPr>
              <a:t>Guinée Impact est une plateforme de la société civile guinéenne, basée à Conakry.</a:t>
            </a:r>
            <a:endParaRPr lang="en-US" sz="1600" dirty="0"/>
          </a:p>
          <a:p>
            <a:pPr indent="0" marL="0">
              <a:spcAft>
                <a:spcPts val="1200"/>
              </a:spcAft>
              <a:buNone/>
            </a:pPr>
            <a:r>
              <a:rPr lang="en-US" sz="1600" dirty="0">
                <a:solidFill>
                  <a:srgbClr val="2B2B2B"/>
                </a:solidFill>
                <a:latin typeface="Calibri" pitchFamily="34" charset="0"/>
                <a:ea typeface="Calibri" pitchFamily="34" charset="-122"/>
                <a:cs typeface="Calibri" pitchFamily="34" charset="-120"/>
              </a:rPr>
              <a:t>Notre mission : promouvoir une gouvernance responsable, renforcer la participation citoyenne et accompagner les initiatives qui favorisent la paix, l’inclusion sociale, le leadership et l’autonomisation des jeunes et des femmes.</a:t>
            </a:r>
            <a:endParaRPr lang="en-US" sz="1600" dirty="0"/>
          </a:p>
          <a:p>
            <a:pPr indent="0" marL="0">
              <a:buNone/>
            </a:pPr>
            <a:r>
              <a:rPr lang="en-US" sz="1600" b="1" dirty="0">
                <a:solidFill>
                  <a:srgbClr val="1B4332"/>
                </a:solidFill>
                <a:latin typeface="Calibri" pitchFamily="34" charset="0"/>
                <a:ea typeface="Calibri" pitchFamily="34" charset="-122"/>
                <a:cs typeface="Calibri" pitchFamily="34" charset="-120"/>
              </a:rPr>
              <a:t>Membre du Groupe de Travail Femmes, Jeunes, Paix et Sécurité – Guinée · Partenaire du projet FIFEP (Fonds des Nations Unies pour la consolidation de la paix)</a:t>
            </a:r>
            <a:endParaRPr lang="en-US" sz="1600" dirty="0"/>
          </a:p>
        </p:txBody>
      </p:sp>
      <p:sp>
        <p:nvSpPr>
          <p:cNvPr id="4" name="Shape 2"/>
          <p:cNvSpPr/>
          <p:nvPr/>
        </p:nvSpPr>
        <p:spPr>
          <a:xfrm>
            <a:off x="6492240" y="1371600"/>
            <a:ext cx="5029200" cy="4754880"/>
          </a:xfrm>
          <a:prstGeom prst="roundRect">
            <a:avLst>
              <a:gd name="adj" fmla="val 1923"/>
            </a:avLst>
          </a:prstGeom>
          <a:solidFill>
            <a:srgbClr val="F7F5F1"/>
          </a:solidFill>
          <a:ln w="12700">
            <a:solidFill>
              <a:srgbClr val="F7F5F1"/>
            </a:solidFill>
            <a:prstDash val="solid"/>
          </a:ln>
        </p:spPr>
      </p:sp>
      <p:sp>
        <p:nvSpPr>
          <p:cNvPr id="5" name="Shape 3"/>
          <p:cNvSpPr/>
          <p:nvPr/>
        </p:nvSpPr>
        <p:spPr>
          <a:xfrm>
            <a:off x="6766560" y="1645920"/>
            <a:ext cx="548640" cy="548640"/>
          </a:xfrm>
          <a:prstGeom prst="ellipse">
            <a:avLst/>
          </a:prstGeom>
          <a:solidFill>
            <a:srgbClr val="1B4332"/>
          </a:solidFill>
          <a:ln w="12700">
            <a:solidFill>
              <a:srgbClr val="1B4332"/>
            </a:solidFill>
            <a:prstDash val="solid"/>
          </a:ln>
        </p:spPr>
      </p:sp>
      <p:pic>
        <p:nvPicPr>
          <p:cNvPr id="6" name="Image 0" descr="preencoded.png">    </p:cNvPr>
          <p:cNvPicPr>
            <a:picLocks noChangeAspect="1"/>
          </p:cNvPicPr>
          <p:nvPr/>
        </p:nvPicPr>
        <p:blipFill>
          <a:blip r:embed="rId1"/>
          <a:stretch>
            <a:fillRect/>
          </a:stretch>
        </p:blipFill>
        <p:spPr>
          <a:xfrm>
            <a:off x="6903720" y="1783080"/>
            <a:ext cx="274320" cy="274320"/>
          </a:xfrm>
          <a:prstGeom prst="rect">
            <a:avLst/>
          </a:prstGeom>
        </p:spPr>
      </p:pic>
      <p:sp>
        <p:nvSpPr>
          <p:cNvPr id="7" name="Text 4"/>
          <p:cNvSpPr txBox="1"/>
          <p:nvPr/>
        </p:nvSpPr>
        <p:spPr>
          <a:xfrm>
            <a:off x="7498080" y="1645920"/>
            <a:ext cx="3840480" cy="548640"/>
          </a:xfrm>
          <a:prstGeom prst="rect">
            <a:avLst/>
          </a:prstGeom>
          <a:noFill/>
          <a:ln/>
        </p:spPr>
        <p:txBody>
          <a:bodyPr wrap="square" lIns="0" tIns="0" rIns="0" bIns="0" rtlCol="0" anchor="ctr"/>
          <a:lstStyle/>
          <a:p>
            <a:pPr indent="0" marL="0">
              <a:buNone/>
            </a:pPr>
            <a:r>
              <a:rPr lang="en-US" sz="1500" b="1" dirty="0">
                <a:solidFill>
                  <a:srgbClr val="2B2B2B"/>
                </a:solidFill>
                <a:latin typeface="Calibri" pitchFamily="34" charset="0"/>
                <a:ea typeface="Calibri" pitchFamily="34" charset="-122"/>
                <a:cs typeface="Calibri" pitchFamily="34" charset="-120"/>
              </a:rPr>
              <a:t>Gouvernance, démocratie et participation citoyenne</a:t>
            </a:r>
            <a:endParaRPr lang="en-US" sz="1500" dirty="0"/>
          </a:p>
        </p:txBody>
      </p:sp>
      <p:sp>
        <p:nvSpPr>
          <p:cNvPr id="8" name="Shape 5"/>
          <p:cNvSpPr/>
          <p:nvPr/>
        </p:nvSpPr>
        <p:spPr>
          <a:xfrm>
            <a:off x="6766560" y="2514600"/>
            <a:ext cx="548640" cy="548640"/>
          </a:xfrm>
          <a:prstGeom prst="ellipse">
            <a:avLst/>
          </a:prstGeom>
          <a:solidFill>
            <a:srgbClr val="1B4332"/>
          </a:solidFill>
          <a:ln w="12700">
            <a:solidFill>
              <a:srgbClr val="1B4332"/>
            </a:solidFill>
            <a:prstDash val="solid"/>
          </a:ln>
        </p:spPr>
      </p:sp>
      <p:pic>
        <p:nvPicPr>
          <p:cNvPr id="9" name="Image 1" descr="preencoded.png">    </p:cNvPr>
          <p:cNvPicPr>
            <a:picLocks noChangeAspect="1"/>
          </p:cNvPicPr>
          <p:nvPr/>
        </p:nvPicPr>
        <p:blipFill>
          <a:blip r:embed="rId2"/>
          <a:stretch>
            <a:fillRect/>
          </a:stretch>
        </p:blipFill>
        <p:spPr>
          <a:xfrm>
            <a:off x="6903720" y="2651760"/>
            <a:ext cx="274320" cy="274320"/>
          </a:xfrm>
          <a:prstGeom prst="rect">
            <a:avLst/>
          </a:prstGeom>
        </p:spPr>
      </p:pic>
      <p:sp>
        <p:nvSpPr>
          <p:cNvPr id="10" name="Text 6"/>
          <p:cNvSpPr txBox="1"/>
          <p:nvPr/>
        </p:nvSpPr>
        <p:spPr>
          <a:xfrm>
            <a:off x="7498080" y="2514600"/>
            <a:ext cx="3840480" cy="548640"/>
          </a:xfrm>
          <a:prstGeom prst="rect">
            <a:avLst/>
          </a:prstGeom>
          <a:noFill/>
          <a:ln/>
        </p:spPr>
        <p:txBody>
          <a:bodyPr wrap="square" lIns="0" tIns="0" rIns="0" bIns="0" rtlCol="0" anchor="ctr"/>
          <a:lstStyle/>
          <a:p>
            <a:pPr indent="0" marL="0">
              <a:buNone/>
            </a:pPr>
            <a:r>
              <a:rPr lang="en-US" sz="1500" b="1" dirty="0">
                <a:solidFill>
                  <a:srgbClr val="2B2B2B"/>
                </a:solidFill>
                <a:latin typeface="Calibri" pitchFamily="34" charset="0"/>
                <a:ea typeface="Calibri" pitchFamily="34" charset="-122"/>
                <a:cs typeface="Calibri" pitchFamily="34" charset="-120"/>
              </a:rPr>
              <a:t>Paix, cohésion sociale et prévention des conflits</a:t>
            </a:r>
            <a:endParaRPr lang="en-US" sz="1500" dirty="0"/>
          </a:p>
        </p:txBody>
      </p:sp>
      <p:sp>
        <p:nvSpPr>
          <p:cNvPr id="11" name="Shape 7"/>
          <p:cNvSpPr/>
          <p:nvPr/>
        </p:nvSpPr>
        <p:spPr>
          <a:xfrm>
            <a:off x="6766560" y="3383280"/>
            <a:ext cx="548640" cy="548640"/>
          </a:xfrm>
          <a:prstGeom prst="ellipse">
            <a:avLst/>
          </a:prstGeom>
          <a:solidFill>
            <a:srgbClr val="1B4332"/>
          </a:solidFill>
          <a:ln w="12700">
            <a:solidFill>
              <a:srgbClr val="1B4332"/>
            </a:solidFill>
            <a:prstDash val="solid"/>
          </a:ln>
        </p:spPr>
      </p:sp>
      <p:pic>
        <p:nvPicPr>
          <p:cNvPr id="12" name="Image 2" descr="preencoded.png">    </p:cNvPr>
          <p:cNvPicPr>
            <a:picLocks noChangeAspect="1"/>
          </p:cNvPicPr>
          <p:nvPr/>
        </p:nvPicPr>
        <p:blipFill>
          <a:blip r:embed="rId3"/>
          <a:stretch>
            <a:fillRect/>
          </a:stretch>
        </p:blipFill>
        <p:spPr>
          <a:xfrm>
            <a:off x="6903720" y="3520440"/>
            <a:ext cx="274320" cy="274320"/>
          </a:xfrm>
          <a:prstGeom prst="rect">
            <a:avLst/>
          </a:prstGeom>
        </p:spPr>
      </p:pic>
      <p:sp>
        <p:nvSpPr>
          <p:cNvPr id="13" name="Text 8"/>
          <p:cNvSpPr txBox="1"/>
          <p:nvPr/>
        </p:nvSpPr>
        <p:spPr>
          <a:xfrm>
            <a:off x="7498080" y="3383280"/>
            <a:ext cx="3840480" cy="548640"/>
          </a:xfrm>
          <a:prstGeom prst="rect">
            <a:avLst/>
          </a:prstGeom>
          <a:noFill/>
          <a:ln/>
        </p:spPr>
        <p:txBody>
          <a:bodyPr wrap="square" lIns="0" tIns="0" rIns="0" bIns="0" rtlCol="0" anchor="ctr"/>
          <a:lstStyle/>
          <a:p>
            <a:pPr indent="0" marL="0">
              <a:buNone/>
            </a:pPr>
            <a:r>
              <a:rPr lang="en-US" sz="1500" b="1" dirty="0">
                <a:solidFill>
                  <a:srgbClr val="2B2B2B"/>
                </a:solidFill>
                <a:latin typeface="Calibri" pitchFamily="34" charset="0"/>
                <a:ea typeface="Calibri" pitchFamily="34" charset="-122"/>
                <a:cs typeface="Calibri" pitchFamily="34" charset="-120"/>
              </a:rPr>
              <a:t>Leadership et autonomisation des jeunes et des femmes</a:t>
            </a:r>
            <a:endParaRPr lang="en-US" sz="1500" dirty="0"/>
          </a:p>
        </p:txBody>
      </p:sp>
      <p:sp>
        <p:nvSpPr>
          <p:cNvPr id="14" name="Shape 9"/>
          <p:cNvSpPr/>
          <p:nvPr/>
        </p:nvSpPr>
        <p:spPr>
          <a:xfrm>
            <a:off x="6766560" y="4251960"/>
            <a:ext cx="548640" cy="548640"/>
          </a:xfrm>
          <a:prstGeom prst="ellipse">
            <a:avLst/>
          </a:prstGeom>
          <a:solidFill>
            <a:srgbClr val="1B4332"/>
          </a:solidFill>
          <a:ln w="12700">
            <a:solidFill>
              <a:srgbClr val="1B4332"/>
            </a:solidFill>
            <a:prstDash val="solid"/>
          </a:ln>
        </p:spPr>
      </p:sp>
      <p:pic>
        <p:nvPicPr>
          <p:cNvPr id="15" name="Image 3" descr="preencoded.png">    </p:cNvPr>
          <p:cNvPicPr>
            <a:picLocks noChangeAspect="1"/>
          </p:cNvPicPr>
          <p:nvPr/>
        </p:nvPicPr>
        <p:blipFill>
          <a:blip r:embed="rId4"/>
          <a:stretch>
            <a:fillRect/>
          </a:stretch>
        </p:blipFill>
        <p:spPr>
          <a:xfrm>
            <a:off x="6903720" y="4389120"/>
            <a:ext cx="274320" cy="274320"/>
          </a:xfrm>
          <a:prstGeom prst="rect">
            <a:avLst/>
          </a:prstGeom>
        </p:spPr>
      </p:pic>
      <p:sp>
        <p:nvSpPr>
          <p:cNvPr id="16" name="Text 10"/>
          <p:cNvSpPr txBox="1"/>
          <p:nvPr/>
        </p:nvSpPr>
        <p:spPr>
          <a:xfrm>
            <a:off x="7498080" y="4251960"/>
            <a:ext cx="3840480" cy="548640"/>
          </a:xfrm>
          <a:prstGeom prst="rect">
            <a:avLst/>
          </a:prstGeom>
          <a:noFill/>
          <a:ln/>
        </p:spPr>
        <p:txBody>
          <a:bodyPr wrap="square" lIns="0" tIns="0" rIns="0" bIns="0" rtlCol="0" anchor="ctr"/>
          <a:lstStyle/>
          <a:p>
            <a:pPr indent="0" marL="0">
              <a:buNone/>
            </a:pPr>
            <a:r>
              <a:rPr lang="en-US" sz="1500" b="1" dirty="0">
                <a:solidFill>
                  <a:srgbClr val="2B2B2B"/>
                </a:solidFill>
                <a:latin typeface="Calibri" pitchFamily="34" charset="0"/>
                <a:ea typeface="Calibri" pitchFamily="34" charset="-122"/>
                <a:cs typeface="Calibri" pitchFamily="34" charset="-120"/>
              </a:rPr>
              <a:t>Entrepreneuriat, innovation et employabilité</a:t>
            </a:r>
            <a:endParaRPr lang="en-US" sz="1500" dirty="0"/>
          </a:p>
        </p:txBody>
      </p:sp>
      <p:sp>
        <p:nvSpPr>
          <p:cNvPr id="17" name="Shape 11"/>
          <p:cNvSpPr/>
          <p:nvPr/>
        </p:nvSpPr>
        <p:spPr>
          <a:xfrm>
            <a:off x="6766560" y="5120640"/>
            <a:ext cx="548640" cy="548640"/>
          </a:xfrm>
          <a:prstGeom prst="ellipse">
            <a:avLst/>
          </a:prstGeom>
          <a:solidFill>
            <a:srgbClr val="1B4332"/>
          </a:solidFill>
          <a:ln w="12700">
            <a:solidFill>
              <a:srgbClr val="1B4332"/>
            </a:solidFill>
            <a:prstDash val="solid"/>
          </a:ln>
        </p:spPr>
      </p:sp>
      <p:pic>
        <p:nvPicPr>
          <p:cNvPr id="18" name="Image 4" descr="preencoded.png">    </p:cNvPr>
          <p:cNvPicPr>
            <a:picLocks noChangeAspect="1"/>
          </p:cNvPicPr>
          <p:nvPr/>
        </p:nvPicPr>
        <p:blipFill>
          <a:blip r:embed="rId5"/>
          <a:stretch>
            <a:fillRect/>
          </a:stretch>
        </p:blipFill>
        <p:spPr>
          <a:xfrm>
            <a:off x="6903720" y="5257800"/>
            <a:ext cx="274320" cy="274320"/>
          </a:xfrm>
          <a:prstGeom prst="rect">
            <a:avLst/>
          </a:prstGeom>
        </p:spPr>
      </p:pic>
      <p:sp>
        <p:nvSpPr>
          <p:cNvPr id="19" name="Text 12"/>
          <p:cNvSpPr txBox="1"/>
          <p:nvPr/>
        </p:nvSpPr>
        <p:spPr>
          <a:xfrm>
            <a:off x="7498080" y="5120640"/>
            <a:ext cx="3840480" cy="548640"/>
          </a:xfrm>
          <a:prstGeom prst="rect">
            <a:avLst/>
          </a:prstGeom>
          <a:noFill/>
          <a:ln/>
        </p:spPr>
        <p:txBody>
          <a:bodyPr wrap="square" lIns="0" tIns="0" rIns="0" bIns="0" rtlCol="0" anchor="ctr"/>
          <a:lstStyle/>
          <a:p>
            <a:pPr indent="0" marL="0">
              <a:buNone/>
            </a:pPr>
            <a:r>
              <a:rPr lang="en-US" sz="1500" b="1" dirty="0">
                <a:solidFill>
                  <a:srgbClr val="2B2B2B"/>
                </a:solidFill>
                <a:latin typeface="Calibri" pitchFamily="34" charset="0"/>
                <a:ea typeface="Calibri" pitchFamily="34" charset="-122"/>
                <a:cs typeface="Calibri" pitchFamily="34" charset="-120"/>
              </a:rPr>
              <a:t>Développement local et territorial</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indent="0" marL="0">
              <a:buNone/>
            </a:pPr>
            <a:r>
              <a:rPr lang="en-US" sz="3600" b="1" dirty="0">
                <a:solidFill>
                  <a:srgbClr val="1B4332"/>
                </a:solidFill>
                <a:latin typeface="Cambria" pitchFamily="34" charset="0"/>
                <a:ea typeface="Cambria" pitchFamily="34" charset="-122"/>
                <a:cs typeface="Cambria" pitchFamily="34" charset="-120"/>
              </a:rPr>
              <a:t>Notre parcours en dates</a:t>
            </a:r>
            <a:endParaRPr lang="en-US" sz="3600" dirty="0"/>
          </a:p>
        </p:txBody>
      </p:sp>
      <p:sp>
        <p:nvSpPr>
          <p:cNvPr id="3" name="Shape 1"/>
          <p:cNvSpPr/>
          <p:nvPr/>
        </p:nvSpPr>
        <p:spPr>
          <a:xfrm>
            <a:off x="1417320" y="2514600"/>
            <a:ext cx="9326880" cy="0"/>
          </a:xfrm>
          <a:prstGeom prst="line">
            <a:avLst/>
          </a:prstGeom>
          <a:noFill/>
          <a:ln w="25400">
            <a:solidFill>
              <a:srgbClr val="D4A373"/>
            </a:solidFill>
            <a:prstDash val="solid"/>
          </a:ln>
        </p:spPr>
      </p:sp>
      <p:sp>
        <p:nvSpPr>
          <p:cNvPr id="4" name="Shape 2"/>
          <p:cNvSpPr/>
          <p:nvPr/>
        </p:nvSpPr>
        <p:spPr>
          <a:xfrm>
            <a:off x="1252728" y="2350008"/>
            <a:ext cx="329184" cy="329184"/>
          </a:xfrm>
          <a:prstGeom prst="ellipse">
            <a:avLst/>
          </a:prstGeom>
          <a:solidFill>
            <a:srgbClr val="1B4332"/>
          </a:solidFill>
          <a:ln w="25400">
            <a:solidFill>
              <a:srgbClr val="FFFFFF"/>
            </a:solidFill>
            <a:prstDash val="solid"/>
          </a:ln>
        </p:spPr>
      </p:sp>
      <p:sp>
        <p:nvSpPr>
          <p:cNvPr id="5" name="Text 3"/>
          <p:cNvSpPr txBox="1"/>
          <p:nvPr/>
        </p:nvSpPr>
        <p:spPr>
          <a:xfrm>
            <a:off x="685800" y="1737360"/>
            <a:ext cx="1463040" cy="365760"/>
          </a:xfrm>
          <a:prstGeom prst="rect">
            <a:avLst/>
          </a:prstGeom>
          <a:noFill/>
          <a:ln/>
        </p:spPr>
        <p:txBody>
          <a:bodyPr wrap="square" lIns="0" tIns="0" rIns="0" bIns="0" rtlCol="0" anchor="ctr"/>
          <a:lstStyle/>
          <a:p>
            <a:pPr algn="ctr" indent="0" marL="0">
              <a:buNone/>
            </a:pPr>
            <a:r>
              <a:rPr lang="en-US" sz="1500" b="1" dirty="0">
                <a:solidFill>
                  <a:srgbClr val="1B4332"/>
                </a:solidFill>
                <a:latin typeface="Calibri" pitchFamily="34" charset="0"/>
                <a:ea typeface="Calibri" pitchFamily="34" charset="-122"/>
                <a:cs typeface="Calibri" pitchFamily="34" charset="-120"/>
              </a:rPr>
              <a:t>Juil. 2024</a:t>
            </a:r>
            <a:endParaRPr lang="en-US" sz="1500" dirty="0"/>
          </a:p>
        </p:txBody>
      </p:sp>
      <p:sp>
        <p:nvSpPr>
          <p:cNvPr id="6" name="Text 4"/>
          <p:cNvSpPr txBox="1"/>
          <p:nvPr/>
        </p:nvSpPr>
        <p:spPr>
          <a:xfrm>
            <a:off x="713232" y="2926080"/>
            <a:ext cx="1408176" cy="1463040"/>
          </a:xfrm>
          <a:prstGeom prst="rect">
            <a:avLst/>
          </a:prstGeom>
          <a:noFill/>
          <a:ln/>
        </p:spPr>
        <p:txBody>
          <a:bodyPr wrap="square" lIns="0" tIns="0" rIns="0" bIns="0" rtlCol="0" anchor="t"/>
          <a:lstStyle/>
          <a:p>
            <a:pPr algn="ctr" indent="0" marL="0">
              <a:buNone/>
            </a:pPr>
            <a:r>
              <a:rPr lang="en-US" sz="1300" dirty="0">
                <a:solidFill>
                  <a:srgbClr val="2B2B2B"/>
                </a:solidFill>
                <a:latin typeface="Calibri" pitchFamily="34" charset="0"/>
                <a:ea typeface="Calibri" pitchFamily="34" charset="-122"/>
                <a:cs typeface="Calibri" pitchFamily="34" charset="-120"/>
              </a:rPr>
              <a:t>Indicateurs de suivi validés ; 20 organisations formées à l’alerte précoce</a:t>
            </a:r>
            <a:endParaRPr lang="en-US" sz="1300" dirty="0"/>
          </a:p>
        </p:txBody>
      </p:sp>
      <p:sp>
        <p:nvSpPr>
          <p:cNvPr id="7" name="Shape 5"/>
          <p:cNvSpPr/>
          <p:nvPr/>
        </p:nvSpPr>
        <p:spPr>
          <a:xfrm>
            <a:off x="2807208" y="2350008"/>
            <a:ext cx="329184" cy="329184"/>
          </a:xfrm>
          <a:prstGeom prst="ellipse">
            <a:avLst/>
          </a:prstGeom>
          <a:solidFill>
            <a:srgbClr val="1B4332"/>
          </a:solidFill>
          <a:ln w="25400">
            <a:solidFill>
              <a:srgbClr val="FFFFFF"/>
            </a:solidFill>
            <a:prstDash val="solid"/>
          </a:ln>
        </p:spPr>
      </p:sp>
      <p:sp>
        <p:nvSpPr>
          <p:cNvPr id="8" name="Text 6"/>
          <p:cNvSpPr txBox="1"/>
          <p:nvPr/>
        </p:nvSpPr>
        <p:spPr>
          <a:xfrm>
            <a:off x="2240280" y="1737360"/>
            <a:ext cx="1463040" cy="365760"/>
          </a:xfrm>
          <a:prstGeom prst="rect">
            <a:avLst/>
          </a:prstGeom>
          <a:noFill/>
          <a:ln/>
        </p:spPr>
        <p:txBody>
          <a:bodyPr wrap="square" lIns="0" tIns="0" rIns="0" bIns="0" rtlCol="0" anchor="ctr"/>
          <a:lstStyle/>
          <a:p>
            <a:pPr algn="ctr" indent="0" marL="0">
              <a:buNone/>
            </a:pPr>
            <a:r>
              <a:rPr lang="en-US" sz="1500" b="1" dirty="0">
                <a:solidFill>
                  <a:srgbClr val="1B4332"/>
                </a:solidFill>
                <a:latin typeface="Calibri" pitchFamily="34" charset="0"/>
                <a:ea typeface="Calibri" pitchFamily="34" charset="-122"/>
                <a:cs typeface="Calibri" pitchFamily="34" charset="-120"/>
              </a:rPr>
              <a:t>Août 2024</a:t>
            </a:r>
            <a:endParaRPr lang="en-US" sz="1500" dirty="0"/>
          </a:p>
        </p:txBody>
      </p:sp>
      <p:sp>
        <p:nvSpPr>
          <p:cNvPr id="9" name="Text 7"/>
          <p:cNvSpPr txBox="1"/>
          <p:nvPr/>
        </p:nvSpPr>
        <p:spPr>
          <a:xfrm>
            <a:off x="2267712" y="2926080"/>
            <a:ext cx="1408176" cy="1463040"/>
          </a:xfrm>
          <a:prstGeom prst="rect">
            <a:avLst/>
          </a:prstGeom>
          <a:noFill/>
          <a:ln/>
        </p:spPr>
        <p:txBody>
          <a:bodyPr wrap="square" lIns="0" tIns="0" rIns="0" bIns="0" rtlCol="0" anchor="t"/>
          <a:lstStyle/>
          <a:p>
            <a:pPr algn="ctr" indent="0" marL="0">
              <a:buNone/>
            </a:pPr>
            <a:r>
              <a:rPr lang="en-US" sz="1300" dirty="0">
                <a:solidFill>
                  <a:srgbClr val="2B2B2B"/>
                </a:solidFill>
                <a:latin typeface="Calibri" pitchFamily="34" charset="0"/>
                <a:ea typeface="Calibri" pitchFamily="34" charset="-122"/>
                <a:cs typeface="Calibri" pitchFamily="34" charset="-120"/>
              </a:rPr>
              <a:t>Stratégie nationale de plaidoyer, issue de 11 plans locaux</a:t>
            </a:r>
            <a:endParaRPr lang="en-US" sz="1300" dirty="0"/>
          </a:p>
        </p:txBody>
      </p:sp>
      <p:sp>
        <p:nvSpPr>
          <p:cNvPr id="10" name="Shape 8"/>
          <p:cNvSpPr/>
          <p:nvPr/>
        </p:nvSpPr>
        <p:spPr>
          <a:xfrm>
            <a:off x="4361688" y="2350008"/>
            <a:ext cx="329184" cy="329184"/>
          </a:xfrm>
          <a:prstGeom prst="ellipse">
            <a:avLst/>
          </a:prstGeom>
          <a:solidFill>
            <a:srgbClr val="1B4332"/>
          </a:solidFill>
          <a:ln w="25400">
            <a:solidFill>
              <a:srgbClr val="FFFFFF"/>
            </a:solidFill>
            <a:prstDash val="solid"/>
          </a:ln>
        </p:spPr>
      </p:sp>
      <p:sp>
        <p:nvSpPr>
          <p:cNvPr id="11" name="Text 9"/>
          <p:cNvSpPr txBox="1"/>
          <p:nvPr/>
        </p:nvSpPr>
        <p:spPr>
          <a:xfrm>
            <a:off x="3794760" y="1737360"/>
            <a:ext cx="1463040" cy="365760"/>
          </a:xfrm>
          <a:prstGeom prst="rect">
            <a:avLst/>
          </a:prstGeom>
          <a:noFill/>
          <a:ln/>
        </p:spPr>
        <p:txBody>
          <a:bodyPr wrap="square" lIns="0" tIns="0" rIns="0" bIns="0" rtlCol="0" anchor="ctr"/>
          <a:lstStyle/>
          <a:p>
            <a:pPr algn="ctr" indent="0" marL="0">
              <a:buNone/>
            </a:pPr>
            <a:r>
              <a:rPr lang="en-US" sz="1500" b="1" dirty="0">
                <a:solidFill>
                  <a:srgbClr val="1B4332"/>
                </a:solidFill>
                <a:latin typeface="Calibri" pitchFamily="34" charset="0"/>
                <a:ea typeface="Calibri" pitchFamily="34" charset="-122"/>
                <a:cs typeface="Calibri" pitchFamily="34" charset="-120"/>
              </a:rPr>
              <a:t>2024</a:t>
            </a:r>
            <a:endParaRPr lang="en-US" sz="1500" dirty="0"/>
          </a:p>
        </p:txBody>
      </p:sp>
      <p:sp>
        <p:nvSpPr>
          <p:cNvPr id="12" name="Text 10"/>
          <p:cNvSpPr txBox="1"/>
          <p:nvPr/>
        </p:nvSpPr>
        <p:spPr>
          <a:xfrm>
            <a:off x="3822192" y="2926080"/>
            <a:ext cx="1408176" cy="1463040"/>
          </a:xfrm>
          <a:prstGeom prst="rect">
            <a:avLst/>
          </a:prstGeom>
          <a:noFill/>
          <a:ln/>
        </p:spPr>
        <p:txBody>
          <a:bodyPr wrap="square" lIns="0" tIns="0" rIns="0" bIns="0" rtlCol="0" anchor="t"/>
          <a:lstStyle/>
          <a:p>
            <a:pPr algn="ctr" indent="0" marL="0">
              <a:buNone/>
            </a:pPr>
            <a:r>
              <a:rPr lang="en-US" sz="1300" dirty="0">
                <a:solidFill>
                  <a:srgbClr val="2B2B2B"/>
                </a:solidFill>
                <a:latin typeface="Calibri" pitchFamily="34" charset="0"/>
                <a:ea typeface="Calibri" pitchFamily="34" charset="-122"/>
                <a:cs typeface="Calibri" pitchFamily="34" charset="-120"/>
              </a:rPr>
              <a:t>Partage d’expérience à la réunion annuelle du GT à Accra</a:t>
            </a:r>
            <a:endParaRPr lang="en-US" sz="1300" dirty="0"/>
          </a:p>
        </p:txBody>
      </p:sp>
      <p:sp>
        <p:nvSpPr>
          <p:cNvPr id="13" name="Shape 11"/>
          <p:cNvSpPr/>
          <p:nvPr/>
        </p:nvSpPr>
        <p:spPr>
          <a:xfrm>
            <a:off x="5916168" y="2350008"/>
            <a:ext cx="329184" cy="329184"/>
          </a:xfrm>
          <a:prstGeom prst="ellipse">
            <a:avLst/>
          </a:prstGeom>
          <a:solidFill>
            <a:srgbClr val="1B4332"/>
          </a:solidFill>
          <a:ln w="25400">
            <a:solidFill>
              <a:srgbClr val="FFFFFF"/>
            </a:solidFill>
            <a:prstDash val="solid"/>
          </a:ln>
        </p:spPr>
      </p:sp>
      <p:sp>
        <p:nvSpPr>
          <p:cNvPr id="14" name="Text 12"/>
          <p:cNvSpPr txBox="1"/>
          <p:nvPr/>
        </p:nvSpPr>
        <p:spPr>
          <a:xfrm>
            <a:off x="5349240" y="1737360"/>
            <a:ext cx="1463040" cy="365760"/>
          </a:xfrm>
          <a:prstGeom prst="rect">
            <a:avLst/>
          </a:prstGeom>
          <a:noFill/>
          <a:ln/>
        </p:spPr>
        <p:txBody>
          <a:bodyPr wrap="square" lIns="0" tIns="0" rIns="0" bIns="0" rtlCol="0" anchor="ctr"/>
          <a:lstStyle/>
          <a:p>
            <a:pPr algn="ctr" indent="0" marL="0">
              <a:buNone/>
            </a:pPr>
            <a:r>
              <a:rPr lang="en-US" sz="1500" b="1" dirty="0">
                <a:solidFill>
                  <a:srgbClr val="1B4332"/>
                </a:solidFill>
                <a:latin typeface="Calibri" pitchFamily="34" charset="0"/>
                <a:ea typeface="Calibri" pitchFamily="34" charset="-122"/>
                <a:cs typeface="Calibri" pitchFamily="34" charset="-120"/>
              </a:rPr>
              <a:t>Oct. 2024</a:t>
            </a:r>
            <a:endParaRPr lang="en-US" sz="1500" dirty="0"/>
          </a:p>
        </p:txBody>
      </p:sp>
      <p:sp>
        <p:nvSpPr>
          <p:cNvPr id="15" name="Text 13"/>
          <p:cNvSpPr txBox="1"/>
          <p:nvPr/>
        </p:nvSpPr>
        <p:spPr>
          <a:xfrm>
            <a:off x="5376672" y="2926080"/>
            <a:ext cx="1408176" cy="1463040"/>
          </a:xfrm>
          <a:prstGeom prst="rect">
            <a:avLst/>
          </a:prstGeom>
          <a:noFill/>
          <a:ln/>
        </p:spPr>
        <p:txBody>
          <a:bodyPr wrap="square" lIns="0" tIns="0" rIns="0" bIns="0" rtlCol="0" anchor="t"/>
          <a:lstStyle/>
          <a:p>
            <a:pPr algn="ctr" indent="0" marL="0">
              <a:buNone/>
            </a:pPr>
            <a:r>
              <a:rPr lang="en-US" sz="1300" dirty="0">
                <a:solidFill>
                  <a:srgbClr val="2B2B2B"/>
                </a:solidFill>
                <a:latin typeface="Calibri" pitchFamily="34" charset="0"/>
                <a:ea typeface="Calibri" pitchFamily="34" charset="-122"/>
                <a:cs typeface="Calibri" pitchFamily="34" charset="-120"/>
              </a:rPr>
              <a:t>Partenariat renforcé avec CARE International</a:t>
            </a:r>
            <a:endParaRPr lang="en-US" sz="1300" dirty="0"/>
          </a:p>
        </p:txBody>
      </p:sp>
      <p:sp>
        <p:nvSpPr>
          <p:cNvPr id="16" name="Shape 14"/>
          <p:cNvSpPr/>
          <p:nvPr/>
        </p:nvSpPr>
        <p:spPr>
          <a:xfrm>
            <a:off x="7470648" y="2350008"/>
            <a:ext cx="329184" cy="329184"/>
          </a:xfrm>
          <a:prstGeom prst="ellipse">
            <a:avLst/>
          </a:prstGeom>
          <a:solidFill>
            <a:srgbClr val="1B4332"/>
          </a:solidFill>
          <a:ln w="25400">
            <a:solidFill>
              <a:srgbClr val="FFFFFF"/>
            </a:solidFill>
            <a:prstDash val="solid"/>
          </a:ln>
        </p:spPr>
      </p:sp>
      <p:sp>
        <p:nvSpPr>
          <p:cNvPr id="17" name="Text 15"/>
          <p:cNvSpPr txBox="1"/>
          <p:nvPr/>
        </p:nvSpPr>
        <p:spPr>
          <a:xfrm>
            <a:off x="6903720" y="1737360"/>
            <a:ext cx="1463040" cy="365760"/>
          </a:xfrm>
          <a:prstGeom prst="rect">
            <a:avLst/>
          </a:prstGeom>
          <a:noFill/>
          <a:ln/>
        </p:spPr>
        <p:txBody>
          <a:bodyPr wrap="square" lIns="0" tIns="0" rIns="0" bIns="0" rtlCol="0" anchor="ctr"/>
          <a:lstStyle/>
          <a:p>
            <a:pPr algn="ctr" indent="0" marL="0">
              <a:buNone/>
            </a:pPr>
            <a:r>
              <a:rPr lang="en-US" sz="1500" b="1" dirty="0">
                <a:solidFill>
                  <a:srgbClr val="1B4332"/>
                </a:solidFill>
                <a:latin typeface="Calibri" pitchFamily="34" charset="0"/>
                <a:ea typeface="Calibri" pitchFamily="34" charset="-122"/>
                <a:cs typeface="Calibri" pitchFamily="34" charset="-120"/>
              </a:rPr>
              <a:t>Déc. 2024</a:t>
            </a:r>
            <a:endParaRPr lang="en-US" sz="1500" dirty="0"/>
          </a:p>
        </p:txBody>
      </p:sp>
      <p:sp>
        <p:nvSpPr>
          <p:cNvPr id="18" name="Text 16"/>
          <p:cNvSpPr txBox="1"/>
          <p:nvPr/>
        </p:nvSpPr>
        <p:spPr>
          <a:xfrm>
            <a:off x="6931152" y="2926080"/>
            <a:ext cx="1408176" cy="1463040"/>
          </a:xfrm>
          <a:prstGeom prst="rect">
            <a:avLst/>
          </a:prstGeom>
          <a:noFill/>
          <a:ln/>
        </p:spPr>
        <p:txBody>
          <a:bodyPr wrap="square" lIns="0" tIns="0" rIns="0" bIns="0" rtlCol="0" anchor="t"/>
          <a:lstStyle/>
          <a:p>
            <a:pPr algn="ctr" indent="0" marL="0">
              <a:buNone/>
            </a:pPr>
            <a:r>
              <a:rPr lang="en-US" sz="1300" dirty="0">
                <a:solidFill>
                  <a:srgbClr val="2B2B2B"/>
                </a:solidFill>
                <a:latin typeface="Calibri" pitchFamily="34" charset="0"/>
                <a:ea typeface="Calibri" pitchFamily="34" charset="-122"/>
                <a:cs typeface="Calibri" pitchFamily="34" charset="-120"/>
              </a:rPr>
              <a:t>Ambassadeur du festival Les 7 Jours du 7ᵉ Art</a:t>
            </a:r>
            <a:endParaRPr lang="en-US" sz="1300" dirty="0"/>
          </a:p>
        </p:txBody>
      </p:sp>
      <p:sp>
        <p:nvSpPr>
          <p:cNvPr id="19" name="Shape 17"/>
          <p:cNvSpPr/>
          <p:nvPr/>
        </p:nvSpPr>
        <p:spPr>
          <a:xfrm>
            <a:off x="9025128" y="2350008"/>
            <a:ext cx="329184" cy="329184"/>
          </a:xfrm>
          <a:prstGeom prst="ellipse">
            <a:avLst/>
          </a:prstGeom>
          <a:solidFill>
            <a:srgbClr val="1B4332"/>
          </a:solidFill>
          <a:ln w="25400">
            <a:solidFill>
              <a:srgbClr val="FFFFFF"/>
            </a:solidFill>
            <a:prstDash val="solid"/>
          </a:ln>
        </p:spPr>
      </p:sp>
      <p:sp>
        <p:nvSpPr>
          <p:cNvPr id="20" name="Text 18"/>
          <p:cNvSpPr txBox="1"/>
          <p:nvPr/>
        </p:nvSpPr>
        <p:spPr>
          <a:xfrm>
            <a:off x="8458200" y="1737360"/>
            <a:ext cx="1463040" cy="365760"/>
          </a:xfrm>
          <a:prstGeom prst="rect">
            <a:avLst/>
          </a:prstGeom>
          <a:noFill/>
          <a:ln/>
        </p:spPr>
        <p:txBody>
          <a:bodyPr wrap="square" lIns="0" tIns="0" rIns="0" bIns="0" rtlCol="0" anchor="ctr"/>
          <a:lstStyle/>
          <a:p>
            <a:pPr algn="ctr" indent="0" marL="0">
              <a:buNone/>
            </a:pPr>
            <a:r>
              <a:rPr lang="en-US" sz="1500" b="1" dirty="0">
                <a:solidFill>
                  <a:srgbClr val="1B4332"/>
                </a:solidFill>
                <a:latin typeface="Calibri" pitchFamily="34" charset="0"/>
                <a:ea typeface="Calibri" pitchFamily="34" charset="-122"/>
                <a:cs typeface="Calibri" pitchFamily="34" charset="-120"/>
              </a:rPr>
              <a:t>Janv. 2025</a:t>
            </a:r>
            <a:endParaRPr lang="en-US" sz="1500" dirty="0"/>
          </a:p>
        </p:txBody>
      </p:sp>
      <p:sp>
        <p:nvSpPr>
          <p:cNvPr id="21" name="Text 19"/>
          <p:cNvSpPr txBox="1"/>
          <p:nvPr/>
        </p:nvSpPr>
        <p:spPr>
          <a:xfrm>
            <a:off x="8485632" y="2926080"/>
            <a:ext cx="1408176" cy="1463040"/>
          </a:xfrm>
          <a:prstGeom prst="rect">
            <a:avLst/>
          </a:prstGeom>
          <a:noFill/>
          <a:ln/>
        </p:spPr>
        <p:txBody>
          <a:bodyPr wrap="square" lIns="0" tIns="0" rIns="0" bIns="0" rtlCol="0" anchor="t"/>
          <a:lstStyle/>
          <a:p>
            <a:pPr algn="ctr" indent="0" marL="0">
              <a:buNone/>
            </a:pPr>
            <a:r>
              <a:rPr lang="en-US" sz="1300" dirty="0">
                <a:solidFill>
                  <a:srgbClr val="2B2B2B"/>
                </a:solidFill>
                <a:latin typeface="Calibri" pitchFamily="34" charset="0"/>
                <a:ea typeface="Calibri" pitchFamily="34" charset="-122"/>
                <a:cs typeface="Calibri" pitchFamily="34" charset="-120"/>
              </a:rPr>
              <a:t>Mamou : le plaidoyer porté jusqu’aux communautés</a:t>
            </a:r>
            <a:endParaRPr lang="en-US" sz="1300" dirty="0"/>
          </a:p>
        </p:txBody>
      </p:sp>
      <p:sp>
        <p:nvSpPr>
          <p:cNvPr id="22" name="Shape 20"/>
          <p:cNvSpPr/>
          <p:nvPr/>
        </p:nvSpPr>
        <p:spPr>
          <a:xfrm>
            <a:off x="10579608" y="2350008"/>
            <a:ext cx="329184" cy="329184"/>
          </a:xfrm>
          <a:prstGeom prst="ellipse">
            <a:avLst/>
          </a:prstGeom>
          <a:solidFill>
            <a:srgbClr val="D4A373"/>
          </a:solidFill>
          <a:ln w="25400">
            <a:solidFill>
              <a:srgbClr val="FFFFFF"/>
            </a:solidFill>
            <a:prstDash val="solid"/>
          </a:ln>
        </p:spPr>
      </p:sp>
      <p:sp>
        <p:nvSpPr>
          <p:cNvPr id="23" name="Text 21"/>
          <p:cNvSpPr txBox="1"/>
          <p:nvPr/>
        </p:nvSpPr>
        <p:spPr>
          <a:xfrm>
            <a:off x="10012680" y="1737360"/>
            <a:ext cx="1463040" cy="365760"/>
          </a:xfrm>
          <a:prstGeom prst="rect">
            <a:avLst/>
          </a:prstGeom>
          <a:noFill/>
          <a:ln/>
        </p:spPr>
        <p:txBody>
          <a:bodyPr wrap="square" lIns="0" tIns="0" rIns="0" bIns="0" rtlCol="0" anchor="ctr"/>
          <a:lstStyle/>
          <a:p>
            <a:pPr algn="ctr" indent="0" marL="0">
              <a:buNone/>
            </a:pPr>
            <a:r>
              <a:rPr lang="en-US" sz="1500" b="1" dirty="0">
                <a:solidFill>
                  <a:srgbClr val="1B4332"/>
                </a:solidFill>
                <a:latin typeface="Calibri" pitchFamily="34" charset="0"/>
                <a:ea typeface="Calibri" pitchFamily="34" charset="-122"/>
                <a:cs typeface="Calibri" pitchFamily="34" charset="-120"/>
              </a:rPr>
              <a:t>Juin 2025</a:t>
            </a:r>
            <a:endParaRPr lang="en-US" sz="1500" dirty="0"/>
          </a:p>
        </p:txBody>
      </p:sp>
      <p:sp>
        <p:nvSpPr>
          <p:cNvPr id="24" name="Text 22"/>
          <p:cNvSpPr txBox="1"/>
          <p:nvPr/>
        </p:nvSpPr>
        <p:spPr>
          <a:xfrm>
            <a:off x="10040112" y="2926080"/>
            <a:ext cx="1408176" cy="1463040"/>
          </a:xfrm>
          <a:prstGeom prst="rect">
            <a:avLst/>
          </a:prstGeom>
          <a:noFill/>
          <a:ln/>
        </p:spPr>
        <p:txBody>
          <a:bodyPr wrap="square" lIns="0" tIns="0" rIns="0" bIns="0" rtlCol="0" anchor="t"/>
          <a:lstStyle/>
          <a:p>
            <a:pPr algn="ctr" indent="0" marL="0">
              <a:buNone/>
            </a:pPr>
            <a:r>
              <a:rPr lang="en-US" sz="1300" dirty="0">
                <a:solidFill>
                  <a:srgbClr val="2B2B2B"/>
                </a:solidFill>
                <a:latin typeface="Calibri" pitchFamily="34" charset="0"/>
                <a:ea typeface="Calibri" pitchFamily="34" charset="-122"/>
                <a:cs typeface="Calibri" pitchFamily="34" charset="-120"/>
              </a:rPr>
              <a:t>Marrakech : Champion de la jeunesse africaine</a:t>
            </a:r>
            <a:endParaRPr lang="en-US" sz="1300" dirty="0"/>
          </a:p>
        </p:txBody>
      </p:sp>
      <p:sp>
        <p:nvSpPr>
          <p:cNvPr id="25" name="Shape 23"/>
          <p:cNvSpPr/>
          <p:nvPr/>
        </p:nvSpPr>
        <p:spPr>
          <a:xfrm>
            <a:off x="640080" y="4937760"/>
            <a:ext cx="10881360" cy="1005840"/>
          </a:xfrm>
          <a:prstGeom prst="roundRect">
            <a:avLst>
              <a:gd name="adj" fmla="val 9091"/>
            </a:avLst>
          </a:prstGeom>
          <a:solidFill>
            <a:srgbClr val="1B4332"/>
          </a:solidFill>
          <a:ln w="12700">
            <a:solidFill>
              <a:srgbClr val="1B4332"/>
            </a:solidFill>
            <a:prstDash val="solid"/>
          </a:ln>
        </p:spPr>
      </p:sp>
      <p:sp>
        <p:nvSpPr>
          <p:cNvPr id="26" name="Text 24"/>
          <p:cNvSpPr txBox="1"/>
          <p:nvPr/>
        </p:nvSpPr>
        <p:spPr>
          <a:xfrm>
            <a:off x="914400" y="4937760"/>
            <a:ext cx="10332720" cy="1005840"/>
          </a:xfrm>
          <a:prstGeom prst="rect">
            <a:avLst/>
          </a:prstGeom>
          <a:noFill/>
          <a:ln/>
        </p:spPr>
        <p:txBody>
          <a:bodyPr wrap="square" lIns="0" tIns="0" rIns="0" bIns="0" rtlCol="0" anchor="ctr"/>
          <a:lstStyle/>
          <a:p>
            <a:pPr indent="0" marL="0">
              <a:buNone/>
            </a:pPr>
            <a:r>
              <a:rPr lang="en-US" sz="2000" b="1" dirty="0">
                <a:solidFill>
                  <a:srgbClr val="D4A373"/>
                </a:solidFill>
                <a:latin typeface="Calibri" pitchFamily="34" charset="0"/>
                <a:ea typeface="Calibri" pitchFamily="34" charset="-122"/>
                <a:cs typeface="Calibri" pitchFamily="34" charset="-120"/>
              </a:rPr>
              <a:t>Aujourd’hui, Dakar : </a:t>
            </a:r>
            <a:pPr indent="0" marL="0">
              <a:buNone/>
            </a:pPr>
            <a:r>
              <a:rPr lang="en-US" sz="2000" dirty="0">
                <a:solidFill>
                  <a:srgbClr val="FFFFFF"/>
                </a:solidFill>
                <a:latin typeface="Calibri" pitchFamily="34" charset="0"/>
                <a:ea typeface="Calibri" pitchFamily="34" charset="-122"/>
                <a:cs typeface="Calibri" pitchFamily="34" charset="-120"/>
              </a:rPr>
              <a:t>nous venons partager nos leçons avec le réseau.</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indent="0" marL="0">
              <a:buNone/>
            </a:pPr>
            <a:r>
              <a:rPr lang="en-US" sz="3600" b="1" dirty="0">
                <a:solidFill>
                  <a:srgbClr val="1B4332"/>
                </a:solidFill>
                <a:latin typeface="Cambria" pitchFamily="34" charset="0"/>
                <a:ea typeface="Cambria" pitchFamily="34" charset="-122"/>
                <a:cs typeface="Cambria" pitchFamily="34" charset="-120"/>
              </a:rPr>
              <a:t>Mamou : 5 jours, 5 formats</a:t>
            </a:r>
            <a:endParaRPr lang="en-US" sz="3600" dirty="0"/>
          </a:p>
        </p:txBody>
      </p:sp>
      <p:sp>
        <p:nvSpPr>
          <p:cNvPr id="3" name="Text 1"/>
          <p:cNvSpPr txBox="1"/>
          <p:nvPr/>
        </p:nvSpPr>
        <p:spPr>
          <a:xfrm>
            <a:off x="640080" y="1188720"/>
            <a:ext cx="10881360" cy="457200"/>
          </a:xfrm>
          <a:prstGeom prst="rect">
            <a:avLst/>
          </a:prstGeom>
          <a:noFill/>
          <a:ln/>
        </p:spPr>
        <p:txBody>
          <a:bodyPr wrap="square" lIns="0" tIns="0" rIns="0" bIns="0" rtlCol="0" anchor="ctr"/>
          <a:lstStyle/>
          <a:p>
            <a:pPr indent="0" marL="0">
              <a:buNone/>
            </a:pPr>
            <a:r>
              <a:rPr lang="en-US" sz="1800" i="1" dirty="0">
                <a:solidFill>
                  <a:srgbClr val="BC6C25"/>
                </a:solidFill>
                <a:latin typeface="Calibri" pitchFamily="34" charset="0"/>
                <a:ea typeface="Calibri" pitchFamily="34" charset="-122"/>
                <a:cs typeface="Calibri" pitchFamily="34" charset="-120"/>
              </a:rPr>
              <a:t>Du 16 au 20 janvier 2025, la stratégie nationale de plaidoyer portée jusqu’aux communautés</a:t>
            </a:r>
            <a:endParaRPr lang="en-US" sz="1800" dirty="0"/>
          </a:p>
        </p:txBody>
      </p:sp>
      <p:sp>
        <p:nvSpPr>
          <p:cNvPr id="4" name="Shape 2"/>
          <p:cNvSpPr/>
          <p:nvPr/>
        </p:nvSpPr>
        <p:spPr>
          <a:xfrm>
            <a:off x="640080" y="1920240"/>
            <a:ext cx="2011680" cy="2926080"/>
          </a:xfrm>
          <a:prstGeom prst="roundRect">
            <a:avLst>
              <a:gd name="adj" fmla="val 4545"/>
            </a:avLst>
          </a:prstGeom>
          <a:solidFill>
            <a:srgbClr val="F7F5F1"/>
          </a:solidFill>
          <a:ln w="12700">
            <a:solidFill>
              <a:srgbClr val="F7F5F1"/>
            </a:solidFill>
            <a:prstDash val="solid"/>
          </a:ln>
        </p:spPr>
      </p:sp>
      <p:sp>
        <p:nvSpPr>
          <p:cNvPr id="5" name="Shape 3"/>
          <p:cNvSpPr/>
          <p:nvPr/>
        </p:nvSpPr>
        <p:spPr>
          <a:xfrm>
            <a:off x="868680" y="2148840"/>
            <a:ext cx="548640" cy="548640"/>
          </a:xfrm>
          <a:prstGeom prst="ellipse">
            <a:avLst/>
          </a:prstGeom>
          <a:solidFill>
            <a:srgbClr val="1B4332"/>
          </a:solidFill>
          <a:ln w="12700">
            <a:solidFill>
              <a:srgbClr val="1B4332"/>
            </a:solidFill>
            <a:prstDash val="solid"/>
          </a:ln>
        </p:spPr>
      </p:sp>
      <p:pic>
        <p:nvPicPr>
          <p:cNvPr id="6" name="Image 0" descr="preencoded.png">    </p:cNvPr>
          <p:cNvPicPr>
            <a:picLocks noChangeAspect="1"/>
          </p:cNvPicPr>
          <p:nvPr/>
        </p:nvPicPr>
        <p:blipFill>
          <a:blip r:embed="rId1"/>
          <a:stretch>
            <a:fillRect/>
          </a:stretch>
        </p:blipFill>
        <p:spPr>
          <a:xfrm>
            <a:off x="1005840" y="2286000"/>
            <a:ext cx="274320" cy="274320"/>
          </a:xfrm>
          <a:prstGeom prst="rect">
            <a:avLst/>
          </a:prstGeom>
        </p:spPr>
      </p:pic>
      <p:sp>
        <p:nvSpPr>
          <p:cNvPr id="7" name="Text 4"/>
          <p:cNvSpPr txBox="1"/>
          <p:nvPr/>
        </p:nvSpPr>
        <p:spPr>
          <a:xfrm>
            <a:off x="868680" y="2834640"/>
            <a:ext cx="1645920" cy="822960"/>
          </a:xfrm>
          <a:prstGeom prst="rect">
            <a:avLst/>
          </a:prstGeom>
          <a:noFill/>
          <a:ln/>
        </p:spPr>
        <p:txBody>
          <a:bodyPr wrap="square" lIns="0" tIns="0" rIns="0" bIns="0" rtlCol="0" anchor="ctr"/>
          <a:lstStyle/>
          <a:p>
            <a:pPr indent="0" marL="0">
              <a:buNone/>
            </a:pPr>
            <a:r>
              <a:rPr lang="en-US" sz="3600" b="1" dirty="0">
                <a:solidFill>
                  <a:srgbClr val="1B4332"/>
                </a:solidFill>
                <a:latin typeface="Cambria" pitchFamily="34" charset="0"/>
                <a:ea typeface="Cambria" pitchFamily="34" charset="-122"/>
                <a:cs typeface="Cambria" pitchFamily="34" charset="-120"/>
              </a:rPr>
              <a:t>2 h</a:t>
            </a:r>
            <a:endParaRPr lang="en-US" sz="3600" dirty="0"/>
          </a:p>
        </p:txBody>
      </p:sp>
      <p:sp>
        <p:nvSpPr>
          <p:cNvPr id="8" name="Text 5"/>
          <p:cNvSpPr txBox="1"/>
          <p:nvPr/>
        </p:nvSpPr>
        <p:spPr>
          <a:xfrm>
            <a:off x="868680" y="3657600"/>
            <a:ext cx="1600200" cy="1005840"/>
          </a:xfrm>
          <a:prstGeom prst="rect">
            <a:avLst/>
          </a:prstGeom>
          <a:noFill/>
          <a:ln/>
        </p:spPr>
        <p:txBody>
          <a:bodyPr wrap="square" lIns="0" tIns="0" rIns="0" bIns="0" rtlCol="0" anchor="t"/>
          <a:lstStyle/>
          <a:p>
            <a:pPr indent="0" marL="0">
              <a:buNone/>
            </a:pPr>
            <a:r>
              <a:rPr lang="en-US" sz="1400" dirty="0">
                <a:solidFill>
                  <a:srgbClr val="2B2B2B"/>
                </a:solidFill>
                <a:latin typeface="Calibri" pitchFamily="34" charset="0"/>
                <a:ea typeface="Calibri" pitchFamily="34" charset="-122"/>
                <a:cs typeface="Calibri" pitchFamily="34" charset="-120"/>
              </a:rPr>
              <a:t>Émission de radio interactive en direct</a:t>
            </a:r>
            <a:endParaRPr lang="en-US" sz="1400" dirty="0"/>
          </a:p>
        </p:txBody>
      </p:sp>
      <p:sp>
        <p:nvSpPr>
          <p:cNvPr id="9" name="Shape 6"/>
          <p:cNvSpPr/>
          <p:nvPr/>
        </p:nvSpPr>
        <p:spPr>
          <a:xfrm>
            <a:off x="2857500" y="1920240"/>
            <a:ext cx="2011680" cy="2926080"/>
          </a:xfrm>
          <a:prstGeom prst="roundRect">
            <a:avLst>
              <a:gd name="adj" fmla="val 4545"/>
            </a:avLst>
          </a:prstGeom>
          <a:solidFill>
            <a:srgbClr val="F7F5F1"/>
          </a:solidFill>
          <a:ln w="12700">
            <a:solidFill>
              <a:srgbClr val="F7F5F1"/>
            </a:solidFill>
            <a:prstDash val="solid"/>
          </a:ln>
        </p:spPr>
      </p:sp>
      <p:sp>
        <p:nvSpPr>
          <p:cNvPr id="10" name="Shape 7"/>
          <p:cNvSpPr/>
          <p:nvPr/>
        </p:nvSpPr>
        <p:spPr>
          <a:xfrm>
            <a:off x="3086100" y="2148840"/>
            <a:ext cx="548640" cy="548640"/>
          </a:xfrm>
          <a:prstGeom prst="ellipse">
            <a:avLst/>
          </a:prstGeom>
          <a:solidFill>
            <a:srgbClr val="1B4332"/>
          </a:solidFill>
          <a:ln w="12700">
            <a:solidFill>
              <a:srgbClr val="1B4332"/>
            </a:solidFill>
            <a:prstDash val="solid"/>
          </a:ln>
        </p:spPr>
      </p:sp>
      <p:pic>
        <p:nvPicPr>
          <p:cNvPr id="11" name="Image 1" descr="preencoded.png">    </p:cNvPr>
          <p:cNvPicPr>
            <a:picLocks noChangeAspect="1"/>
          </p:cNvPicPr>
          <p:nvPr/>
        </p:nvPicPr>
        <p:blipFill>
          <a:blip r:embed="rId2"/>
          <a:stretch>
            <a:fillRect/>
          </a:stretch>
        </p:blipFill>
        <p:spPr>
          <a:xfrm>
            <a:off x="3223260" y="2286000"/>
            <a:ext cx="274320" cy="274320"/>
          </a:xfrm>
          <a:prstGeom prst="rect">
            <a:avLst/>
          </a:prstGeom>
        </p:spPr>
      </p:pic>
      <p:sp>
        <p:nvSpPr>
          <p:cNvPr id="12" name="Text 8"/>
          <p:cNvSpPr txBox="1"/>
          <p:nvPr/>
        </p:nvSpPr>
        <p:spPr>
          <a:xfrm>
            <a:off x="3086100" y="2834640"/>
            <a:ext cx="1645920" cy="822960"/>
          </a:xfrm>
          <a:prstGeom prst="rect">
            <a:avLst/>
          </a:prstGeom>
          <a:noFill/>
          <a:ln/>
        </p:spPr>
        <p:txBody>
          <a:bodyPr wrap="square" lIns="0" tIns="0" rIns="0" bIns="0" rtlCol="0" anchor="ctr"/>
          <a:lstStyle/>
          <a:p>
            <a:pPr indent="0" marL="0">
              <a:buNone/>
            </a:pPr>
            <a:r>
              <a:rPr lang="en-US" sz="3600" b="1" dirty="0">
                <a:solidFill>
                  <a:srgbClr val="1B4332"/>
                </a:solidFill>
                <a:latin typeface="Cambria" pitchFamily="34" charset="0"/>
                <a:ea typeface="Cambria" pitchFamily="34" charset="-122"/>
                <a:cs typeface="Cambria" pitchFamily="34" charset="-120"/>
              </a:rPr>
              <a:t>30</a:t>
            </a:r>
            <a:endParaRPr lang="en-US" sz="3600" dirty="0"/>
          </a:p>
        </p:txBody>
      </p:sp>
      <p:sp>
        <p:nvSpPr>
          <p:cNvPr id="13" name="Text 9"/>
          <p:cNvSpPr txBox="1"/>
          <p:nvPr/>
        </p:nvSpPr>
        <p:spPr>
          <a:xfrm>
            <a:off x="3086100" y="3657600"/>
            <a:ext cx="1600200" cy="1005840"/>
          </a:xfrm>
          <a:prstGeom prst="rect">
            <a:avLst/>
          </a:prstGeom>
          <a:noFill/>
          <a:ln/>
        </p:spPr>
        <p:txBody>
          <a:bodyPr wrap="square" lIns="0" tIns="0" rIns="0" bIns="0" rtlCol="0" anchor="t"/>
          <a:lstStyle/>
          <a:p>
            <a:pPr indent="0" marL="0">
              <a:buNone/>
            </a:pPr>
            <a:r>
              <a:rPr lang="en-US" sz="1400" dirty="0">
                <a:solidFill>
                  <a:srgbClr val="2B2B2B"/>
                </a:solidFill>
                <a:latin typeface="Calibri" pitchFamily="34" charset="0"/>
                <a:ea typeface="Calibri" pitchFamily="34" charset="-122"/>
                <a:cs typeface="Calibri" pitchFamily="34" charset="-120"/>
              </a:rPr>
              <a:t>participant·es à la table ronde</a:t>
            </a:r>
            <a:endParaRPr lang="en-US" sz="1400" dirty="0"/>
          </a:p>
        </p:txBody>
      </p:sp>
      <p:sp>
        <p:nvSpPr>
          <p:cNvPr id="14" name="Shape 10"/>
          <p:cNvSpPr/>
          <p:nvPr/>
        </p:nvSpPr>
        <p:spPr>
          <a:xfrm>
            <a:off x="5074920" y="1920240"/>
            <a:ext cx="2011680" cy="2926080"/>
          </a:xfrm>
          <a:prstGeom prst="roundRect">
            <a:avLst>
              <a:gd name="adj" fmla="val 4545"/>
            </a:avLst>
          </a:prstGeom>
          <a:solidFill>
            <a:srgbClr val="F7F5F1"/>
          </a:solidFill>
          <a:ln w="12700">
            <a:solidFill>
              <a:srgbClr val="F7F5F1"/>
            </a:solidFill>
            <a:prstDash val="solid"/>
          </a:ln>
        </p:spPr>
      </p:sp>
      <p:sp>
        <p:nvSpPr>
          <p:cNvPr id="15" name="Shape 11"/>
          <p:cNvSpPr/>
          <p:nvPr/>
        </p:nvSpPr>
        <p:spPr>
          <a:xfrm>
            <a:off x="5303520" y="2148840"/>
            <a:ext cx="548640" cy="548640"/>
          </a:xfrm>
          <a:prstGeom prst="ellipse">
            <a:avLst/>
          </a:prstGeom>
          <a:solidFill>
            <a:srgbClr val="1B4332"/>
          </a:solidFill>
          <a:ln w="12700">
            <a:solidFill>
              <a:srgbClr val="1B4332"/>
            </a:solidFill>
            <a:prstDash val="solid"/>
          </a:ln>
        </p:spPr>
      </p:sp>
      <p:pic>
        <p:nvPicPr>
          <p:cNvPr id="16" name="Image 2" descr="preencoded.png">    </p:cNvPr>
          <p:cNvPicPr>
            <a:picLocks noChangeAspect="1"/>
          </p:cNvPicPr>
          <p:nvPr/>
        </p:nvPicPr>
        <p:blipFill>
          <a:blip r:embed="rId3"/>
          <a:stretch>
            <a:fillRect/>
          </a:stretch>
        </p:blipFill>
        <p:spPr>
          <a:xfrm>
            <a:off x="5440680" y="2286000"/>
            <a:ext cx="274320" cy="274320"/>
          </a:xfrm>
          <a:prstGeom prst="rect">
            <a:avLst/>
          </a:prstGeom>
        </p:spPr>
      </p:pic>
      <p:sp>
        <p:nvSpPr>
          <p:cNvPr id="17" name="Text 12"/>
          <p:cNvSpPr txBox="1"/>
          <p:nvPr/>
        </p:nvSpPr>
        <p:spPr>
          <a:xfrm>
            <a:off x="5303520" y="2834640"/>
            <a:ext cx="1645920" cy="822960"/>
          </a:xfrm>
          <a:prstGeom prst="rect">
            <a:avLst/>
          </a:prstGeom>
          <a:noFill/>
          <a:ln/>
        </p:spPr>
        <p:txBody>
          <a:bodyPr wrap="square" lIns="0" tIns="0" rIns="0" bIns="0" rtlCol="0" anchor="ctr"/>
          <a:lstStyle/>
          <a:p>
            <a:pPr indent="0" marL="0">
              <a:buNone/>
            </a:pPr>
            <a:r>
              <a:rPr lang="en-US" sz="3600" b="1" dirty="0">
                <a:solidFill>
                  <a:srgbClr val="1B4332"/>
                </a:solidFill>
                <a:latin typeface="Cambria" pitchFamily="34" charset="0"/>
                <a:ea typeface="Cambria" pitchFamily="34" charset="-122"/>
                <a:cs typeface="Cambria" pitchFamily="34" charset="-120"/>
              </a:rPr>
              <a:t>50</a:t>
            </a:r>
            <a:endParaRPr lang="en-US" sz="3600" dirty="0"/>
          </a:p>
        </p:txBody>
      </p:sp>
      <p:sp>
        <p:nvSpPr>
          <p:cNvPr id="18" name="Text 13"/>
          <p:cNvSpPr txBox="1"/>
          <p:nvPr/>
        </p:nvSpPr>
        <p:spPr>
          <a:xfrm>
            <a:off x="5303520" y="3657600"/>
            <a:ext cx="1600200" cy="1005840"/>
          </a:xfrm>
          <a:prstGeom prst="rect">
            <a:avLst/>
          </a:prstGeom>
          <a:noFill/>
          <a:ln/>
        </p:spPr>
        <p:txBody>
          <a:bodyPr wrap="square" lIns="0" tIns="0" rIns="0" bIns="0" rtlCol="0" anchor="t"/>
          <a:lstStyle/>
          <a:p>
            <a:pPr indent="0" marL="0">
              <a:buNone/>
            </a:pPr>
            <a:r>
              <a:rPr lang="en-US" sz="1400" dirty="0">
                <a:solidFill>
                  <a:srgbClr val="2B2B2B"/>
                </a:solidFill>
                <a:latin typeface="Calibri" pitchFamily="34" charset="0"/>
                <a:ea typeface="Calibri" pitchFamily="34" charset="-122"/>
                <a:cs typeface="Calibri" pitchFamily="34" charset="-120"/>
              </a:rPr>
              <a:t>personnes au dialogue avec les leaders religieux</a:t>
            </a:r>
            <a:endParaRPr lang="en-US" sz="1400" dirty="0"/>
          </a:p>
        </p:txBody>
      </p:sp>
      <p:sp>
        <p:nvSpPr>
          <p:cNvPr id="19" name="Shape 14"/>
          <p:cNvSpPr/>
          <p:nvPr/>
        </p:nvSpPr>
        <p:spPr>
          <a:xfrm>
            <a:off x="7292340" y="1920240"/>
            <a:ext cx="2011680" cy="2926080"/>
          </a:xfrm>
          <a:prstGeom prst="roundRect">
            <a:avLst>
              <a:gd name="adj" fmla="val 4545"/>
            </a:avLst>
          </a:prstGeom>
          <a:solidFill>
            <a:srgbClr val="F7F5F1"/>
          </a:solidFill>
          <a:ln w="12700">
            <a:solidFill>
              <a:srgbClr val="F7F5F1"/>
            </a:solidFill>
            <a:prstDash val="solid"/>
          </a:ln>
        </p:spPr>
      </p:sp>
      <p:sp>
        <p:nvSpPr>
          <p:cNvPr id="20" name="Shape 15"/>
          <p:cNvSpPr/>
          <p:nvPr/>
        </p:nvSpPr>
        <p:spPr>
          <a:xfrm>
            <a:off x="7520940" y="2148840"/>
            <a:ext cx="548640" cy="548640"/>
          </a:xfrm>
          <a:prstGeom prst="ellipse">
            <a:avLst/>
          </a:prstGeom>
          <a:solidFill>
            <a:srgbClr val="1B4332"/>
          </a:solidFill>
          <a:ln w="12700">
            <a:solidFill>
              <a:srgbClr val="1B4332"/>
            </a:solidFill>
            <a:prstDash val="solid"/>
          </a:ln>
        </p:spPr>
      </p:sp>
      <p:pic>
        <p:nvPicPr>
          <p:cNvPr id="21" name="Image 3" descr="preencoded.png">    </p:cNvPr>
          <p:cNvPicPr>
            <a:picLocks noChangeAspect="1"/>
          </p:cNvPicPr>
          <p:nvPr/>
        </p:nvPicPr>
        <p:blipFill>
          <a:blip r:embed="rId4"/>
          <a:stretch>
            <a:fillRect/>
          </a:stretch>
        </p:blipFill>
        <p:spPr>
          <a:xfrm>
            <a:off x="7658100" y="2286000"/>
            <a:ext cx="274320" cy="274320"/>
          </a:xfrm>
          <a:prstGeom prst="rect">
            <a:avLst/>
          </a:prstGeom>
        </p:spPr>
      </p:pic>
      <p:sp>
        <p:nvSpPr>
          <p:cNvPr id="22" name="Text 16"/>
          <p:cNvSpPr txBox="1"/>
          <p:nvPr/>
        </p:nvSpPr>
        <p:spPr>
          <a:xfrm>
            <a:off x="7520940" y="2834640"/>
            <a:ext cx="1645920" cy="822960"/>
          </a:xfrm>
          <a:prstGeom prst="rect">
            <a:avLst/>
          </a:prstGeom>
          <a:noFill/>
          <a:ln/>
        </p:spPr>
        <p:txBody>
          <a:bodyPr wrap="square" lIns="0" tIns="0" rIns="0" bIns="0" rtlCol="0" anchor="ctr"/>
          <a:lstStyle/>
          <a:p>
            <a:pPr indent="0" marL="0">
              <a:buNone/>
            </a:pPr>
            <a:r>
              <a:rPr lang="en-US" sz="3600" b="1" dirty="0">
                <a:solidFill>
                  <a:srgbClr val="1B4332"/>
                </a:solidFill>
                <a:latin typeface="Cambria" pitchFamily="34" charset="0"/>
                <a:ea typeface="Cambria" pitchFamily="34" charset="-122"/>
                <a:cs typeface="Cambria" pitchFamily="34" charset="-120"/>
              </a:rPr>
              <a:t>100+</a:t>
            </a:r>
            <a:endParaRPr lang="en-US" sz="3600" dirty="0"/>
          </a:p>
        </p:txBody>
      </p:sp>
      <p:sp>
        <p:nvSpPr>
          <p:cNvPr id="23" name="Text 17"/>
          <p:cNvSpPr txBox="1"/>
          <p:nvPr/>
        </p:nvSpPr>
        <p:spPr>
          <a:xfrm>
            <a:off x="7520940" y="3657600"/>
            <a:ext cx="1600200" cy="1005840"/>
          </a:xfrm>
          <a:prstGeom prst="rect">
            <a:avLst/>
          </a:prstGeom>
          <a:noFill/>
          <a:ln/>
        </p:spPr>
        <p:txBody>
          <a:bodyPr wrap="square" lIns="0" tIns="0" rIns="0" bIns="0" rtlCol="0" anchor="t"/>
          <a:lstStyle/>
          <a:p>
            <a:pPr indent="0" marL="0">
              <a:buNone/>
            </a:pPr>
            <a:r>
              <a:rPr lang="en-US" sz="1400" dirty="0">
                <a:solidFill>
                  <a:srgbClr val="2B2B2B"/>
                </a:solidFill>
                <a:latin typeface="Calibri" pitchFamily="34" charset="0"/>
                <a:ea typeface="Calibri" pitchFamily="34" charset="-122"/>
                <a:cs typeface="Calibri" pitchFamily="34" charset="-120"/>
              </a:rPr>
              <a:t>spectateur·rices du théâtre en langue locale</a:t>
            </a:r>
            <a:endParaRPr lang="en-US" sz="1400" dirty="0"/>
          </a:p>
        </p:txBody>
      </p:sp>
      <p:sp>
        <p:nvSpPr>
          <p:cNvPr id="24" name="Shape 18"/>
          <p:cNvSpPr/>
          <p:nvPr/>
        </p:nvSpPr>
        <p:spPr>
          <a:xfrm>
            <a:off x="9509760" y="1920240"/>
            <a:ext cx="2011680" cy="2926080"/>
          </a:xfrm>
          <a:prstGeom prst="roundRect">
            <a:avLst>
              <a:gd name="adj" fmla="val 4545"/>
            </a:avLst>
          </a:prstGeom>
          <a:solidFill>
            <a:srgbClr val="F7F5F1"/>
          </a:solidFill>
          <a:ln w="12700">
            <a:solidFill>
              <a:srgbClr val="F7F5F1"/>
            </a:solidFill>
            <a:prstDash val="solid"/>
          </a:ln>
        </p:spPr>
      </p:sp>
      <p:sp>
        <p:nvSpPr>
          <p:cNvPr id="25" name="Shape 19"/>
          <p:cNvSpPr/>
          <p:nvPr/>
        </p:nvSpPr>
        <p:spPr>
          <a:xfrm>
            <a:off x="9738360" y="2148840"/>
            <a:ext cx="548640" cy="548640"/>
          </a:xfrm>
          <a:prstGeom prst="ellipse">
            <a:avLst/>
          </a:prstGeom>
          <a:solidFill>
            <a:srgbClr val="1B4332"/>
          </a:solidFill>
          <a:ln w="12700">
            <a:solidFill>
              <a:srgbClr val="1B4332"/>
            </a:solidFill>
            <a:prstDash val="solid"/>
          </a:ln>
        </p:spPr>
      </p:sp>
      <p:pic>
        <p:nvPicPr>
          <p:cNvPr id="26" name="Image 4" descr="preencoded.png">    </p:cNvPr>
          <p:cNvPicPr>
            <a:picLocks noChangeAspect="1"/>
          </p:cNvPicPr>
          <p:nvPr/>
        </p:nvPicPr>
        <p:blipFill>
          <a:blip r:embed="rId5"/>
          <a:stretch>
            <a:fillRect/>
          </a:stretch>
        </p:blipFill>
        <p:spPr>
          <a:xfrm>
            <a:off x="9875520" y="2286000"/>
            <a:ext cx="274320" cy="274320"/>
          </a:xfrm>
          <a:prstGeom prst="rect">
            <a:avLst/>
          </a:prstGeom>
        </p:spPr>
      </p:pic>
      <p:sp>
        <p:nvSpPr>
          <p:cNvPr id="27" name="Text 20"/>
          <p:cNvSpPr txBox="1"/>
          <p:nvPr/>
        </p:nvSpPr>
        <p:spPr>
          <a:xfrm>
            <a:off x="9738360" y="2834640"/>
            <a:ext cx="1645920" cy="822960"/>
          </a:xfrm>
          <a:prstGeom prst="rect">
            <a:avLst/>
          </a:prstGeom>
          <a:noFill/>
          <a:ln/>
        </p:spPr>
        <p:txBody>
          <a:bodyPr wrap="square" lIns="0" tIns="0" rIns="0" bIns="0" rtlCol="0" anchor="ctr"/>
          <a:lstStyle/>
          <a:p>
            <a:pPr indent="0" marL="0">
              <a:buNone/>
            </a:pPr>
            <a:r>
              <a:rPr lang="en-US" sz="3600" b="1" dirty="0">
                <a:solidFill>
                  <a:srgbClr val="1B4332"/>
                </a:solidFill>
                <a:latin typeface="Cambria" pitchFamily="34" charset="0"/>
                <a:ea typeface="Cambria" pitchFamily="34" charset="-122"/>
                <a:cs typeface="Cambria" pitchFamily="34" charset="-120"/>
              </a:rPr>
              <a:t>2</a:t>
            </a:r>
            <a:endParaRPr lang="en-US" sz="3600" dirty="0"/>
          </a:p>
        </p:txBody>
      </p:sp>
      <p:sp>
        <p:nvSpPr>
          <p:cNvPr id="28" name="Text 21"/>
          <p:cNvSpPr txBox="1"/>
          <p:nvPr/>
        </p:nvSpPr>
        <p:spPr>
          <a:xfrm>
            <a:off x="9738360" y="3657600"/>
            <a:ext cx="1600200" cy="1005840"/>
          </a:xfrm>
          <a:prstGeom prst="rect">
            <a:avLst/>
          </a:prstGeom>
          <a:noFill/>
          <a:ln/>
        </p:spPr>
        <p:txBody>
          <a:bodyPr wrap="square" lIns="0" tIns="0" rIns="0" bIns="0" rtlCol="0" anchor="t"/>
          <a:lstStyle/>
          <a:p>
            <a:pPr indent="0" marL="0">
              <a:buNone/>
            </a:pPr>
            <a:r>
              <a:rPr lang="en-US" sz="1400" dirty="0">
                <a:solidFill>
                  <a:srgbClr val="2B2B2B"/>
                </a:solidFill>
                <a:latin typeface="Calibri" pitchFamily="34" charset="0"/>
                <a:ea typeface="Calibri" pitchFamily="34" charset="-122"/>
                <a:cs typeface="Calibri" pitchFamily="34" charset="-120"/>
              </a:rPr>
              <a:t>dialogues entre femmes leaders et jeunes</a:t>
            </a:r>
            <a:endParaRPr lang="en-US" sz="1400" dirty="0"/>
          </a:p>
        </p:txBody>
      </p:sp>
      <p:sp>
        <p:nvSpPr>
          <p:cNvPr id="29" name="Text 22"/>
          <p:cNvSpPr txBox="1"/>
          <p:nvPr/>
        </p:nvSpPr>
        <p:spPr>
          <a:xfrm>
            <a:off x="640080" y="5212080"/>
            <a:ext cx="10881360" cy="548640"/>
          </a:xfrm>
          <a:prstGeom prst="rect">
            <a:avLst/>
          </a:prstGeom>
          <a:noFill/>
          <a:ln/>
        </p:spPr>
        <p:txBody>
          <a:bodyPr wrap="square" lIns="0" tIns="0" rIns="0" bIns="0" rtlCol="0" anchor="ctr"/>
          <a:lstStyle/>
          <a:p>
            <a:pPr indent="0" marL="0">
              <a:buNone/>
            </a:pPr>
            <a:r>
              <a:rPr lang="en-US" sz="1600" b="1" dirty="0">
                <a:solidFill>
                  <a:srgbClr val="1B4332"/>
                </a:solidFill>
                <a:latin typeface="Calibri" pitchFamily="34" charset="0"/>
                <a:ea typeface="Calibri" pitchFamily="34" charset="-122"/>
                <a:cs typeface="Calibri" pitchFamily="34" charset="-120"/>
              </a:rPr>
              <a:t>Plus de 180 personnes </a:t>
            </a:r>
            <a:pPr indent="0" marL="0">
              <a:buNone/>
            </a:pPr>
            <a:r>
              <a:rPr lang="en-US" sz="1600" dirty="0">
                <a:solidFill>
                  <a:srgbClr val="6B6B6B"/>
                </a:solidFill>
                <a:latin typeface="Calibri" pitchFamily="34" charset="0"/>
                <a:ea typeface="Calibri" pitchFamily="34" charset="-122"/>
                <a:cs typeface="Calibri" pitchFamily="34" charset="-120"/>
              </a:rPr>
              <a:t>réunies en cinq jours, sans compter les auditeur·rices de la radio. Rapport d’activités de Guinée Impact.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4332"/>
        </a:solidFill>
      </p:bgPr>
    </p:bg>
    <p:spTree>
      <p:nvGrpSpPr>
        <p:cNvPr id="1" name=""/>
        <p:cNvGrpSpPr/>
        <p:nvPr/>
      </p:nvGrpSpPr>
      <p:grpSpPr>
        <a:xfrm>
          <a:off x="0" y="0"/>
          <a:ext cx="0" cy="0"/>
          <a:chOff x="0" y="0"/>
          <a:chExt cx="0" cy="0"/>
        </a:xfrm>
      </p:grpSpPr>
      <p:sp>
        <p:nvSpPr>
          <p:cNvPr id="2" name="Shape 0"/>
          <p:cNvSpPr/>
          <p:nvPr/>
        </p:nvSpPr>
        <p:spPr>
          <a:xfrm>
            <a:off x="9692640" y="-1463040"/>
            <a:ext cx="4023360" cy="4023360"/>
          </a:xfrm>
          <a:prstGeom prst="ellipse">
            <a:avLst/>
          </a:prstGeom>
          <a:solidFill>
            <a:srgbClr val="2D6A4F"/>
          </a:solidFill>
          <a:ln w="12700">
            <a:solidFill>
              <a:srgbClr val="2D6A4F"/>
            </a:solidFill>
            <a:prstDash val="solid"/>
          </a:ln>
        </p:spPr>
      </p:sp>
      <p:sp>
        <p:nvSpPr>
          <p:cNvPr id="3" name="Shape 1"/>
          <p:cNvSpPr/>
          <p:nvPr/>
        </p:nvSpPr>
        <p:spPr>
          <a:xfrm>
            <a:off x="-1188720" y="4754880"/>
            <a:ext cx="2926080" cy="2926080"/>
          </a:xfrm>
          <a:prstGeom prst="ellipse">
            <a:avLst/>
          </a:prstGeom>
          <a:solidFill>
            <a:srgbClr val="BC6C25">
              <a:alpha val="30000"/>
            </a:srgbClr>
          </a:solidFill>
          <a:ln w="12700">
            <a:solidFill>
              <a:srgbClr val="BC6C25">
                <a:alpha val="30000"/>
              </a:srgbClr>
            </a:solidFill>
            <a:prstDash val="solid"/>
          </a:ln>
        </p:spPr>
      </p:sp>
      <p:pic>
        <p:nvPicPr>
          <p:cNvPr id="4" name="Image 0" descr="yes_africa_trophee.jpg">    </p:cNvPr>
          <p:cNvPicPr>
            <a:picLocks noChangeAspect="1"/>
          </p:cNvPicPr>
          <p:nvPr/>
        </p:nvPicPr>
        <p:blipFill>
          <a:blip r:embed="rId1"/>
          <a:stretch>
            <a:fillRect/>
          </a:stretch>
        </p:blipFill>
        <p:spPr>
          <a:xfrm>
            <a:off x="640080" y="1097280"/>
            <a:ext cx="5486400" cy="3805084"/>
          </a:xfrm>
          <a:prstGeom prst="rect">
            <a:avLst/>
          </a:prstGeom>
        </p:spPr>
      </p:pic>
      <p:sp>
        <p:nvSpPr>
          <p:cNvPr id="5" name="Text 2"/>
          <p:cNvSpPr txBox="1"/>
          <p:nvPr/>
        </p:nvSpPr>
        <p:spPr>
          <a:xfrm>
            <a:off x="6583680" y="1005840"/>
            <a:ext cx="5120640" cy="457200"/>
          </a:xfrm>
          <a:prstGeom prst="rect">
            <a:avLst/>
          </a:prstGeom>
          <a:noFill/>
          <a:ln/>
        </p:spPr>
        <p:txBody>
          <a:bodyPr wrap="square" lIns="0" tIns="0" rIns="0" bIns="0" rtlCol="0" anchor="ctr"/>
          <a:lstStyle/>
          <a:p>
            <a:pPr indent="0" marL="0">
              <a:buNone/>
            </a:pPr>
            <a:r>
              <a:rPr lang="en-US" sz="1500" b="1" dirty="0">
                <a:solidFill>
                  <a:srgbClr val="D4A373"/>
                </a:solidFill>
                <a:latin typeface="Calibri" pitchFamily="34" charset="0"/>
                <a:ea typeface="Calibri" pitchFamily="34" charset="-122"/>
                <a:cs typeface="Calibri" pitchFamily="34" charset="-120"/>
              </a:rPr>
              <a:t>Youth Empowerment Summit – YES Africa 2025</a:t>
            </a:r>
            <a:endParaRPr lang="en-US" sz="1500" dirty="0"/>
          </a:p>
        </p:txBody>
      </p:sp>
      <p:sp>
        <p:nvSpPr>
          <p:cNvPr id="6" name="Text 3"/>
          <p:cNvSpPr txBox="1"/>
          <p:nvPr/>
        </p:nvSpPr>
        <p:spPr>
          <a:xfrm>
            <a:off x="6583680" y="1463040"/>
            <a:ext cx="5120640" cy="10972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Champion de la jeunesse africaine</a:t>
            </a:r>
            <a:endParaRPr lang="en-US" sz="3200" dirty="0"/>
          </a:p>
        </p:txBody>
      </p:sp>
      <p:sp>
        <p:nvSpPr>
          <p:cNvPr id="7" name="Text 4"/>
          <p:cNvSpPr txBox="1"/>
          <p:nvPr/>
        </p:nvSpPr>
        <p:spPr>
          <a:xfrm>
            <a:off x="6583680" y="2606040"/>
            <a:ext cx="5120640" cy="731520"/>
          </a:xfrm>
          <a:prstGeom prst="rect">
            <a:avLst/>
          </a:prstGeom>
          <a:noFill/>
          <a:ln/>
        </p:spPr>
        <p:txBody>
          <a:bodyPr wrap="square" lIns="0" tIns="0" rIns="0" bIns="0" rtlCol="0" anchor="ctr"/>
          <a:lstStyle/>
          <a:p>
            <a:pPr indent="0" marL="0">
              <a:buNone/>
            </a:pPr>
            <a:r>
              <a:rPr lang="en-US" sz="1700" i="1" dirty="0">
                <a:solidFill>
                  <a:srgbClr val="FFFFFF"/>
                </a:solidFill>
                <a:latin typeface="Calibri" pitchFamily="34" charset="0"/>
                <a:ea typeface="Calibri" pitchFamily="34" charset="-122"/>
                <a:cs typeface="Calibri" pitchFamily="34" charset="-120"/>
              </a:rPr>
              <a:t>sur le droit des jeunes et leur implication dans les instances de prise de décision</a:t>
            </a:r>
            <a:endParaRPr lang="en-US" sz="1700" dirty="0"/>
          </a:p>
        </p:txBody>
      </p:sp>
      <p:sp>
        <p:nvSpPr>
          <p:cNvPr id="8" name="Text 5"/>
          <p:cNvSpPr txBox="1"/>
          <p:nvPr/>
        </p:nvSpPr>
        <p:spPr>
          <a:xfrm>
            <a:off x="6583680" y="3657600"/>
            <a:ext cx="1645920" cy="640080"/>
          </a:xfrm>
          <a:prstGeom prst="rect">
            <a:avLst/>
          </a:prstGeom>
          <a:noFill/>
          <a:ln/>
        </p:spPr>
        <p:txBody>
          <a:bodyPr wrap="square" lIns="0" tIns="0" rIns="0" bIns="0" rtlCol="0" anchor="ctr"/>
          <a:lstStyle/>
          <a:p>
            <a:pPr indent="0" marL="0">
              <a:buNone/>
            </a:pPr>
            <a:r>
              <a:rPr lang="en-US" sz="3000" b="1" dirty="0">
                <a:solidFill>
                  <a:srgbClr val="D4A373"/>
                </a:solidFill>
                <a:latin typeface="Cambria" pitchFamily="34" charset="0"/>
                <a:ea typeface="Cambria" pitchFamily="34" charset="-122"/>
                <a:cs typeface="Cambria" pitchFamily="34" charset="-120"/>
              </a:rPr>
              <a:t>1 000+</a:t>
            </a:r>
            <a:endParaRPr lang="en-US" sz="3000" dirty="0"/>
          </a:p>
        </p:txBody>
      </p:sp>
      <p:sp>
        <p:nvSpPr>
          <p:cNvPr id="9" name="Text 6"/>
          <p:cNvSpPr txBox="1"/>
          <p:nvPr/>
        </p:nvSpPr>
        <p:spPr>
          <a:xfrm>
            <a:off x="6583680" y="4297680"/>
            <a:ext cx="16459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jeunes leaders</a:t>
            </a:r>
            <a:endParaRPr lang="en-US" sz="1300" dirty="0"/>
          </a:p>
        </p:txBody>
      </p:sp>
      <p:sp>
        <p:nvSpPr>
          <p:cNvPr id="10" name="Text 7"/>
          <p:cNvSpPr txBox="1"/>
          <p:nvPr/>
        </p:nvSpPr>
        <p:spPr>
          <a:xfrm>
            <a:off x="8321040" y="3657600"/>
            <a:ext cx="1645920" cy="640080"/>
          </a:xfrm>
          <a:prstGeom prst="rect">
            <a:avLst/>
          </a:prstGeom>
          <a:noFill/>
          <a:ln/>
        </p:spPr>
        <p:txBody>
          <a:bodyPr wrap="square" lIns="0" tIns="0" rIns="0" bIns="0" rtlCol="0" anchor="ctr"/>
          <a:lstStyle/>
          <a:p>
            <a:pPr indent="0" marL="0">
              <a:buNone/>
            </a:pPr>
            <a:r>
              <a:rPr lang="en-US" sz="3000" b="1" dirty="0">
                <a:solidFill>
                  <a:srgbClr val="D4A373"/>
                </a:solidFill>
                <a:latin typeface="Cambria" pitchFamily="34" charset="0"/>
                <a:ea typeface="Cambria" pitchFamily="34" charset="-122"/>
                <a:cs typeface="Cambria" pitchFamily="34" charset="-120"/>
              </a:rPr>
              <a:t>118</a:t>
            </a:r>
            <a:endParaRPr lang="en-US" sz="3000" dirty="0"/>
          </a:p>
        </p:txBody>
      </p:sp>
      <p:sp>
        <p:nvSpPr>
          <p:cNvPr id="11" name="Text 8"/>
          <p:cNvSpPr txBox="1"/>
          <p:nvPr/>
        </p:nvSpPr>
        <p:spPr>
          <a:xfrm>
            <a:off x="8321040" y="4297680"/>
            <a:ext cx="16459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ONG</a:t>
            </a:r>
            <a:endParaRPr lang="en-US" sz="1300" dirty="0"/>
          </a:p>
        </p:txBody>
      </p:sp>
      <p:sp>
        <p:nvSpPr>
          <p:cNvPr id="12" name="Text 9"/>
          <p:cNvSpPr txBox="1"/>
          <p:nvPr/>
        </p:nvSpPr>
        <p:spPr>
          <a:xfrm>
            <a:off x="10058400" y="3657600"/>
            <a:ext cx="1645920" cy="640080"/>
          </a:xfrm>
          <a:prstGeom prst="rect">
            <a:avLst/>
          </a:prstGeom>
          <a:noFill/>
          <a:ln/>
        </p:spPr>
        <p:txBody>
          <a:bodyPr wrap="square" lIns="0" tIns="0" rIns="0" bIns="0" rtlCol="0" anchor="ctr"/>
          <a:lstStyle/>
          <a:p>
            <a:pPr indent="0" marL="0">
              <a:buNone/>
            </a:pPr>
            <a:r>
              <a:rPr lang="en-US" sz="3000" b="1" dirty="0">
                <a:solidFill>
                  <a:srgbClr val="D4A373"/>
                </a:solidFill>
                <a:latin typeface="Cambria" pitchFamily="34" charset="0"/>
                <a:ea typeface="Cambria" pitchFamily="34" charset="-122"/>
                <a:cs typeface="Cambria" pitchFamily="34" charset="-120"/>
              </a:rPr>
              <a:t>43</a:t>
            </a:r>
            <a:endParaRPr lang="en-US" sz="3000" dirty="0"/>
          </a:p>
        </p:txBody>
      </p:sp>
      <p:sp>
        <p:nvSpPr>
          <p:cNvPr id="13" name="Text 10"/>
          <p:cNvSpPr txBox="1"/>
          <p:nvPr/>
        </p:nvSpPr>
        <p:spPr>
          <a:xfrm>
            <a:off x="10058400" y="4297680"/>
            <a:ext cx="16459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pays africains</a:t>
            </a:r>
            <a:endParaRPr lang="en-US" sz="1300" dirty="0"/>
          </a:p>
        </p:txBody>
      </p:sp>
      <p:sp>
        <p:nvSpPr>
          <p:cNvPr id="14" name="Text 11"/>
          <p:cNvSpPr txBox="1"/>
          <p:nvPr/>
        </p:nvSpPr>
        <p:spPr>
          <a:xfrm>
            <a:off x="6583680" y="4937760"/>
            <a:ext cx="5120640" cy="6400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Marrakech, 19 et 20 juin 2025 · Fondation Jadara et Union Panafricaine de la Jeunesse</a:t>
            </a:r>
            <a:endParaRPr lang="en-US" sz="1300" dirty="0"/>
          </a:p>
        </p:txBody>
      </p:sp>
      <p:sp>
        <p:nvSpPr>
          <p:cNvPr id="15" name="Text 12"/>
          <p:cNvSpPr txBox="1"/>
          <p:nvPr/>
        </p:nvSpPr>
        <p:spPr>
          <a:xfrm>
            <a:off x="640080" y="5989320"/>
            <a:ext cx="5486400" cy="548640"/>
          </a:xfrm>
          <a:prstGeom prst="rect">
            <a:avLst/>
          </a:prstGeom>
          <a:noFill/>
          <a:ln/>
        </p:spPr>
        <p:txBody>
          <a:bodyPr wrap="square" lIns="0" tIns="0" rIns="0" bIns="0" rtlCol="0" anchor="ctr"/>
          <a:lstStyle/>
          <a:p>
            <a:pPr indent="0" marL="0">
              <a:buNone/>
            </a:pPr>
            <a:r>
              <a:rPr lang="en-US" sz="1300" i="1" dirty="0">
                <a:solidFill>
                  <a:srgbClr val="D4A373"/>
                </a:solidFill>
                <a:latin typeface="Calibri" pitchFamily="34" charset="0"/>
                <a:ea typeface="Calibri" pitchFamily="34" charset="-122"/>
                <a:cs typeface="Calibri" pitchFamily="34" charset="-120"/>
              </a:rPr>
              <a:t>Une reconnaissance collective : nos équipes, les femmes leaders, les leaders religieux et les jeunes.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yes_africa_panel_agriculture.jpg">    </p:cNvPr>
          <p:cNvPicPr>
            <a:picLocks noChangeAspect="1"/>
          </p:cNvPicPr>
          <p:nvPr/>
        </p:nvPicPr>
        <p:blipFill>
          <a:blip r:embed="rId1"/>
          <a:stretch>
            <a:fillRect/>
          </a:stretch>
        </p:blipFill>
        <p:spPr>
          <a:xfrm>
            <a:off x="640080" y="548640"/>
            <a:ext cx="4572000" cy="5715000"/>
          </a:xfrm>
          <a:prstGeom prst="rect">
            <a:avLst/>
          </a:prstGeom>
        </p:spPr>
      </p:pic>
      <p:sp>
        <p:nvSpPr>
          <p:cNvPr id="3" name="Text 0"/>
          <p:cNvSpPr txBox="1"/>
          <p:nvPr/>
        </p:nvSpPr>
        <p:spPr>
          <a:xfrm>
            <a:off x="5760720" y="548640"/>
            <a:ext cx="5760720" cy="1280160"/>
          </a:xfrm>
          <a:prstGeom prst="rect">
            <a:avLst/>
          </a:prstGeom>
          <a:noFill/>
          <a:ln/>
        </p:spPr>
        <p:txBody>
          <a:bodyPr wrap="square" lIns="0" tIns="0" rIns="0" bIns="0" rtlCol="0" anchor="ctr"/>
          <a:lstStyle/>
          <a:p>
            <a:pPr indent="0" marL="0">
              <a:buNone/>
            </a:pPr>
            <a:r>
              <a:rPr lang="en-US" sz="3200" b="1" dirty="0">
                <a:solidFill>
                  <a:srgbClr val="1B4332"/>
                </a:solidFill>
                <a:latin typeface="Cambria" pitchFamily="34" charset="0"/>
                <a:ea typeface="Cambria" pitchFamily="34" charset="-122"/>
                <a:cs typeface="Cambria" pitchFamily="34" charset="-120"/>
              </a:rPr>
              <a:t>La sécurité alimentaire fait partie de la paix</a:t>
            </a:r>
            <a:endParaRPr lang="en-US" sz="3200" dirty="0"/>
          </a:p>
        </p:txBody>
      </p:sp>
      <p:sp>
        <p:nvSpPr>
          <p:cNvPr id="4" name="Text 1"/>
          <p:cNvSpPr txBox="1"/>
          <p:nvPr/>
        </p:nvSpPr>
        <p:spPr>
          <a:xfrm>
            <a:off x="5760720" y="2011680"/>
            <a:ext cx="5760720" cy="1463040"/>
          </a:xfrm>
          <a:prstGeom prst="rect">
            <a:avLst/>
          </a:prstGeom>
          <a:noFill/>
          <a:ln/>
        </p:spPr>
        <p:txBody>
          <a:bodyPr wrap="square" lIns="0" tIns="0" rIns="0" bIns="0" rtlCol="0" anchor="t"/>
          <a:lstStyle/>
          <a:p>
            <a:pPr indent="0" marL="0">
              <a:buNone/>
            </a:pPr>
            <a:r>
              <a:rPr lang="en-US" sz="1500" b="1" dirty="0">
                <a:solidFill>
                  <a:srgbClr val="BC6C25"/>
                </a:solidFill>
                <a:latin typeface="Calibri" pitchFamily="34" charset="0"/>
                <a:ea typeface="Calibri" pitchFamily="34" charset="-122"/>
                <a:cs typeface="Calibri" pitchFamily="34" charset="-120"/>
              </a:rPr>
              <a:t>Intervenant à Marrakech</a:t>
            </a:r>
            <a:endParaRPr lang="en-US" sz="1500" dirty="0"/>
          </a:p>
          <a:p>
            <a:pPr indent="0" marL="0">
              <a:buNone/>
            </a:pPr>
            <a:r>
              <a:rPr lang="en-US" sz="1500" i="1" dirty="0">
                <a:solidFill>
                  <a:srgbClr val="2B2B2B"/>
                </a:solidFill>
                <a:latin typeface="Calibri" pitchFamily="34" charset="0"/>
                <a:ea typeface="Calibri" pitchFamily="34" charset="-122"/>
                <a:cs typeface="Calibri" pitchFamily="34" charset="-120"/>
              </a:rPr>
              <a:t>« Cultiver la résilience face au changement climatique : l’agriculture et l’agroalimentaire, piliers de la sécurité alimentaire et leviers d’innovation pour la jeunesse africaine »</a:t>
            </a:r>
            <a:endParaRPr lang="en-US" sz="1500" dirty="0"/>
          </a:p>
        </p:txBody>
      </p:sp>
      <p:sp>
        <p:nvSpPr>
          <p:cNvPr id="5" name="Shape 2"/>
          <p:cNvSpPr/>
          <p:nvPr/>
        </p:nvSpPr>
        <p:spPr>
          <a:xfrm>
            <a:off x="5760720" y="3749040"/>
            <a:ext cx="548640" cy="548640"/>
          </a:xfrm>
          <a:prstGeom prst="ellipse">
            <a:avLst/>
          </a:prstGeom>
          <a:solidFill>
            <a:srgbClr val="1B4332"/>
          </a:solidFill>
          <a:ln w="12700">
            <a:solidFill>
              <a:srgbClr val="1B4332"/>
            </a:solidFill>
            <a:prstDash val="solid"/>
          </a:ln>
        </p:spPr>
      </p:sp>
      <p:pic>
        <p:nvPicPr>
          <p:cNvPr id="6" name="Image 1" descr="preencoded.png">    </p:cNvPr>
          <p:cNvPicPr>
            <a:picLocks noChangeAspect="1"/>
          </p:cNvPicPr>
          <p:nvPr/>
        </p:nvPicPr>
        <p:blipFill>
          <a:blip r:embed="rId2"/>
          <a:stretch>
            <a:fillRect/>
          </a:stretch>
        </p:blipFill>
        <p:spPr>
          <a:xfrm>
            <a:off x="5897880" y="3886200"/>
            <a:ext cx="274320" cy="274320"/>
          </a:xfrm>
          <a:prstGeom prst="rect">
            <a:avLst/>
          </a:prstGeom>
        </p:spPr>
      </p:pic>
      <p:sp>
        <p:nvSpPr>
          <p:cNvPr id="7" name="Text 3"/>
          <p:cNvSpPr txBox="1"/>
          <p:nvPr/>
        </p:nvSpPr>
        <p:spPr>
          <a:xfrm>
            <a:off x="6492240" y="3703320"/>
            <a:ext cx="5029200" cy="1005840"/>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Quand la terre s’épuise et que les récoltes manquent, les tensions montent, et ce sont souvent les femmes et les jeunes qui en paient le prix.</a:t>
            </a:r>
            <a:endParaRPr lang="en-US" sz="1500" dirty="0"/>
          </a:p>
        </p:txBody>
      </p:sp>
      <p:pic>
        <p:nvPicPr>
          <p:cNvPr id="8" name="Image 2" descr="yes_africa_salle_pleniere.jpg">    </p:cNvPr>
          <p:cNvPicPr>
            <a:picLocks noChangeAspect="1"/>
          </p:cNvPicPr>
          <p:nvPr/>
        </p:nvPicPr>
        <p:blipFill>
          <a:blip r:embed="rId3"/>
          <a:stretch>
            <a:fillRect/>
          </a:stretch>
        </p:blipFill>
        <p:spPr>
          <a:xfrm>
            <a:off x="5760720" y="4892040"/>
            <a:ext cx="2194560" cy="1509857"/>
          </a:xfrm>
          <a:prstGeom prst="rect">
            <a:avLst/>
          </a:prstGeom>
        </p:spPr>
      </p:pic>
      <p:sp>
        <p:nvSpPr>
          <p:cNvPr id="9" name="Text 4"/>
          <p:cNvSpPr txBox="1"/>
          <p:nvPr/>
        </p:nvSpPr>
        <p:spPr>
          <a:xfrm>
            <a:off x="8138160" y="4937760"/>
            <a:ext cx="3383280" cy="1371600"/>
          </a:xfrm>
          <a:prstGeom prst="rect">
            <a:avLst/>
          </a:prstGeom>
          <a:noFill/>
          <a:ln/>
        </p:spPr>
        <p:txBody>
          <a:bodyPr wrap="square" lIns="0" tIns="0" rIns="0" bIns="0" rtlCol="0" anchor="t"/>
          <a:lstStyle/>
          <a:p>
            <a:pPr indent="0" marL="0">
              <a:buNone/>
            </a:pPr>
            <a:r>
              <a:rPr lang="en-US" sz="1300" dirty="0">
                <a:solidFill>
                  <a:srgbClr val="6B6B6B"/>
                </a:solidFill>
                <a:latin typeface="Calibri" pitchFamily="34" charset="0"/>
                <a:ea typeface="Calibri" pitchFamily="34" charset="-122"/>
                <a:cs typeface="Calibri" pitchFamily="34" charset="-120"/>
              </a:rPr>
              <a:t>Aux côtés d’expert·es du Malawi, du Maroc et du Bénin, en tant que leader de l’agroécologie et de l’autonomisation des jeunes.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indent="0" marL="0">
              <a:buNone/>
            </a:pPr>
            <a:r>
              <a:rPr lang="en-US" sz="3600" b="1" dirty="0">
                <a:solidFill>
                  <a:srgbClr val="1B4332"/>
                </a:solidFill>
                <a:latin typeface="Cambria" pitchFamily="34" charset="0"/>
                <a:ea typeface="Cambria" pitchFamily="34" charset="-122"/>
                <a:cs typeface="Cambria" pitchFamily="34" charset="-120"/>
              </a:rPr>
              <a:t>La culture au service de la paix</a:t>
            </a:r>
            <a:endParaRPr lang="en-US" sz="3600" dirty="0"/>
          </a:p>
        </p:txBody>
      </p:sp>
      <p:sp>
        <p:nvSpPr>
          <p:cNvPr id="3" name="Shape 1"/>
          <p:cNvSpPr/>
          <p:nvPr/>
        </p:nvSpPr>
        <p:spPr>
          <a:xfrm>
            <a:off x="640080" y="1371600"/>
            <a:ext cx="5303520" cy="4160520"/>
          </a:xfrm>
          <a:prstGeom prst="roundRect">
            <a:avLst>
              <a:gd name="adj" fmla="val 2198"/>
            </a:avLst>
          </a:prstGeom>
          <a:solidFill>
            <a:srgbClr val="F7F5F1"/>
          </a:solidFill>
          <a:ln w="12700">
            <a:solidFill>
              <a:srgbClr val="F7F5F1"/>
            </a:solidFill>
            <a:prstDash val="solid"/>
          </a:ln>
        </p:spPr>
      </p:sp>
      <p:sp>
        <p:nvSpPr>
          <p:cNvPr id="4" name="Shape 2"/>
          <p:cNvSpPr/>
          <p:nvPr/>
        </p:nvSpPr>
        <p:spPr>
          <a:xfrm>
            <a:off x="1005840" y="1600200"/>
            <a:ext cx="640080" cy="640080"/>
          </a:xfrm>
          <a:prstGeom prst="ellipse">
            <a:avLst/>
          </a:prstGeom>
          <a:solidFill>
            <a:srgbClr val="1B4332"/>
          </a:solidFill>
          <a:ln w="12700">
            <a:solidFill>
              <a:srgbClr val="1B4332"/>
            </a:solidFill>
            <a:prstDash val="solid"/>
          </a:ln>
        </p:spPr>
      </p:sp>
      <p:pic>
        <p:nvPicPr>
          <p:cNvPr id="5" name="Image 0" descr="preencoded.png">    </p:cNvPr>
          <p:cNvPicPr>
            <a:picLocks noChangeAspect="1"/>
          </p:cNvPicPr>
          <p:nvPr/>
        </p:nvPicPr>
        <p:blipFill>
          <a:blip r:embed="rId1"/>
          <a:stretch>
            <a:fillRect/>
          </a:stretch>
        </p:blipFill>
        <p:spPr>
          <a:xfrm>
            <a:off x="1165860" y="1760220"/>
            <a:ext cx="320040" cy="320040"/>
          </a:xfrm>
          <a:prstGeom prst="rect">
            <a:avLst/>
          </a:prstGeom>
        </p:spPr>
      </p:pic>
      <p:sp>
        <p:nvSpPr>
          <p:cNvPr id="6" name="Text 3"/>
          <p:cNvSpPr txBox="1"/>
          <p:nvPr/>
        </p:nvSpPr>
        <p:spPr>
          <a:xfrm>
            <a:off x="1005840" y="2377440"/>
            <a:ext cx="4572000" cy="548640"/>
          </a:xfrm>
          <a:prstGeom prst="rect">
            <a:avLst/>
          </a:prstGeom>
          <a:noFill/>
          <a:ln/>
        </p:spPr>
        <p:txBody>
          <a:bodyPr wrap="square" lIns="0" tIns="0" rIns="0" bIns="0" rtlCol="0" anchor="ctr"/>
          <a:lstStyle/>
          <a:p>
            <a:pPr indent="0" marL="0">
              <a:buNone/>
            </a:pPr>
            <a:r>
              <a:rPr lang="en-US" sz="2000" b="1" dirty="0">
                <a:solidFill>
                  <a:srgbClr val="1B4332"/>
                </a:solidFill>
                <a:latin typeface="Cambria" pitchFamily="34" charset="0"/>
                <a:ea typeface="Cambria" pitchFamily="34" charset="-122"/>
                <a:cs typeface="Cambria" pitchFamily="34" charset="-120"/>
              </a:rPr>
              <a:t>Le théâtre à Mamou</a:t>
            </a:r>
            <a:endParaRPr lang="en-US" sz="2000" dirty="0"/>
          </a:p>
        </p:txBody>
      </p:sp>
      <p:sp>
        <p:nvSpPr>
          <p:cNvPr id="7" name="Text 4"/>
          <p:cNvSpPr txBox="1"/>
          <p:nvPr/>
        </p:nvSpPr>
        <p:spPr>
          <a:xfrm>
            <a:off x="1005840" y="2971800"/>
            <a:ext cx="4663440" cy="2423160"/>
          </a:xfrm>
          <a:prstGeom prst="rect">
            <a:avLst/>
          </a:prstGeom>
          <a:noFill/>
          <a:ln/>
        </p:spPr>
        <p:txBody>
          <a:bodyPr wrap="square" lIns="0" tIns="0" rIns="0" bIns="0" rtlCol="0" anchor="t"/>
          <a:lstStyle/>
          <a:p>
            <a:pPr indent="0" marL="0">
              <a:spcAft>
                <a:spcPts val="300"/>
              </a:spcAft>
              <a:buNone/>
            </a:pPr>
            <a:r>
              <a:rPr lang="en-US" sz="1400" dirty="0">
                <a:solidFill>
                  <a:srgbClr val="2B2B2B"/>
                </a:solidFill>
                <a:latin typeface="Calibri" pitchFamily="34" charset="0"/>
                <a:ea typeface="Calibri" pitchFamily="34" charset="-122"/>
                <a:cs typeface="Calibri" pitchFamily="34" charset="-120"/>
              </a:rPr>
              <a:t>Une pièce en langue locale sur les résolutions 1325 et 2250 et les MGF, devant plus de 100 personnes. Une histoire bien racontée touche plus de monde qu’un long discours.</a:t>
            </a:r>
            <a:endParaRPr lang="en-US" sz="1400" dirty="0"/>
          </a:p>
        </p:txBody>
      </p:sp>
      <p:sp>
        <p:nvSpPr>
          <p:cNvPr id="8" name="Shape 5"/>
          <p:cNvSpPr/>
          <p:nvPr/>
        </p:nvSpPr>
        <p:spPr>
          <a:xfrm>
            <a:off x="6217920" y="1371600"/>
            <a:ext cx="5303520" cy="4160520"/>
          </a:xfrm>
          <a:prstGeom prst="roundRect">
            <a:avLst>
              <a:gd name="adj" fmla="val 2198"/>
            </a:avLst>
          </a:prstGeom>
          <a:solidFill>
            <a:srgbClr val="F7F5F1"/>
          </a:solidFill>
          <a:ln w="12700">
            <a:solidFill>
              <a:srgbClr val="F7F5F1"/>
            </a:solidFill>
            <a:prstDash val="solid"/>
          </a:ln>
        </p:spPr>
      </p:sp>
      <p:sp>
        <p:nvSpPr>
          <p:cNvPr id="9" name="Shape 6"/>
          <p:cNvSpPr/>
          <p:nvPr/>
        </p:nvSpPr>
        <p:spPr>
          <a:xfrm>
            <a:off x="6583680" y="1600200"/>
            <a:ext cx="640080" cy="640080"/>
          </a:xfrm>
          <a:prstGeom prst="ellipse">
            <a:avLst/>
          </a:prstGeom>
          <a:solidFill>
            <a:srgbClr val="1B4332"/>
          </a:solidFill>
          <a:ln w="12700">
            <a:solidFill>
              <a:srgbClr val="1B4332"/>
            </a:solidFill>
            <a:prstDash val="solid"/>
          </a:ln>
        </p:spPr>
      </p:sp>
      <p:pic>
        <p:nvPicPr>
          <p:cNvPr id="10" name="Image 1" descr="preencoded.png">    </p:cNvPr>
          <p:cNvPicPr>
            <a:picLocks noChangeAspect="1"/>
          </p:cNvPicPr>
          <p:nvPr/>
        </p:nvPicPr>
        <p:blipFill>
          <a:blip r:embed="rId2"/>
          <a:stretch>
            <a:fillRect/>
          </a:stretch>
        </p:blipFill>
        <p:spPr>
          <a:xfrm>
            <a:off x="6743700" y="1760220"/>
            <a:ext cx="320040" cy="320040"/>
          </a:xfrm>
          <a:prstGeom prst="rect">
            <a:avLst/>
          </a:prstGeom>
        </p:spPr>
      </p:pic>
      <p:sp>
        <p:nvSpPr>
          <p:cNvPr id="11" name="Text 7"/>
          <p:cNvSpPr txBox="1"/>
          <p:nvPr/>
        </p:nvSpPr>
        <p:spPr>
          <a:xfrm>
            <a:off x="6583680" y="2377440"/>
            <a:ext cx="4572000" cy="548640"/>
          </a:xfrm>
          <a:prstGeom prst="rect">
            <a:avLst/>
          </a:prstGeom>
          <a:noFill/>
          <a:ln/>
        </p:spPr>
        <p:txBody>
          <a:bodyPr wrap="square" lIns="0" tIns="0" rIns="0" bIns="0" rtlCol="0" anchor="ctr"/>
          <a:lstStyle/>
          <a:p>
            <a:pPr indent="0" marL="0">
              <a:buNone/>
            </a:pPr>
            <a:r>
              <a:rPr lang="en-US" sz="2000" b="1" dirty="0">
                <a:solidFill>
                  <a:srgbClr val="1B4332"/>
                </a:solidFill>
                <a:latin typeface="Cambria" pitchFamily="34" charset="0"/>
                <a:ea typeface="Cambria" pitchFamily="34" charset="-122"/>
                <a:cs typeface="Cambria" pitchFamily="34" charset="-120"/>
              </a:rPr>
              <a:t>Le festival Les 7 Jours du 7ᵉ Art</a:t>
            </a:r>
            <a:endParaRPr lang="en-US" sz="2000" dirty="0"/>
          </a:p>
        </p:txBody>
      </p:sp>
      <p:sp>
        <p:nvSpPr>
          <p:cNvPr id="12" name="Text 8"/>
          <p:cNvSpPr txBox="1"/>
          <p:nvPr/>
        </p:nvSpPr>
        <p:spPr>
          <a:xfrm>
            <a:off x="6583680" y="2971800"/>
            <a:ext cx="4663440" cy="2423160"/>
          </a:xfrm>
          <a:prstGeom prst="rect">
            <a:avLst/>
          </a:prstGeom>
          <a:noFill/>
          <a:ln/>
        </p:spPr>
        <p:txBody>
          <a:bodyPr wrap="square" lIns="0" tIns="0" rIns="0" bIns="0" rtlCol="0" anchor="t"/>
          <a:lstStyle/>
          <a:p>
            <a:pPr indent="0" marL="0">
              <a:spcAft>
                <a:spcPts val="400"/>
              </a:spcAft>
              <a:buNone/>
            </a:pPr>
            <a:r>
              <a:rPr lang="en-US" sz="1400" b="1" dirty="0">
                <a:solidFill>
                  <a:srgbClr val="2B2B2B"/>
                </a:solidFill>
                <a:latin typeface="Calibri" pitchFamily="34" charset="0"/>
                <a:ea typeface="Calibri" pitchFamily="34" charset="-122"/>
                <a:cs typeface="Calibri" pitchFamily="34" charset="-120"/>
              </a:rPr>
              <a:t>Ambassadeur depuis la 6ᵉ édition (décembre 2024) :</a:t>
            </a:r>
            <a:endParaRPr lang="en-US" sz="1400" dirty="0"/>
          </a:p>
          <a:p>
            <a:pPr marL="342900" indent="-342900">
              <a:spcAft>
                <a:spcPts val="300"/>
              </a:spcAft>
              <a:buSzPct val="100000"/>
              <a:buChar char="•"/>
            </a:pPr>
            <a:r>
              <a:rPr lang="en-US" sz="1400" dirty="0">
                <a:solidFill>
                  <a:srgbClr val="2B2B2B"/>
                </a:solidFill>
                <a:latin typeface="Calibri" pitchFamily="34" charset="0"/>
                <a:ea typeface="Calibri" pitchFamily="34" charset="-122"/>
                <a:cs typeface="Calibri" pitchFamily="34" charset="-120"/>
              </a:rPr>
              <a:t>Partenariats avec TV5 Monde, Africa 24 et des personnalités africaines</a:t>
            </a:r>
            <a:endParaRPr lang="en-US" sz="1400" dirty="0"/>
          </a:p>
          <a:p>
            <a:pPr marL="342900" indent="-342900">
              <a:spcAft>
                <a:spcPts val="300"/>
              </a:spcAft>
              <a:buSzPct val="100000"/>
              <a:buChar char="•"/>
            </a:pPr>
            <a:r>
              <a:rPr lang="en-US" sz="1400" dirty="0">
                <a:solidFill>
                  <a:srgbClr val="2B2B2B"/>
                </a:solidFill>
                <a:latin typeface="Calibri" pitchFamily="34" charset="0"/>
                <a:ea typeface="Calibri" pitchFamily="34" charset="-122"/>
                <a:cs typeface="Calibri" pitchFamily="34" charset="-120"/>
              </a:rPr>
              <a:t>Plan d’action sur cinq ans</a:t>
            </a:r>
            <a:endParaRPr lang="en-US" sz="1400" dirty="0"/>
          </a:p>
          <a:p>
            <a:pPr marL="342900" indent="-342900">
              <a:spcAft>
                <a:spcPts val="300"/>
              </a:spcAft>
              <a:buSzPct val="100000"/>
              <a:buChar char="•"/>
            </a:pPr>
            <a:r>
              <a:rPr lang="en-US" sz="1400" dirty="0">
                <a:solidFill>
                  <a:srgbClr val="2B2B2B"/>
                </a:solidFill>
                <a:latin typeface="Calibri" pitchFamily="34" charset="0"/>
                <a:ea typeface="Calibri" pitchFamily="34" charset="-122"/>
                <a:cs typeface="Calibri" pitchFamily="34" charset="-120"/>
              </a:rPr>
              <a:t>Équipe de coordination formée par un spécialiste</a:t>
            </a:r>
            <a:endParaRPr lang="en-US" sz="1400" dirty="0"/>
          </a:p>
          <a:p>
            <a:pPr marL="342900" indent="-342900">
              <a:spcAft>
                <a:spcPts val="300"/>
              </a:spcAft>
              <a:buSzPct val="100000"/>
              <a:buChar char="•"/>
            </a:pPr>
            <a:r>
              <a:rPr lang="en-US" sz="1400" dirty="0">
                <a:solidFill>
                  <a:srgbClr val="2B2B2B"/>
                </a:solidFill>
                <a:latin typeface="Calibri" pitchFamily="34" charset="0"/>
                <a:ea typeface="Calibri" pitchFamily="34" charset="-122"/>
                <a:cs typeface="Calibri" pitchFamily="34" charset="-120"/>
              </a:rPr>
              <a:t>Équipe de gestion hébergée chez Guinée Impact</a:t>
            </a:r>
            <a:endParaRPr lang="en-US" sz="1400" dirty="0"/>
          </a:p>
        </p:txBody>
      </p:sp>
      <p:sp>
        <p:nvSpPr>
          <p:cNvPr id="13" name="Text 9"/>
          <p:cNvSpPr txBox="1"/>
          <p:nvPr/>
        </p:nvSpPr>
        <p:spPr>
          <a:xfrm>
            <a:off x="640080" y="5760720"/>
            <a:ext cx="10881360" cy="731520"/>
          </a:xfrm>
          <a:prstGeom prst="rect">
            <a:avLst/>
          </a:prstGeom>
          <a:noFill/>
          <a:ln/>
        </p:spPr>
        <p:txBody>
          <a:bodyPr wrap="square" lIns="0" tIns="0" rIns="0" bIns="0" rtlCol="0" anchor="ctr"/>
          <a:lstStyle/>
          <a:p>
            <a:pPr indent="0" marL="0">
              <a:buNone/>
            </a:pPr>
            <a:r>
              <a:rPr lang="en-US" sz="1700" i="1" dirty="0">
                <a:solidFill>
                  <a:srgbClr val="BC6C25"/>
                </a:solidFill>
                <a:latin typeface="Calibri" pitchFamily="34" charset="0"/>
                <a:ea typeface="Calibri" pitchFamily="34" charset="-122"/>
                <a:cs typeface="Calibri" pitchFamily="34" charset="-120"/>
              </a:rPr>
              <a:t>Proposition : des ciné-débats sur les résolutions 1325 et 2250 et les violences faites aux femmes, avec les festivals de la région.</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indent="0" marL="0">
              <a:buNone/>
            </a:pPr>
            <a:r>
              <a:rPr lang="en-US" sz="3600" b="1" dirty="0">
                <a:solidFill>
                  <a:srgbClr val="1B4332"/>
                </a:solidFill>
                <a:latin typeface="Cambria" pitchFamily="34" charset="0"/>
                <a:ea typeface="Cambria" pitchFamily="34" charset="-122"/>
                <a:cs typeface="Cambria" pitchFamily="34" charset="-120"/>
              </a:rPr>
              <a:t>Ce que nous avons appris</a:t>
            </a:r>
            <a:endParaRPr lang="en-US" sz="3600" dirty="0"/>
          </a:p>
        </p:txBody>
      </p:sp>
      <p:sp>
        <p:nvSpPr>
          <p:cNvPr id="3" name="Shape 1"/>
          <p:cNvSpPr/>
          <p:nvPr/>
        </p:nvSpPr>
        <p:spPr>
          <a:xfrm>
            <a:off x="640080" y="1463040"/>
            <a:ext cx="3474720" cy="3291840"/>
          </a:xfrm>
          <a:prstGeom prst="roundRect">
            <a:avLst>
              <a:gd name="adj" fmla="val 2778"/>
            </a:avLst>
          </a:prstGeom>
          <a:solidFill>
            <a:srgbClr val="F7F5F1"/>
          </a:solidFill>
          <a:ln w="12700">
            <a:solidFill>
              <a:srgbClr val="F7F5F1"/>
            </a:solidFill>
            <a:prstDash val="solid"/>
          </a:ln>
        </p:spPr>
      </p:sp>
      <p:sp>
        <p:nvSpPr>
          <p:cNvPr id="4" name="Shape 2"/>
          <p:cNvSpPr/>
          <p:nvPr/>
        </p:nvSpPr>
        <p:spPr>
          <a:xfrm>
            <a:off x="914400" y="1691640"/>
            <a:ext cx="640080" cy="640080"/>
          </a:xfrm>
          <a:prstGeom prst="ellipse">
            <a:avLst/>
          </a:prstGeom>
          <a:solidFill>
            <a:srgbClr val="1B4332"/>
          </a:solidFill>
          <a:ln w="12700">
            <a:solidFill>
              <a:srgbClr val="1B4332"/>
            </a:solidFill>
            <a:prstDash val="solid"/>
          </a:ln>
        </p:spPr>
      </p:sp>
      <p:pic>
        <p:nvPicPr>
          <p:cNvPr id="5" name="Image 0" descr="preencoded.png">    </p:cNvPr>
          <p:cNvPicPr>
            <a:picLocks noChangeAspect="1"/>
          </p:cNvPicPr>
          <p:nvPr/>
        </p:nvPicPr>
        <p:blipFill>
          <a:blip r:embed="rId1"/>
          <a:stretch>
            <a:fillRect/>
          </a:stretch>
        </p:blipFill>
        <p:spPr>
          <a:xfrm>
            <a:off x="1074420" y="1851660"/>
            <a:ext cx="320040" cy="320040"/>
          </a:xfrm>
          <a:prstGeom prst="rect">
            <a:avLst/>
          </a:prstGeom>
        </p:spPr>
      </p:pic>
      <p:sp>
        <p:nvSpPr>
          <p:cNvPr id="6" name="Text 3"/>
          <p:cNvSpPr txBox="1"/>
          <p:nvPr/>
        </p:nvSpPr>
        <p:spPr>
          <a:xfrm>
            <a:off x="914400" y="2514600"/>
            <a:ext cx="2926080" cy="822960"/>
          </a:xfrm>
          <a:prstGeom prst="rect">
            <a:avLst/>
          </a:prstGeom>
          <a:noFill/>
          <a:ln/>
        </p:spPr>
        <p:txBody>
          <a:bodyPr wrap="square" lIns="0" tIns="0" rIns="0" bIns="0" rtlCol="0" anchor="t"/>
          <a:lstStyle/>
          <a:p>
            <a:pPr indent="0" marL="0">
              <a:buNone/>
            </a:pPr>
            <a:r>
              <a:rPr lang="en-US" sz="1700" b="1" dirty="0">
                <a:solidFill>
                  <a:srgbClr val="1B4332"/>
                </a:solidFill>
                <a:latin typeface="Calibri" pitchFamily="34" charset="0"/>
                <a:ea typeface="Calibri" pitchFamily="34" charset="-122"/>
                <a:cs typeface="Calibri" pitchFamily="34" charset="-120"/>
              </a:rPr>
              <a:t>Les résistances se lèvent par le dialogue</a:t>
            </a:r>
            <a:endParaRPr lang="en-US" sz="1700" dirty="0"/>
          </a:p>
        </p:txBody>
      </p:sp>
      <p:sp>
        <p:nvSpPr>
          <p:cNvPr id="7" name="Text 4"/>
          <p:cNvSpPr txBox="1"/>
          <p:nvPr/>
        </p:nvSpPr>
        <p:spPr>
          <a:xfrm>
            <a:off x="914400" y="3337560"/>
            <a:ext cx="2926080" cy="1371600"/>
          </a:xfrm>
          <a:prstGeom prst="rect">
            <a:avLst/>
          </a:prstGeom>
          <a:noFill/>
          <a:ln/>
        </p:spPr>
        <p:txBody>
          <a:bodyPr wrap="square" lIns="0" tIns="0" rIns="0" bIns="0" rtlCol="0" anchor="t"/>
          <a:lstStyle/>
          <a:p>
            <a:pPr indent="0" marL="0">
              <a:buNone/>
            </a:pPr>
            <a:r>
              <a:rPr lang="en-US" sz="1400" dirty="0">
                <a:solidFill>
                  <a:srgbClr val="2B2B2B"/>
                </a:solidFill>
                <a:latin typeface="Calibri" pitchFamily="34" charset="0"/>
                <a:ea typeface="Calibri" pitchFamily="34" charset="-122"/>
                <a:cs typeface="Calibri" pitchFamily="34" charset="-120"/>
              </a:rPr>
              <a:t>Sur les MGF, nous n’avons pas imposé : nous avons discuté. Quand les leaders religieux ont pris la parole, le message a été reçu autrement.</a:t>
            </a:r>
            <a:endParaRPr lang="en-US" sz="1400" dirty="0"/>
          </a:p>
        </p:txBody>
      </p:sp>
      <p:sp>
        <p:nvSpPr>
          <p:cNvPr id="8" name="Shape 5"/>
          <p:cNvSpPr/>
          <p:nvPr/>
        </p:nvSpPr>
        <p:spPr>
          <a:xfrm>
            <a:off x="4343400" y="1463040"/>
            <a:ext cx="3474720" cy="3291840"/>
          </a:xfrm>
          <a:prstGeom prst="roundRect">
            <a:avLst>
              <a:gd name="adj" fmla="val 2778"/>
            </a:avLst>
          </a:prstGeom>
          <a:solidFill>
            <a:srgbClr val="F7F5F1"/>
          </a:solidFill>
          <a:ln w="12700">
            <a:solidFill>
              <a:srgbClr val="F7F5F1"/>
            </a:solidFill>
            <a:prstDash val="solid"/>
          </a:ln>
        </p:spPr>
      </p:sp>
      <p:sp>
        <p:nvSpPr>
          <p:cNvPr id="9" name="Shape 6"/>
          <p:cNvSpPr/>
          <p:nvPr/>
        </p:nvSpPr>
        <p:spPr>
          <a:xfrm>
            <a:off x="4617720" y="1691640"/>
            <a:ext cx="640080" cy="640080"/>
          </a:xfrm>
          <a:prstGeom prst="ellipse">
            <a:avLst/>
          </a:prstGeom>
          <a:solidFill>
            <a:srgbClr val="1B4332"/>
          </a:solidFill>
          <a:ln w="12700">
            <a:solidFill>
              <a:srgbClr val="1B4332"/>
            </a:solidFill>
            <a:prstDash val="solid"/>
          </a:ln>
        </p:spPr>
      </p:sp>
      <p:pic>
        <p:nvPicPr>
          <p:cNvPr id="10" name="Image 1" descr="preencoded.png">    </p:cNvPr>
          <p:cNvPicPr>
            <a:picLocks noChangeAspect="1"/>
          </p:cNvPicPr>
          <p:nvPr/>
        </p:nvPicPr>
        <p:blipFill>
          <a:blip r:embed="rId2"/>
          <a:stretch>
            <a:fillRect/>
          </a:stretch>
        </p:blipFill>
        <p:spPr>
          <a:xfrm>
            <a:off x="4777740" y="1851660"/>
            <a:ext cx="320040" cy="320040"/>
          </a:xfrm>
          <a:prstGeom prst="rect">
            <a:avLst/>
          </a:prstGeom>
        </p:spPr>
      </p:pic>
      <p:sp>
        <p:nvSpPr>
          <p:cNvPr id="11" name="Text 7"/>
          <p:cNvSpPr txBox="1"/>
          <p:nvPr/>
        </p:nvSpPr>
        <p:spPr>
          <a:xfrm>
            <a:off x="4617720" y="2514600"/>
            <a:ext cx="2926080" cy="822960"/>
          </a:xfrm>
          <a:prstGeom prst="rect">
            <a:avLst/>
          </a:prstGeom>
          <a:noFill/>
          <a:ln/>
        </p:spPr>
        <p:txBody>
          <a:bodyPr wrap="square" lIns="0" tIns="0" rIns="0" bIns="0" rtlCol="0" anchor="t"/>
          <a:lstStyle/>
          <a:p>
            <a:pPr indent="0" marL="0">
              <a:buNone/>
            </a:pPr>
            <a:r>
              <a:rPr lang="en-US" sz="1700" b="1" dirty="0">
                <a:solidFill>
                  <a:srgbClr val="1B4332"/>
                </a:solidFill>
                <a:latin typeface="Calibri" pitchFamily="34" charset="0"/>
                <a:ea typeface="Calibri" pitchFamily="34" charset="-122"/>
                <a:cs typeface="Calibri" pitchFamily="34" charset="-120"/>
              </a:rPr>
              <a:t>Parler la langue des communautés</a:t>
            </a:r>
            <a:endParaRPr lang="en-US" sz="1700" dirty="0"/>
          </a:p>
        </p:txBody>
      </p:sp>
      <p:sp>
        <p:nvSpPr>
          <p:cNvPr id="12" name="Text 8"/>
          <p:cNvSpPr txBox="1"/>
          <p:nvPr/>
        </p:nvSpPr>
        <p:spPr>
          <a:xfrm>
            <a:off x="4617720" y="3337560"/>
            <a:ext cx="2926080" cy="1371600"/>
          </a:xfrm>
          <a:prstGeom prst="rect">
            <a:avLst/>
          </a:prstGeom>
          <a:noFill/>
          <a:ln/>
        </p:spPr>
        <p:txBody>
          <a:bodyPr wrap="square" lIns="0" tIns="0" rIns="0" bIns="0" rtlCol="0" anchor="t"/>
          <a:lstStyle/>
          <a:p>
            <a:pPr indent="0" marL="0">
              <a:buNone/>
            </a:pPr>
            <a:r>
              <a:rPr lang="en-US" sz="1400" dirty="0">
                <a:solidFill>
                  <a:srgbClr val="2B2B2B"/>
                </a:solidFill>
                <a:latin typeface="Calibri" pitchFamily="34" charset="0"/>
                <a:ea typeface="Calibri" pitchFamily="34" charset="-122"/>
                <a:cs typeface="Calibri" pitchFamily="34" charset="-120"/>
              </a:rPr>
              <a:t>Radio, théâtre, cinéma : la culture est un outil de plaidoyer.</a:t>
            </a:r>
            <a:endParaRPr lang="en-US" sz="1400" dirty="0"/>
          </a:p>
        </p:txBody>
      </p:sp>
      <p:sp>
        <p:nvSpPr>
          <p:cNvPr id="13" name="Shape 9"/>
          <p:cNvSpPr/>
          <p:nvPr/>
        </p:nvSpPr>
        <p:spPr>
          <a:xfrm>
            <a:off x="8046720" y="1463040"/>
            <a:ext cx="3474720" cy="3291840"/>
          </a:xfrm>
          <a:prstGeom prst="roundRect">
            <a:avLst>
              <a:gd name="adj" fmla="val 2778"/>
            </a:avLst>
          </a:prstGeom>
          <a:solidFill>
            <a:srgbClr val="F7F5F1"/>
          </a:solidFill>
          <a:ln w="12700">
            <a:solidFill>
              <a:srgbClr val="F7F5F1"/>
            </a:solidFill>
            <a:prstDash val="solid"/>
          </a:ln>
        </p:spPr>
      </p:sp>
      <p:sp>
        <p:nvSpPr>
          <p:cNvPr id="14" name="Shape 10"/>
          <p:cNvSpPr/>
          <p:nvPr/>
        </p:nvSpPr>
        <p:spPr>
          <a:xfrm>
            <a:off x="8321040" y="1691640"/>
            <a:ext cx="640080" cy="640080"/>
          </a:xfrm>
          <a:prstGeom prst="ellipse">
            <a:avLst/>
          </a:prstGeom>
          <a:solidFill>
            <a:srgbClr val="1B4332"/>
          </a:solidFill>
          <a:ln w="12700">
            <a:solidFill>
              <a:srgbClr val="1B4332"/>
            </a:solidFill>
            <a:prstDash val="solid"/>
          </a:ln>
        </p:spPr>
      </p:sp>
      <p:pic>
        <p:nvPicPr>
          <p:cNvPr id="15" name="Image 2" descr="preencoded.png">    </p:cNvPr>
          <p:cNvPicPr>
            <a:picLocks noChangeAspect="1"/>
          </p:cNvPicPr>
          <p:nvPr/>
        </p:nvPicPr>
        <p:blipFill>
          <a:blip r:embed="rId3"/>
          <a:stretch>
            <a:fillRect/>
          </a:stretch>
        </p:blipFill>
        <p:spPr>
          <a:xfrm>
            <a:off x="8481060" y="1851660"/>
            <a:ext cx="320040" cy="320040"/>
          </a:xfrm>
          <a:prstGeom prst="rect">
            <a:avLst/>
          </a:prstGeom>
        </p:spPr>
      </p:pic>
      <p:sp>
        <p:nvSpPr>
          <p:cNvPr id="16" name="Text 11"/>
          <p:cNvSpPr txBox="1"/>
          <p:nvPr/>
        </p:nvSpPr>
        <p:spPr>
          <a:xfrm>
            <a:off x="8321040" y="2514600"/>
            <a:ext cx="2926080" cy="822960"/>
          </a:xfrm>
          <a:prstGeom prst="rect">
            <a:avLst/>
          </a:prstGeom>
          <a:noFill/>
          <a:ln/>
        </p:spPr>
        <p:txBody>
          <a:bodyPr wrap="square" lIns="0" tIns="0" rIns="0" bIns="0" rtlCol="0" anchor="t"/>
          <a:lstStyle/>
          <a:p>
            <a:pPr indent="0" marL="0">
              <a:buNone/>
            </a:pPr>
            <a:r>
              <a:rPr lang="en-US" sz="1700" b="1" dirty="0">
                <a:solidFill>
                  <a:srgbClr val="1B4332"/>
                </a:solidFill>
                <a:latin typeface="Calibri" pitchFamily="34" charset="0"/>
                <a:ea typeface="Calibri" pitchFamily="34" charset="-122"/>
                <a:cs typeface="Calibri" pitchFamily="34" charset="-120"/>
              </a:rPr>
              <a:t>Les générations ont besoin l’une de l’autre</a:t>
            </a:r>
            <a:endParaRPr lang="en-US" sz="1700" dirty="0"/>
          </a:p>
        </p:txBody>
      </p:sp>
      <p:sp>
        <p:nvSpPr>
          <p:cNvPr id="17" name="Text 12"/>
          <p:cNvSpPr txBox="1"/>
          <p:nvPr/>
        </p:nvSpPr>
        <p:spPr>
          <a:xfrm>
            <a:off x="8321040" y="3337560"/>
            <a:ext cx="2926080" cy="1371600"/>
          </a:xfrm>
          <a:prstGeom prst="rect">
            <a:avLst/>
          </a:prstGeom>
          <a:noFill/>
          <a:ln/>
        </p:spPr>
        <p:txBody>
          <a:bodyPr wrap="square" lIns="0" tIns="0" rIns="0" bIns="0" rtlCol="0" anchor="t"/>
          <a:lstStyle/>
          <a:p>
            <a:pPr indent="0" marL="0">
              <a:buNone/>
            </a:pPr>
            <a:r>
              <a:rPr lang="en-US" sz="1400" dirty="0">
                <a:solidFill>
                  <a:srgbClr val="2B2B2B"/>
                </a:solidFill>
                <a:latin typeface="Calibri" pitchFamily="34" charset="0"/>
                <a:ea typeface="Calibri" pitchFamily="34" charset="-122"/>
                <a:cs typeface="Calibri" pitchFamily="34" charset="-120"/>
              </a:rPr>
              <a:t>Les femmes leaders apportent l’expérience ; les jeunes, l’énergie et de nouveaux outils.</a:t>
            </a:r>
            <a:endParaRPr lang="en-US" sz="1400" dirty="0"/>
          </a:p>
        </p:txBody>
      </p:sp>
      <p:sp>
        <p:nvSpPr>
          <p:cNvPr id="18" name="Shape 13"/>
          <p:cNvSpPr/>
          <p:nvPr/>
        </p:nvSpPr>
        <p:spPr>
          <a:xfrm>
            <a:off x="640080" y="5074920"/>
            <a:ext cx="10881360" cy="1005840"/>
          </a:xfrm>
          <a:prstGeom prst="roundRect">
            <a:avLst>
              <a:gd name="adj" fmla="val 9091"/>
            </a:avLst>
          </a:prstGeom>
          <a:solidFill>
            <a:srgbClr val="1B4332"/>
          </a:solidFill>
          <a:ln w="12700">
            <a:solidFill>
              <a:srgbClr val="1B4332"/>
            </a:solidFill>
            <a:prstDash val="solid"/>
          </a:ln>
        </p:spPr>
      </p:sp>
      <p:sp>
        <p:nvSpPr>
          <p:cNvPr id="19" name="Text 14"/>
          <p:cNvSpPr txBox="1"/>
          <p:nvPr/>
        </p:nvSpPr>
        <p:spPr>
          <a:xfrm>
            <a:off x="914400" y="5074920"/>
            <a:ext cx="10332720" cy="1005840"/>
          </a:xfrm>
          <a:prstGeom prst="rect">
            <a:avLst/>
          </a:prstGeom>
          <a:noFill/>
          <a:ln/>
        </p:spPr>
        <p:txBody>
          <a:bodyPr wrap="square" lIns="0" tIns="0" rIns="0" bIns="0" rtlCol="0" anchor="ctr"/>
          <a:lstStyle/>
          <a:p>
            <a:pPr indent="0" marL="0">
              <a:buNone/>
            </a:pPr>
            <a:r>
              <a:rPr lang="en-US" sz="1600" b="1" dirty="0">
                <a:solidFill>
                  <a:srgbClr val="D4A373"/>
                </a:solidFill>
                <a:latin typeface="Calibri" pitchFamily="34" charset="0"/>
                <a:ea typeface="Calibri" pitchFamily="34" charset="-122"/>
                <a:cs typeface="Calibri" pitchFamily="34" charset="-120"/>
              </a:rPr>
              <a:t>Nos défis : </a:t>
            </a:r>
            <a:pPr indent="0" marL="0">
              <a:buNone/>
            </a:pPr>
            <a:r>
              <a:rPr lang="en-US" sz="1600" dirty="0">
                <a:solidFill>
                  <a:srgbClr val="FFFFFF"/>
                </a:solidFill>
                <a:latin typeface="Calibri" pitchFamily="34" charset="0"/>
                <a:ea typeface="Calibri" pitchFamily="34" charset="-122"/>
                <a:cs typeface="Calibri" pitchFamily="34" charset="-120"/>
              </a:rPr>
              <a:t>mobiliser les participant·es · financer la logistique · sortir du financement par projet · mesurer le changement réel des attitudes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731520"/>
          </a:xfrm>
          <a:prstGeom prst="rect">
            <a:avLst/>
          </a:prstGeom>
          <a:noFill/>
          <a:ln/>
        </p:spPr>
        <p:txBody>
          <a:bodyPr wrap="square" lIns="0" tIns="0" rIns="0" bIns="0" rtlCol="0" anchor="ctr"/>
          <a:lstStyle/>
          <a:p>
            <a:pPr indent="0" marL="0">
              <a:buNone/>
            </a:pPr>
            <a:r>
              <a:rPr lang="en-US" sz="3600" b="1" dirty="0">
                <a:solidFill>
                  <a:srgbClr val="1B4332"/>
                </a:solidFill>
                <a:latin typeface="Cambria" pitchFamily="34" charset="0"/>
                <a:ea typeface="Cambria" pitchFamily="34" charset="-122"/>
                <a:cs typeface="Cambria" pitchFamily="34" charset="-120"/>
              </a:rPr>
              <a:t>Nos propositions pour la région</a:t>
            </a:r>
            <a:endParaRPr lang="en-US" sz="3600" dirty="0"/>
          </a:p>
        </p:txBody>
      </p:sp>
      <p:sp>
        <p:nvSpPr>
          <p:cNvPr id="3" name="Shape 1"/>
          <p:cNvSpPr/>
          <p:nvPr/>
        </p:nvSpPr>
        <p:spPr>
          <a:xfrm>
            <a:off x="640080" y="1463040"/>
            <a:ext cx="5349240" cy="1325880"/>
          </a:xfrm>
          <a:prstGeom prst="roundRect">
            <a:avLst>
              <a:gd name="adj" fmla="val 6897"/>
            </a:avLst>
          </a:prstGeom>
          <a:solidFill>
            <a:srgbClr val="F7F5F1"/>
          </a:solidFill>
          <a:ln w="12700">
            <a:solidFill>
              <a:srgbClr val="F7F5F1"/>
            </a:solidFill>
            <a:prstDash val="solid"/>
          </a:ln>
        </p:spPr>
      </p:sp>
      <p:sp>
        <p:nvSpPr>
          <p:cNvPr id="4" name="Shape 2"/>
          <p:cNvSpPr/>
          <p:nvPr/>
        </p:nvSpPr>
        <p:spPr>
          <a:xfrm>
            <a:off x="868680" y="1801368"/>
            <a:ext cx="640080" cy="640080"/>
          </a:xfrm>
          <a:prstGeom prst="ellipse">
            <a:avLst/>
          </a:prstGeom>
          <a:solidFill>
            <a:srgbClr val="1B4332"/>
          </a:solidFill>
          <a:ln w="12700">
            <a:solidFill>
              <a:srgbClr val="1B4332"/>
            </a:solidFill>
            <a:prstDash val="solid"/>
          </a:ln>
        </p:spPr>
      </p:sp>
      <p:sp>
        <p:nvSpPr>
          <p:cNvPr id="5" name="Text 3"/>
          <p:cNvSpPr txBox="1"/>
          <p:nvPr/>
        </p:nvSpPr>
        <p:spPr>
          <a:xfrm>
            <a:off x="868680" y="1801368"/>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1691640" y="1463040"/>
            <a:ext cx="4114800" cy="1325880"/>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Reproduire le modèle « cinq formats » dans la campagne régionale contre les violences faites aux femmes et aux filles</a:t>
            </a:r>
            <a:endParaRPr lang="en-US" sz="1500" dirty="0"/>
          </a:p>
        </p:txBody>
      </p:sp>
      <p:sp>
        <p:nvSpPr>
          <p:cNvPr id="7" name="Shape 5"/>
          <p:cNvSpPr/>
          <p:nvPr/>
        </p:nvSpPr>
        <p:spPr>
          <a:xfrm>
            <a:off x="6172200" y="1463040"/>
            <a:ext cx="5349240" cy="1325880"/>
          </a:xfrm>
          <a:prstGeom prst="roundRect">
            <a:avLst>
              <a:gd name="adj" fmla="val 6897"/>
            </a:avLst>
          </a:prstGeom>
          <a:solidFill>
            <a:srgbClr val="F7F5F1"/>
          </a:solidFill>
          <a:ln w="12700">
            <a:solidFill>
              <a:srgbClr val="F7F5F1"/>
            </a:solidFill>
            <a:prstDash val="solid"/>
          </a:ln>
        </p:spPr>
      </p:sp>
      <p:sp>
        <p:nvSpPr>
          <p:cNvPr id="8" name="Shape 6"/>
          <p:cNvSpPr/>
          <p:nvPr/>
        </p:nvSpPr>
        <p:spPr>
          <a:xfrm>
            <a:off x="6400800" y="1801368"/>
            <a:ext cx="640080" cy="640080"/>
          </a:xfrm>
          <a:prstGeom prst="ellipse">
            <a:avLst/>
          </a:prstGeom>
          <a:solidFill>
            <a:srgbClr val="1B4332"/>
          </a:solidFill>
          <a:ln w="12700">
            <a:solidFill>
              <a:srgbClr val="1B4332"/>
            </a:solidFill>
            <a:prstDash val="solid"/>
          </a:ln>
        </p:spPr>
      </p:sp>
      <p:sp>
        <p:nvSpPr>
          <p:cNvPr id="9" name="Text 7"/>
          <p:cNvSpPr txBox="1"/>
          <p:nvPr/>
        </p:nvSpPr>
        <p:spPr>
          <a:xfrm>
            <a:off x="6400800" y="1801368"/>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0" name="Text 8"/>
          <p:cNvSpPr txBox="1"/>
          <p:nvPr/>
        </p:nvSpPr>
        <p:spPr>
          <a:xfrm>
            <a:off x="7223760" y="1463040"/>
            <a:ext cx="4114800" cy="1325880"/>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Associer les leaders religieux et communautaires aux campagnes sur les VBG et les MGF</a:t>
            </a:r>
            <a:endParaRPr lang="en-US" sz="1500" dirty="0"/>
          </a:p>
        </p:txBody>
      </p:sp>
      <p:sp>
        <p:nvSpPr>
          <p:cNvPr id="11" name="Shape 9"/>
          <p:cNvSpPr/>
          <p:nvPr/>
        </p:nvSpPr>
        <p:spPr>
          <a:xfrm>
            <a:off x="640080" y="3017520"/>
            <a:ext cx="5349240" cy="1325880"/>
          </a:xfrm>
          <a:prstGeom prst="roundRect">
            <a:avLst>
              <a:gd name="adj" fmla="val 6897"/>
            </a:avLst>
          </a:prstGeom>
          <a:solidFill>
            <a:srgbClr val="F7F5F1"/>
          </a:solidFill>
          <a:ln w="12700">
            <a:solidFill>
              <a:srgbClr val="F7F5F1"/>
            </a:solidFill>
            <a:prstDash val="solid"/>
          </a:ln>
        </p:spPr>
      </p:sp>
      <p:sp>
        <p:nvSpPr>
          <p:cNvPr id="12" name="Shape 10"/>
          <p:cNvSpPr/>
          <p:nvPr/>
        </p:nvSpPr>
        <p:spPr>
          <a:xfrm>
            <a:off x="868680" y="3355848"/>
            <a:ext cx="640080" cy="640080"/>
          </a:xfrm>
          <a:prstGeom prst="ellipse">
            <a:avLst/>
          </a:prstGeom>
          <a:solidFill>
            <a:srgbClr val="1B4332"/>
          </a:solidFill>
          <a:ln w="12700">
            <a:solidFill>
              <a:srgbClr val="1B4332"/>
            </a:solidFill>
            <a:prstDash val="solid"/>
          </a:ln>
        </p:spPr>
      </p:sp>
      <p:sp>
        <p:nvSpPr>
          <p:cNvPr id="13" name="Text 11"/>
          <p:cNvSpPr txBox="1"/>
          <p:nvPr/>
        </p:nvSpPr>
        <p:spPr>
          <a:xfrm>
            <a:off x="868680" y="3355848"/>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4" name="Text 12"/>
          <p:cNvSpPr txBox="1"/>
          <p:nvPr/>
        </p:nvSpPr>
        <p:spPr>
          <a:xfrm>
            <a:off x="1691640" y="3017520"/>
            <a:ext cx="4114800" cy="1325880"/>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Construire des indicateurs communs pour mesurer le changement d’attitude</a:t>
            </a:r>
            <a:endParaRPr lang="en-US" sz="1500" dirty="0"/>
          </a:p>
        </p:txBody>
      </p:sp>
      <p:sp>
        <p:nvSpPr>
          <p:cNvPr id="15" name="Shape 13"/>
          <p:cNvSpPr/>
          <p:nvPr/>
        </p:nvSpPr>
        <p:spPr>
          <a:xfrm>
            <a:off x="6172200" y="3017520"/>
            <a:ext cx="5349240" cy="1325880"/>
          </a:xfrm>
          <a:prstGeom prst="roundRect">
            <a:avLst>
              <a:gd name="adj" fmla="val 6897"/>
            </a:avLst>
          </a:prstGeom>
          <a:solidFill>
            <a:srgbClr val="F7F5F1"/>
          </a:solidFill>
          <a:ln w="12700">
            <a:solidFill>
              <a:srgbClr val="F7F5F1"/>
            </a:solidFill>
            <a:prstDash val="solid"/>
          </a:ln>
        </p:spPr>
      </p:sp>
      <p:sp>
        <p:nvSpPr>
          <p:cNvPr id="16" name="Shape 14"/>
          <p:cNvSpPr/>
          <p:nvPr/>
        </p:nvSpPr>
        <p:spPr>
          <a:xfrm>
            <a:off x="6400800" y="3355848"/>
            <a:ext cx="640080" cy="640080"/>
          </a:xfrm>
          <a:prstGeom prst="ellipse">
            <a:avLst/>
          </a:prstGeom>
          <a:solidFill>
            <a:srgbClr val="1B4332"/>
          </a:solidFill>
          <a:ln w="12700">
            <a:solidFill>
              <a:srgbClr val="1B4332"/>
            </a:solidFill>
            <a:prstDash val="solid"/>
          </a:ln>
        </p:spPr>
      </p:sp>
      <p:sp>
        <p:nvSpPr>
          <p:cNvPr id="17" name="Text 15"/>
          <p:cNvSpPr txBox="1"/>
          <p:nvPr/>
        </p:nvSpPr>
        <p:spPr>
          <a:xfrm>
            <a:off x="6400800" y="3355848"/>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18" name="Text 16"/>
          <p:cNvSpPr txBox="1"/>
          <p:nvPr/>
        </p:nvSpPr>
        <p:spPr>
          <a:xfrm>
            <a:off x="7223760" y="3017520"/>
            <a:ext cx="4114800" cy="1325880"/>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Obtenir des partenaires des financements pluriannuels pour les organisations locales</a:t>
            </a:r>
            <a:endParaRPr lang="en-US" sz="1500" dirty="0"/>
          </a:p>
        </p:txBody>
      </p:sp>
      <p:sp>
        <p:nvSpPr>
          <p:cNvPr id="19" name="Shape 17"/>
          <p:cNvSpPr/>
          <p:nvPr/>
        </p:nvSpPr>
        <p:spPr>
          <a:xfrm>
            <a:off x="640080" y="4572000"/>
            <a:ext cx="5349240" cy="1325880"/>
          </a:xfrm>
          <a:prstGeom prst="roundRect">
            <a:avLst>
              <a:gd name="adj" fmla="val 6897"/>
            </a:avLst>
          </a:prstGeom>
          <a:solidFill>
            <a:srgbClr val="F7F5F1"/>
          </a:solidFill>
          <a:ln w="12700">
            <a:solidFill>
              <a:srgbClr val="F7F5F1"/>
            </a:solidFill>
            <a:prstDash val="solid"/>
          </a:ln>
        </p:spPr>
      </p:sp>
      <p:sp>
        <p:nvSpPr>
          <p:cNvPr id="20" name="Shape 18"/>
          <p:cNvSpPr/>
          <p:nvPr/>
        </p:nvSpPr>
        <p:spPr>
          <a:xfrm>
            <a:off x="868680" y="4910328"/>
            <a:ext cx="640080" cy="640080"/>
          </a:xfrm>
          <a:prstGeom prst="ellipse">
            <a:avLst/>
          </a:prstGeom>
          <a:solidFill>
            <a:srgbClr val="1B4332"/>
          </a:solidFill>
          <a:ln w="12700">
            <a:solidFill>
              <a:srgbClr val="1B4332"/>
            </a:solidFill>
            <a:prstDash val="solid"/>
          </a:ln>
        </p:spPr>
      </p:sp>
      <p:sp>
        <p:nvSpPr>
          <p:cNvPr id="21" name="Text 19"/>
          <p:cNvSpPr txBox="1"/>
          <p:nvPr/>
        </p:nvSpPr>
        <p:spPr>
          <a:xfrm>
            <a:off x="868680" y="4910328"/>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2" name="Text 20"/>
          <p:cNvSpPr txBox="1"/>
          <p:nvPr/>
        </p:nvSpPr>
        <p:spPr>
          <a:xfrm>
            <a:off x="1691640" y="4572000"/>
            <a:ext cx="4114800" cy="1325880"/>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Organiser des ciné-débats sur 1325 et 2250 avec les festivals de la région</a:t>
            </a:r>
            <a:endParaRPr lang="en-US" sz="1500" dirty="0"/>
          </a:p>
        </p:txBody>
      </p:sp>
      <p:sp>
        <p:nvSpPr>
          <p:cNvPr id="23" name="Shape 21"/>
          <p:cNvSpPr/>
          <p:nvPr/>
        </p:nvSpPr>
        <p:spPr>
          <a:xfrm>
            <a:off x="6172200" y="4572000"/>
            <a:ext cx="5349240" cy="1325880"/>
          </a:xfrm>
          <a:prstGeom prst="roundRect">
            <a:avLst>
              <a:gd name="adj" fmla="val 6897"/>
            </a:avLst>
          </a:prstGeom>
          <a:solidFill>
            <a:srgbClr val="F7F5F1"/>
          </a:solidFill>
          <a:ln w="12700">
            <a:solidFill>
              <a:srgbClr val="F7F5F1"/>
            </a:solidFill>
            <a:prstDash val="solid"/>
          </a:ln>
        </p:spPr>
      </p:sp>
      <p:sp>
        <p:nvSpPr>
          <p:cNvPr id="24" name="Shape 22"/>
          <p:cNvSpPr/>
          <p:nvPr/>
        </p:nvSpPr>
        <p:spPr>
          <a:xfrm>
            <a:off x="6400800" y="4910328"/>
            <a:ext cx="640080" cy="640080"/>
          </a:xfrm>
          <a:prstGeom prst="ellipse">
            <a:avLst/>
          </a:prstGeom>
          <a:solidFill>
            <a:srgbClr val="1B4332"/>
          </a:solidFill>
          <a:ln w="12700">
            <a:solidFill>
              <a:srgbClr val="1B4332"/>
            </a:solidFill>
            <a:prstDash val="solid"/>
          </a:ln>
        </p:spPr>
      </p:sp>
      <p:sp>
        <p:nvSpPr>
          <p:cNvPr id="25" name="Text 23"/>
          <p:cNvSpPr txBox="1"/>
          <p:nvPr/>
        </p:nvSpPr>
        <p:spPr>
          <a:xfrm>
            <a:off x="6400800" y="4910328"/>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6</a:t>
            </a:r>
            <a:endParaRPr lang="en-US" sz="2200" dirty="0"/>
          </a:p>
        </p:txBody>
      </p:sp>
      <p:sp>
        <p:nvSpPr>
          <p:cNvPr id="26" name="Text 24"/>
          <p:cNvSpPr txBox="1"/>
          <p:nvPr/>
        </p:nvSpPr>
        <p:spPr>
          <a:xfrm>
            <a:off x="7223760" y="4572000"/>
            <a:ext cx="4114800" cy="1325880"/>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Relier notre réseau aux réseaux panafricains d’autonomisation des jeunes, comme YES Africa</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4332"/>
        </a:solidFill>
      </p:bgPr>
    </p:bg>
    <p:spTree>
      <p:nvGrpSpPr>
        <p:cNvPr id="1" name=""/>
        <p:cNvGrpSpPr/>
        <p:nvPr/>
      </p:nvGrpSpPr>
      <p:grpSpPr>
        <a:xfrm>
          <a:off x="0" y="0"/>
          <a:ext cx="0" cy="0"/>
          <a:chOff x="0" y="0"/>
          <a:chExt cx="0" cy="0"/>
        </a:xfrm>
      </p:grpSpPr>
      <p:sp>
        <p:nvSpPr>
          <p:cNvPr id="2" name="Shape 0"/>
          <p:cNvSpPr/>
          <p:nvPr/>
        </p:nvSpPr>
        <p:spPr>
          <a:xfrm>
            <a:off x="9692640" y="-1463040"/>
            <a:ext cx="4023360" cy="4023360"/>
          </a:xfrm>
          <a:prstGeom prst="ellipse">
            <a:avLst/>
          </a:prstGeom>
          <a:solidFill>
            <a:srgbClr val="2D6A4F"/>
          </a:solidFill>
          <a:ln w="12700">
            <a:solidFill>
              <a:srgbClr val="2D6A4F"/>
            </a:solidFill>
            <a:prstDash val="solid"/>
          </a:ln>
        </p:spPr>
      </p:sp>
      <p:sp>
        <p:nvSpPr>
          <p:cNvPr id="3" name="Shape 1"/>
          <p:cNvSpPr/>
          <p:nvPr/>
        </p:nvSpPr>
        <p:spPr>
          <a:xfrm>
            <a:off x="-1188720" y="4754880"/>
            <a:ext cx="2926080" cy="2926080"/>
          </a:xfrm>
          <a:prstGeom prst="ellipse">
            <a:avLst/>
          </a:prstGeom>
          <a:solidFill>
            <a:srgbClr val="BC6C25">
              <a:alpha val="30000"/>
            </a:srgbClr>
          </a:solidFill>
          <a:ln w="12700">
            <a:solidFill>
              <a:srgbClr val="BC6C25">
                <a:alpha val="30000"/>
              </a:srgbClr>
            </a:solidFill>
            <a:prstDash val="solid"/>
          </a:ln>
        </p:spPr>
      </p:sp>
      <p:sp>
        <p:nvSpPr>
          <p:cNvPr id="4" name="Text 2"/>
          <p:cNvSpPr txBox="1"/>
          <p:nvPr/>
        </p:nvSpPr>
        <p:spPr>
          <a:xfrm>
            <a:off x="822960" y="1005840"/>
            <a:ext cx="8686800"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 Nos voix, notre paix : portons-les ensemble, jusqu’au dernier village. »</a:t>
            </a:r>
            <a:endParaRPr lang="en-US" sz="3000" dirty="0"/>
          </a:p>
        </p:txBody>
      </p:sp>
      <p:sp>
        <p:nvSpPr>
          <p:cNvPr id="5" name="Text 3"/>
          <p:cNvSpPr txBox="1"/>
          <p:nvPr/>
        </p:nvSpPr>
        <p:spPr>
          <a:xfrm>
            <a:off x="822960" y="2560320"/>
            <a:ext cx="5486400" cy="548640"/>
          </a:xfrm>
          <a:prstGeom prst="rect">
            <a:avLst/>
          </a:prstGeom>
          <a:noFill/>
          <a:ln/>
        </p:spPr>
        <p:txBody>
          <a:bodyPr wrap="square" lIns="0" tIns="0" rIns="0" bIns="0" rtlCol="0" anchor="ctr"/>
          <a:lstStyle/>
          <a:p>
            <a:pPr indent="0" marL="0">
              <a:buNone/>
            </a:pPr>
            <a:r>
              <a:rPr lang="en-US" sz="2200" i="1" dirty="0">
                <a:solidFill>
                  <a:srgbClr val="D4A373"/>
                </a:solidFill>
                <a:latin typeface="Calibri" pitchFamily="34" charset="0"/>
                <a:ea typeface="Calibri" pitchFamily="34" charset="-122"/>
                <a:cs typeface="Calibri" pitchFamily="34" charset="-120"/>
              </a:rPr>
              <a:t>Merci</a:t>
            </a:r>
            <a:endParaRPr lang="en-US" sz="2200" dirty="0"/>
          </a:p>
        </p:txBody>
      </p:sp>
      <p:sp>
        <p:nvSpPr>
          <p:cNvPr id="6" name="Shape 4"/>
          <p:cNvSpPr/>
          <p:nvPr/>
        </p:nvSpPr>
        <p:spPr>
          <a:xfrm>
            <a:off x="822960" y="3429000"/>
            <a:ext cx="502920" cy="502920"/>
          </a:xfrm>
          <a:prstGeom prst="ellipse">
            <a:avLst/>
          </a:prstGeom>
          <a:solidFill>
            <a:srgbClr val="2D6A4F"/>
          </a:solidFill>
          <a:ln w="12700">
            <a:solidFill>
              <a:srgbClr val="2D6A4F"/>
            </a:solidFill>
            <a:prstDash val="solid"/>
          </a:ln>
        </p:spPr>
      </p:sp>
      <p:pic>
        <p:nvPicPr>
          <p:cNvPr id="7" name="Image 0" descr="preencoded.png">    </p:cNvPr>
          <p:cNvPicPr>
            <a:picLocks noChangeAspect="1"/>
          </p:cNvPicPr>
          <p:nvPr/>
        </p:nvPicPr>
        <p:blipFill>
          <a:blip r:embed="rId1"/>
          <a:stretch>
            <a:fillRect/>
          </a:stretch>
        </p:blipFill>
        <p:spPr>
          <a:xfrm>
            <a:off x="948690" y="3554730"/>
            <a:ext cx="251460" cy="251460"/>
          </a:xfrm>
          <a:prstGeom prst="rect">
            <a:avLst/>
          </a:prstGeom>
        </p:spPr>
      </p:pic>
      <p:sp>
        <p:nvSpPr>
          <p:cNvPr id="8" name="Text 5"/>
          <p:cNvSpPr txBox="1"/>
          <p:nvPr/>
        </p:nvSpPr>
        <p:spPr>
          <a:xfrm>
            <a:off x="1508760" y="3410712"/>
            <a:ext cx="7315200" cy="256032"/>
          </a:xfrm>
          <a:prstGeom prst="rect">
            <a:avLst/>
          </a:prstGeom>
          <a:noFill/>
          <a:ln/>
        </p:spPr>
        <p:txBody>
          <a:bodyPr wrap="square" lIns="0" tIns="0" rIns="0" bIns="0" rtlCol="0" anchor="ctr"/>
          <a:lstStyle/>
          <a:p>
            <a:pPr indent="0" marL="0">
              <a:buNone/>
            </a:pPr>
            <a:r>
              <a:rPr lang="en-US" sz="1100" b="1" dirty="0">
                <a:solidFill>
                  <a:srgbClr val="D4A373"/>
                </a:solidFill>
                <a:latin typeface="Calibri" pitchFamily="34" charset="0"/>
                <a:ea typeface="Calibri" pitchFamily="34" charset="-122"/>
                <a:cs typeface="Calibri" pitchFamily="34" charset="-120"/>
              </a:rPr>
              <a:t>PRÉSIDENT</a:t>
            </a:r>
            <a:endParaRPr lang="en-US" sz="1100" dirty="0"/>
          </a:p>
        </p:txBody>
      </p:sp>
      <p:sp>
        <p:nvSpPr>
          <p:cNvPr id="9" name="Text 6"/>
          <p:cNvSpPr txBox="1"/>
          <p:nvPr/>
        </p:nvSpPr>
        <p:spPr>
          <a:xfrm>
            <a:off x="1508760" y="3666744"/>
            <a:ext cx="8229600" cy="29260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Mamadou Adama BARRY</a:t>
            </a:r>
            <a:endParaRPr lang="en-US" sz="1500" dirty="0"/>
          </a:p>
        </p:txBody>
      </p:sp>
      <p:sp>
        <p:nvSpPr>
          <p:cNvPr id="10" name="Shape 7"/>
          <p:cNvSpPr/>
          <p:nvPr/>
        </p:nvSpPr>
        <p:spPr>
          <a:xfrm>
            <a:off x="822960" y="4160520"/>
            <a:ext cx="502920" cy="502920"/>
          </a:xfrm>
          <a:prstGeom prst="ellipse">
            <a:avLst/>
          </a:prstGeom>
          <a:solidFill>
            <a:srgbClr val="2D6A4F"/>
          </a:solidFill>
          <a:ln w="12700">
            <a:solidFill>
              <a:srgbClr val="2D6A4F"/>
            </a:solidFill>
            <a:prstDash val="solid"/>
          </a:ln>
        </p:spPr>
      </p:sp>
      <p:pic>
        <p:nvPicPr>
          <p:cNvPr id="11" name="Image 1" descr="preencoded.png">    </p:cNvPr>
          <p:cNvPicPr>
            <a:picLocks noChangeAspect="1"/>
          </p:cNvPicPr>
          <p:nvPr/>
        </p:nvPicPr>
        <p:blipFill>
          <a:blip r:embed="rId2"/>
          <a:stretch>
            <a:fillRect/>
          </a:stretch>
        </p:blipFill>
        <p:spPr>
          <a:xfrm>
            <a:off x="948690" y="4286250"/>
            <a:ext cx="251460" cy="251460"/>
          </a:xfrm>
          <a:prstGeom prst="rect">
            <a:avLst/>
          </a:prstGeom>
        </p:spPr>
      </p:pic>
      <p:sp>
        <p:nvSpPr>
          <p:cNvPr id="12" name="Text 8"/>
          <p:cNvSpPr txBox="1"/>
          <p:nvPr/>
        </p:nvSpPr>
        <p:spPr>
          <a:xfrm>
            <a:off x="1508760" y="4142232"/>
            <a:ext cx="7315200" cy="256032"/>
          </a:xfrm>
          <a:prstGeom prst="rect">
            <a:avLst/>
          </a:prstGeom>
          <a:noFill/>
          <a:ln/>
        </p:spPr>
        <p:txBody>
          <a:bodyPr wrap="square" lIns="0" tIns="0" rIns="0" bIns="0" rtlCol="0" anchor="ctr"/>
          <a:lstStyle/>
          <a:p>
            <a:pPr indent="0" marL="0">
              <a:buNone/>
            </a:pPr>
            <a:r>
              <a:rPr lang="en-US" sz="1100" b="1" dirty="0">
                <a:solidFill>
                  <a:srgbClr val="D4A373"/>
                </a:solidFill>
                <a:latin typeface="Calibri" pitchFamily="34" charset="0"/>
                <a:ea typeface="Calibri" pitchFamily="34" charset="-122"/>
                <a:cs typeface="Calibri" pitchFamily="34" charset="-120"/>
              </a:rPr>
              <a:t>SIÈGE SOCIAL</a:t>
            </a:r>
            <a:endParaRPr lang="en-US" sz="1100" dirty="0"/>
          </a:p>
        </p:txBody>
      </p:sp>
      <p:sp>
        <p:nvSpPr>
          <p:cNvPr id="13" name="Text 9"/>
          <p:cNvSpPr txBox="1"/>
          <p:nvPr/>
        </p:nvSpPr>
        <p:spPr>
          <a:xfrm>
            <a:off x="1508760" y="4398264"/>
            <a:ext cx="8229600" cy="29260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Yattayah Fossidet, Commune de Sonfonia, Conakry, Guinée</a:t>
            </a:r>
            <a:endParaRPr lang="en-US" sz="1500" dirty="0"/>
          </a:p>
        </p:txBody>
      </p:sp>
      <p:sp>
        <p:nvSpPr>
          <p:cNvPr id="14" name="Shape 10"/>
          <p:cNvSpPr/>
          <p:nvPr/>
        </p:nvSpPr>
        <p:spPr>
          <a:xfrm>
            <a:off x="822960" y="4892040"/>
            <a:ext cx="502920" cy="502920"/>
          </a:xfrm>
          <a:prstGeom prst="ellipse">
            <a:avLst/>
          </a:prstGeom>
          <a:solidFill>
            <a:srgbClr val="2D6A4F"/>
          </a:solidFill>
          <a:ln w="12700">
            <a:solidFill>
              <a:srgbClr val="2D6A4F"/>
            </a:solidFill>
            <a:prstDash val="solid"/>
          </a:ln>
        </p:spPr>
      </p:sp>
      <p:pic>
        <p:nvPicPr>
          <p:cNvPr id="15" name="Image 2" descr="preencoded.png">    </p:cNvPr>
          <p:cNvPicPr>
            <a:picLocks noChangeAspect="1"/>
          </p:cNvPicPr>
          <p:nvPr/>
        </p:nvPicPr>
        <p:blipFill>
          <a:blip r:embed="rId3"/>
          <a:stretch>
            <a:fillRect/>
          </a:stretch>
        </p:blipFill>
        <p:spPr>
          <a:xfrm>
            <a:off x="948690" y="5017770"/>
            <a:ext cx="251460" cy="251460"/>
          </a:xfrm>
          <a:prstGeom prst="rect">
            <a:avLst/>
          </a:prstGeom>
        </p:spPr>
      </p:pic>
      <p:sp>
        <p:nvSpPr>
          <p:cNvPr id="16" name="Text 11"/>
          <p:cNvSpPr txBox="1"/>
          <p:nvPr/>
        </p:nvSpPr>
        <p:spPr>
          <a:xfrm>
            <a:off x="1508760" y="4873752"/>
            <a:ext cx="7315200" cy="256032"/>
          </a:xfrm>
          <a:prstGeom prst="rect">
            <a:avLst/>
          </a:prstGeom>
          <a:noFill/>
          <a:ln/>
        </p:spPr>
        <p:txBody>
          <a:bodyPr wrap="square" lIns="0" tIns="0" rIns="0" bIns="0" rtlCol="0" anchor="ctr"/>
          <a:lstStyle/>
          <a:p>
            <a:pPr indent="0" marL="0">
              <a:buNone/>
            </a:pPr>
            <a:r>
              <a:rPr lang="en-US" sz="1100" b="1" dirty="0">
                <a:solidFill>
                  <a:srgbClr val="D4A373"/>
                </a:solidFill>
                <a:latin typeface="Calibri" pitchFamily="34" charset="0"/>
                <a:ea typeface="Calibri" pitchFamily="34" charset="-122"/>
                <a:cs typeface="Calibri" pitchFamily="34" charset="-120"/>
              </a:rPr>
              <a:t>TÉLÉPHONE</a:t>
            </a:r>
            <a:endParaRPr lang="en-US" sz="1100" dirty="0"/>
          </a:p>
        </p:txBody>
      </p:sp>
      <p:sp>
        <p:nvSpPr>
          <p:cNvPr id="17" name="Text 12"/>
          <p:cNvSpPr txBox="1"/>
          <p:nvPr/>
        </p:nvSpPr>
        <p:spPr>
          <a:xfrm>
            <a:off x="1508760" y="5129784"/>
            <a:ext cx="8229600" cy="29260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(+224) 620 42 52 10</a:t>
            </a:r>
            <a:endParaRPr lang="en-US" sz="1500" dirty="0"/>
          </a:p>
        </p:txBody>
      </p:sp>
      <p:sp>
        <p:nvSpPr>
          <p:cNvPr id="18" name="Shape 13"/>
          <p:cNvSpPr/>
          <p:nvPr/>
        </p:nvSpPr>
        <p:spPr>
          <a:xfrm>
            <a:off x="822960" y="5623560"/>
            <a:ext cx="502920" cy="502920"/>
          </a:xfrm>
          <a:prstGeom prst="ellipse">
            <a:avLst/>
          </a:prstGeom>
          <a:solidFill>
            <a:srgbClr val="2D6A4F"/>
          </a:solidFill>
          <a:ln w="12700">
            <a:solidFill>
              <a:srgbClr val="2D6A4F"/>
            </a:solidFill>
            <a:prstDash val="solid"/>
          </a:ln>
        </p:spPr>
      </p:sp>
      <p:pic>
        <p:nvPicPr>
          <p:cNvPr id="19" name="Image 3" descr="preencoded.png">    </p:cNvPr>
          <p:cNvPicPr>
            <a:picLocks noChangeAspect="1"/>
          </p:cNvPicPr>
          <p:nvPr/>
        </p:nvPicPr>
        <p:blipFill>
          <a:blip r:embed="rId4"/>
          <a:stretch>
            <a:fillRect/>
          </a:stretch>
        </p:blipFill>
        <p:spPr>
          <a:xfrm>
            <a:off x="948690" y="5749290"/>
            <a:ext cx="251460" cy="251460"/>
          </a:xfrm>
          <a:prstGeom prst="rect">
            <a:avLst/>
          </a:prstGeom>
        </p:spPr>
      </p:pic>
      <p:sp>
        <p:nvSpPr>
          <p:cNvPr id="20" name="Text 14"/>
          <p:cNvSpPr txBox="1"/>
          <p:nvPr/>
        </p:nvSpPr>
        <p:spPr>
          <a:xfrm>
            <a:off x="1508760" y="5605272"/>
            <a:ext cx="7315200" cy="256032"/>
          </a:xfrm>
          <a:prstGeom prst="rect">
            <a:avLst/>
          </a:prstGeom>
          <a:noFill/>
          <a:ln/>
        </p:spPr>
        <p:txBody>
          <a:bodyPr wrap="square" lIns="0" tIns="0" rIns="0" bIns="0" rtlCol="0" anchor="ctr"/>
          <a:lstStyle/>
          <a:p>
            <a:pPr indent="0" marL="0">
              <a:buNone/>
            </a:pPr>
            <a:r>
              <a:rPr lang="en-US" sz="1100" b="1" dirty="0">
                <a:solidFill>
                  <a:srgbClr val="D4A373"/>
                </a:solidFill>
                <a:latin typeface="Calibri" pitchFamily="34" charset="0"/>
                <a:ea typeface="Calibri" pitchFamily="34" charset="-122"/>
                <a:cs typeface="Calibri" pitchFamily="34" charset="-120"/>
              </a:rPr>
              <a:t>E-MAILS</a:t>
            </a:r>
            <a:endParaRPr lang="en-US" sz="1100" dirty="0"/>
          </a:p>
        </p:txBody>
      </p:sp>
      <p:sp>
        <p:nvSpPr>
          <p:cNvPr id="21" name="Text 15"/>
          <p:cNvSpPr txBox="1"/>
          <p:nvPr/>
        </p:nvSpPr>
        <p:spPr>
          <a:xfrm>
            <a:off x="1508760" y="5861304"/>
            <a:ext cx="8229600" cy="29260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guineeimpactgn@gmail.com · barrymed45@gmail.com</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 Somone à Dakar – Guinée Impact</dc:title>
  <dc:subject>PptxGenJS Presentation</dc:subject>
  <dc:creator>Guinée Impact</dc:creator>
  <cp:lastModifiedBy>Guinée Impact</cp:lastModifiedBy>
  <cp:revision>1</cp:revision>
  <dcterms:created xsi:type="dcterms:W3CDTF">2026-09-23T13:29:31Z</dcterms:created>
  <dcterms:modified xsi:type="dcterms:W3CDTF">2026-09-23T13:29:31Z</dcterms:modified>
</cp:coreProperties>
</file>