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Lst>
  <p:notesMasterIdLst>
    <p:notesMasterId r:id="rId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notesMaster" Target="notesMasters/notesMaster1.xml"/><Relationship Id="rId8" Type="http://schemas.openxmlformats.org/officeDocument/2006/relationships/presProps" Target="presProps.xml"/><Relationship Id="rId9" Type="http://schemas.openxmlformats.org/officeDocument/2006/relationships/viewProps" Target="viewProps.xml"/><Relationship Id="rId10" Type="http://schemas.openxmlformats.org/officeDocument/2006/relationships/theme" Target="theme/theme1.xml"/><Relationship Id="rId1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slideLayout" Target="../slideLayouts/slideLayout1.xml"/><Relationship Id="rId7"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1.xml"/><Relationship Id="rId6" Type="http://schemas.openxmlformats.org/officeDocument/2006/relationships/notesSlide" Target="../notesSlides/notesSlide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4332"/>
        </a:solidFill>
      </p:bgPr>
    </p:bg>
    <p:spTree>
      <p:nvGrpSpPr>
        <p:cNvPr id="1" name=""/>
        <p:cNvGrpSpPr/>
        <p:nvPr/>
      </p:nvGrpSpPr>
      <p:grpSpPr>
        <a:xfrm>
          <a:off x="0" y="0"/>
          <a:ext cx="0" cy="0"/>
          <a:chOff x="0" y="0"/>
          <a:chExt cx="0" cy="0"/>
        </a:xfrm>
      </p:grpSpPr>
      <p:sp>
        <p:nvSpPr>
          <p:cNvPr id="2" name="Shape 0"/>
          <p:cNvSpPr/>
          <p:nvPr/>
        </p:nvSpPr>
        <p:spPr>
          <a:xfrm>
            <a:off x="9692640" y="-1463040"/>
            <a:ext cx="5029200" cy="5029200"/>
          </a:xfrm>
          <a:prstGeom prst="ellipse">
            <a:avLst/>
          </a:prstGeom>
          <a:solidFill>
            <a:srgbClr val="2D6A4F">
              <a:alpha val="60000"/>
            </a:srgbClr>
          </a:solidFill>
          <a:ln/>
        </p:spPr>
      </p:sp>
      <p:sp>
        <p:nvSpPr>
          <p:cNvPr id="3" name="Shape 1"/>
          <p:cNvSpPr/>
          <p:nvPr/>
        </p:nvSpPr>
        <p:spPr>
          <a:xfrm>
            <a:off x="-1645920" y="4754880"/>
            <a:ext cx="3840480" cy="3840480"/>
          </a:xfrm>
          <a:prstGeom prst="ellipse">
            <a:avLst/>
          </a:prstGeom>
          <a:solidFill>
            <a:srgbClr val="BC6C25">
              <a:alpha val="25000"/>
            </a:srgbClr>
          </a:solidFill>
          <a:ln/>
        </p:spPr>
      </p:sp>
      <p:sp>
        <p:nvSpPr>
          <p:cNvPr id="4" name="Text 2"/>
          <p:cNvSpPr/>
          <p:nvPr/>
        </p:nvSpPr>
        <p:spPr>
          <a:xfrm>
            <a:off x="822960" y="2331720"/>
            <a:ext cx="10515600" cy="1097280"/>
          </a:xfrm>
          <a:prstGeom prst="rect">
            <a:avLst/>
          </a:prstGeom>
          <a:noFill/>
          <a:ln/>
        </p:spPr>
        <p:txBody>
          <a:bodyPr wrap="square" lIns="0" tIns="0" rIns="0" bIns="0" rtlCol="0" anchor="ctr"/>
          <a:lstStyle/>
          <a:p>
            <a:pPr algn="l" indent="0" marL="0">
              <a:buNone/>
            </a:pPr>
            <a:r>
              <a:rPr lang="en-US" sz="4600" b="1" dirty="0">
                <a:solidFill>
                  <a:srgbClr val="FFFFFF"/>
                </a:solidFill>
                <a:latin typeface="Cambria" pitchFamily="34" charset="0"/>
                <a:ea typeface="Cambria" pitchFamily="34" charset="-122"/>
                <a:cs typeface="Cambria" pitchFamily="34" charset="-120"/>
              </a:rPr>
              <a:t>GUINÉE IMPACT</a:t>
            </a:r>
            <a:endParaRPr lang="en-US" sz="4600" dirty="0"/>
          </a:p>
        </p:txBody>
      </p:sp>
      <p:sp>
        <p:nvSpPr>
          <p:cNvPr id="5" name="Text 3"/>
          <p:cNvSpPr/>
          <p:nvPr/>
        </p:nvSpPr>
        <p:spPr>
          <a:xfrm>
            <a:off x="868680" y="3246120"/>
            <a:ext cx="9144000" cy="548640"/>
          </a:xfrm>
          <a:prstGeom prst="rect">
            <a:avLst/>
          </a:prstGeom>
          <a:noFill/>
          <a:ln/>
        </p:spPr>
        <p:txBody>
          <a:bodyPr wrap="square" lIns="0" tIns="0" rIns="0" bIns="0" rtlCol="0" anchor="ctr"/>
          <a:lstStyle/>
          <a:p>
            <a:pPr algn="l" indent="0" marL="0">
              <a:buNone/>
            </a:pPr>
            <a:r>
              <a:rPr lang="en-US" sz="2000" i="1" dirty="0">
                <a:solidFill>
                  <a:srgbClr val="D4A373"/>
                </a:solidFill>
                <a:latin typeface="Calibri" pitchFamily="34" charset="0"/>
                <a:ea typeface="Calibri" pitchFamily="34" charset="-122"/>
                <a:cs typeface="Calibri" pitchFamily="34" charset="-120"/>
              </a:rPr>
              <a:t>Plateforme de la société civile guinéenne</a:t>
            </a:r>
            <a:endParaRPr lang="en-US" sz="2000" dirty="0"/>
          </a:p>
        </p:txBody>
      </p:sp>
      <p:sp>
        <p:nvSpPr>
          <p:cNvPr id="6" name="Shape 4"/>
          <p:cNvSpPr/>
          <p:nvPr/>
        </p:nvSpPr>
        <p:spPr>
          <a:xfrm>
            <a:off x="868680" y="4160520"/>
            <a:ext cx="1513332" cy="402336"/>
          </a:xfrm>
          <a:prstGeom prst="roundRect">
            <a:avLst>
              <a:gd name="adj" fmla="val 18182"/>
            </a:avLst>
          </a:prstGeom>
          <a:solidFill>
            <a:srgbClr val="FFFFFF">
              <a:alpha val="10000"/>
            </a:srgbClr>
          </a:solidFill>
          <a:ln w="12700">
            <a:solidFill>
              <a:srgbClr val="D4A373"/>
            </a:solidFill>
            <a:prstDash val="solid"/>
          </a:ln>
        </p:spPr>
      </p:sp>
      <p:sp>
        <p:nvSpPr>
          <p:cNvPr id="7" name="Text 5"/>
          <p:cNvSpPr/>
          <p:nvPr/>
        </p:nvSpPr>
        <p:spPr>
          <a:xfrm>
            <a:off x="868680" y="4160520"/>
            <a:ext cx="1513332" cy="402336"/>
          </a:xfrm>
          <a:prstGeom prst="rect">
            <a:avLst/>
          </a:prstGeom>
          <a:noFill/>
          <a:ln/>
        </p:spPr>
        <p:txBody>
          <a:bodyPr wrap="square" lIns="0" tIns="0" rIns="0" bIns="0" rtlCol="0" anchor="ctr"/>
          <a:lstStyle/>
          <a:p>
            <a:pPr algn="ctr" indent="0" marL="0">
              <a:buNone/>
            </a:pPr>
            <a:r>
              <a:rPr lang="en-US" sz="1200" dirty="0">
                <a:solidFill>
                  <a:srgbClr val="FFFFFF"/>
                </a:solidFill>
                <a:latin typeface="Calibri" pitchFamily="34" charset="0"/>
                <a:ea typeface="Calibri" pitchFamily="34" charset="-122"/>
                <a:cs typeface="Calibri" pitchFamily="34" charset="-120"/>
              </a:rPr>
              <a:t>Gouvernance</a:t>
            </a:r>
            <a:endParaRPr lang="en-US" sz="1200" dirty="0"/>
          </a:p>
        </p:txBody>
      </p:sp>
      <p:sp>
        <p:nvSpPr>
          <p:cNvPr id="8" name="Shape 6"/>
          <p:cNvSpPr/>
          <p:nvPr/>
        </p:nvSpPr>
        <p:spPr>
          <a:xfrm>
            <a:off x="2546604" y="4160520"/>
            <a:ext cx="841248" cy="402336"/>
          </a:xfrm>
          <a:prstGeom prst="roundRect">
            <a:avLst>
              <a:gd name="adj" fmla="val 18182"/>
            </a:avLst>
          </a:prstGeom>
          <a:solidFill>
            <a:srgbClr val="FFFFFF">
              <a:alpha val="10000"/>
            </a:srgbClr>
          </a:solidFill>
          <a:ln w="12700">
            <a:solidFill>
              <a:srgbClr val="D4A373"/>
            </a:solidFill>
            <a:prstDash val="solid"/>
          </a:ln>
        </p:spPr>
      </p:sp>
      <p:sp>
        <p:nvSpPr>
          <p:cNvPr id="9" name="Text 7"/>
          <p:cNvSpPr/>
          <p:nvPr/>
        </p:nvSpPr>
        <p:spPr>
          <a:xfrm>
            <a:off x="2546604" y="4160520"/>
            <a:ext cx="841248" cy="402336"/>
          </a:xfrm>
          <a:prstGeom prst="rect">
            <a:avLst/>
          </a:prstGeom>
          <a:noFill/>
          <a:ln/>
        </p:spPr>
        <p:txBody>
          <a:bodyPr wrap="square" lIns="0" tIns="0" rIns="0" bIns="0" rtlCol="0" anchor="ctr"/>
          <a:lstStyle/>
          <a:p>
            <a:pPr algn="ctr" indent="0" marL="0">
              <a:buNone/>
            </a:pPr>
            <a:r>
              <a:rPr lang="en-US" sz="1200" dirty="0">
                <a:solidFill>
                  <a:srgbClr val="FFFFFF"/>
                </a:solidFill>
                <a:latin typeface="Calibri" pitchFamily="34" charset="0"/>
                <a:ea typeface="Calibri" pitchFamily="34" charset="-122"/>
                <a:cs typeface="Calibri" pitchFamily="34" charset="-120"/>
              </a:rPr>
              <a:t>Paix</a:t>
            </a:r>
            <a:endParaRPr lang="en-US" sz="1200" dirty="0"/>
          </a:p>
        </p:txBody>
      </p:sp>
      <p:sp>
        <p:nvSpPr>
          <p:cNvPr id="10" name="Shape 8"/>
          <p:cNvSpPr/>
          <p:nvPr/>
        </p:nvSpPr>
        <p:spPr>
          <a:xfrm>
            <a:off x="3552444" y="4160520"/>
            <a:ext cx="1417320" cy="402336"/>
          </a:xfrm>
          <a:prstGeom prst="roundRect">
            <a:avLst>
              <a:gd name="adj" fmla="val 18182"/>
            </a:avLst>
          </a:prstGeom>
          <a:solidFill>
            <a:srgbClr val="FFFFFF">
              <a:alpha val="10000"/>
            </a:srgbClr>
          </a:solidFill>
          <a:ln w="12700">
            <a:solidFill>
              <a:srgbClr val="D4A373"/>
            </a:solidFill>
            <a:prstDash val="solid"/>
          </a:ln>
        </p:spPr>
      </p:sp>
      <p:sp>
        <p:nvSpPr>
          <p:cNvPr id="11" name="Text 9"/>
          <p:cNvSpPr/>
          <p:nvPr/>
        </p:nvSpPr>
        <p:spPr>
          <a:xfrm>
            <a:off x="3552444" y="4160520"/>
            <a:ext cx="1417320" cy="402336"/>
          </a:xfrm>
          <a:prstGeom prst="rect">
            <a:avLst/>
          </a:prstGeom>
          <a:noFill/>
          <a:ln/>
        </p:spPr>
        <p:txBody>
          <a:bodyPr wrap="square" lIns="0" tIns="0" rIns="0" bIns="0" rtlCol="0" anchor="ctr"/>
          <a:lstStyle/>
          <a:p>
            <a:pPr algn="ctr" indent="0" marL="0">
              <a:buNone/>
            </a:pPr>
            <a:r>
              <a:rPr lang="en-US" sz="1200" dirty="0">
                <a:solidFill>
                  <a:srgbClr val="FFFFFF"/>
                </a:solidFill>
                <a:latin typeface="Calibri" pitchFamily="34" charset="0"/>
                <a:ea typeface="Calibri" pitchFamily="34" charset="-122"/>
                <a:cs typeface="Calibri" pitchFamily="34" charset="-120"/>
              </a:rPr>
              <a:t>Leadership</a:t>
            </a:r>
            <a:endParaRPr lang="en-US" sz="1200" dirty="0"/>
          </a:p>
        </p:txBody>
      </p:sp>
      <p:sp>
        <p:nvSpPr>
          <p:cNvPr id="12" name="Shape 10"/>
          <p:cNvSpPr/>
          <p:nvPr/>
        </p:nvSpPr>
        <p:spPr>
          <a:xfrm>
            <a:off x="5134356" y="4160520"/>
            <a:ext cx="1897380" cy="402336"/>
          </a:xfrm>
          <a:prstGeom prst="roundRect">
            <a:avLst>
              <a:gd name="adj" fmla="val 18182"/>
            </a:avLst>
          </a:prstGeom>
          <a:solidFill>
            <a:srgbClr val="FFFFFF">
              <a:alpha val="10000"/>
            </a:srgbClr>
          </a:solidFill>
          <a:ln w="12700">
            <a:solidFill>
              <a:srgbClr val="D4A373"/>
            </a:solidFill>
            <a:prstDash val="solid"/>
          </a:ln>
        </p:spPr>
      </p:sp>
      <p:sp>
        <p:nvSpPr>
          <p:cNvPr id="13" name="Text 11"/>
          <p:cNvSpPr/>
          <p:nvPr/>
        </p:nvSpPr>
        <p:spPr>
          <a:xfrm>
            <a:off x="5134356" y="4160520"/>
            <a:ext cx="1897380" cy="402336"/>
          </a:xfrm>
          <a:prstGeom prst="rect">
            <a:avLst/>
          </a:prstGeom>
          <a:noFill/>
          <a:ln/>
        </p:spPr>
        <p:txBody>
          <a:bodyPr wrap="square" lIns="0" tIns="0" rIns="0" bIns="0" rtlCol="0" anchor="ctr"/>
          <a:lstStyle/>
          <a:p>
            <a:pPr algn="ctr" indent="0" marL="0">
              <a:buNone/>
            </a:pPr>
            <a:r>
              <a:rPr lang="en-US" sz="1200" dirty="0">
                <a:solidFill>
                  <a:srgbClr val="FFFFFF"/>
                </a:solidFill>
                <a:latin typeface="Calibri" pitchFamily="34" charset="0"/>
                <a:ea typeface="Calibri" pitchFamily="34" charset="-122"/>
                <a:cs typeface="Calibri" pitchFamily="34" charset="-120"/>
              </a:rPr>
              <a:t>Entrepreneuriat</a:t>
            </a:r>
            <a:endParaRPr lang="en-US" sz="1200" dirty="0"/>
          </a:p>
        </p:txBody>
      </p:sp>
      <p:sp>
        <p:nvSpPr>
          <p:cNvPr id="14" name="Shape 12"/>
          <p:cNvSpPr/>
          <p:nvPr/>
        </p:nvSpPr>
        <p:spPr>
          <a:xfrm>
            <a:off x="7196328" y="4160520"/>
            <a:ext cx="2281428" cy="402336"/>
          </a:xfrm>
          <a:prstGeom prst="roundRect">
            <a:avLst>
              <a:gd name="adj" fmla="val 18182"/>
            </a:avLst>
          </a:prstGeom>
          <a:solidFill>
            <a:srgbClr val="FFFFFF">
              <a:alpha val="10000"/>
            </a:srgbClr>
          </a:solidFill>
          <a:ln w="12700">
            <a:solidFill>
              <a:srgbClr val="D4A373"/>
            </a:solidFill>
            <a:prstDash val="solid"/>
          </a:ln>
        </p:spPr>
      </p:sp>
      <p:sp>
        <p:nvSpPr>
          <p:cNvPr id="15" name="Text 13"/>
          <p:cNvSpPr/>
          <p:nvPr/>
        </p:nvSpPr>
        <p:spPr>
          <a:xfrm>
            <a:off x="7196328" y="4160520"/>
            <a:ext cx="2281428" cy="402336"/>
          </a:xfrm>
          <a:prstGeom prst="rect">
            <a:avLst/>
          </a:prstGeom>
          <a:noFill/>
          <a:ln/>
        </p:spPr>
        <p:txBody>
          <a:bodyPr wrap="square" lIns="0" tIns="0" rIns="0" bIns="0" rtlCol="0" anchor="ctr"/>
          <a:lstStyle/>
          <a:p>
            <a:pPr algn="ctr" indent="0" marL="0">
              <a:buNone/>
            </a:pPr>
            <a:r>
              <a:rPr lang="en-US" sz="1200" dirty="0">
                <a:solidFill>
                  <a:srgbClr val="FFFFFF"/>
                </a:solidFill>
                <a:latin typeface="Calibri" pitchFamily="34" charset="0"/>
                <a:ea typeface="Calibri" pitchFamily="34" charset="-122"/>
                <a:cs typeface="Calibri" pitchFamily="34" charset="-120"/>
              </a:rPr>
              <a:t>Développement local</a:t>
            </a:r>
            <a:endParaRPr lang="en-US" sz="1200" dirty="0"/>
          </a:p>
        </p:txBody>
      </p:sp>
      <p:sp>
        <p:nvSpPr>
          <p:cNvPr id="16" name="Text 14"/>
          <p:cNvSpPr/>
          <p:nvPr/>
        </p:nvSpPr>
        <p:spPr>
          <a:xfrm>
            <a:off x="868680" y="6172200"/>
            <a:ext cx="7315200" cy="365760"/>
          </a:xfrm>
          <a:prstGeom prst="rect">
            <a:avLst/>
          </a:prstGeom>
          <a:noFill/>
          <a:ln/>
        </p:spPr>
        <p:txBody>
          <a:bodyPr wrap="square" lIns="0" tIns="0" rIns="0" bIns="0" rtlCol="0" anchor="ctr"/>
          <a:lstStyle/>
          <a:p>
            <a:pPr algn="l" indent="0" marL="0">
              <a:buNone/>
            </a:pPr>
            <a:r>
              <a:rPr lang="en-US" sz="1200" dirty="0">
                <a:solidFill>
                  <a:srgbClr val="FFFFFF"/>
                </a:solidFill>
                <a:latin typeface="Calibri" pitchFamily="34" charset="0"/>
                <a:ea typeface="Calibri" pitchFamily="34" charset="-122"/>
                <a:cs typeface="Calibri" pitchFamily="34" charset="-120"/>
              </a:rPr>
              <a:t>Conakry, République de Guinée</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502920"/>
            <a:ext cx="7315200" cy="640080"/>
          </a:xfrm>
          <a:prstGeom prst="rect">
            <a:avLst/>
          </a:prstGeom>
          <a:noFill/>
          <a:ln/>
        </p:spPr>
        <p:txBody>
          <a:bodyPr wrap="square" lIns="0" tIns="0" rIns="0" bIns="0" rtlCol="0" anchor="ctr"/>
          <a:lstStyle/>
          <a:p>
            <a:pPr indent="0" marL="0">
              <a:buNone/>
            </a:pPr>
            <a:r>
              <a:rPr lang="en-US" sz="3000" b="1" dirty="0">
                <a:solidFill>
                  <a:srgbClr val="1B4332"/>
                </a:solidFill>
                <a:latin typeface="Cambria" pitchFamily="34" charset="0"/>
                <a:ea typeface="Cambria" pitchFamily="34" charset="-122"/>
                <a:cs typeface="Cambria" pitchFamily="34" charset="-120"/>
              </a:rPr>
              <a:t>Qui sommes-nous</a:t>
            </a:r>
            <a:endParaRPr lang="en-US" sz="3000" dirty="0"/>
          </a:p>
        </p:txBody>
      </p:sp>
      <p:sp>
        <p:nvSpPr>
          <p:cNvPr id="3" name="Text 1"/>
          <p:cNvSpPr/>
          <p:nvPr/>
        </p:nvSpPr>
        <p:spPr>
          <a:xfrm>
            <a:off x="640080" y="1508760"/>
            <a:ext cx="6492240" cy="1371600"/>
          </a:xfrm>
          <a:prstGeom prst="rect">
            <a:avLst/>
          </a:prstGeom>
          <a:noFill/>
          <a:ln/>
        </p:spPr>
        <p:txBody>
          <a:bodyPr wrap="square" lIns="0" tIns="0" rIns="0" bIns="0" rtlCol="0" anchor="t"/>
          <a:lstStyle/>
          <a:p>
            <a:pPr algn="l" indent="0" marL="0">
              <a:lnSpc>
                <a:spcPct val="125000"/>
              </a:lnSpc>
              <a:buNone/>
            </a:pPr>
            <a:r>
              <a:rPr lang="en-US" sz="1450" dirty="0">
                <a:solidFill>
                  <a:srgbClr val="2B2B2B"/>
                </a:solidFill>
                <a:latin typeface="Calibri" pitchFamily="34" charset="0"/>
                <a:ea typeface="Calibri" pitchFamily="34" charset="-122"/>
                <a:cs typeface="Calibri" pitchFamily="34" charset="-120"/>
              </a:rPr>
              <a:t>Guinée Impact est une plateforme de la société civile guinéenne qui œuvre pour la promotion de la gouvernance démocratique, de la paix, du développement territorial et de l'autonomisation des jeunes et des femmes.</a:t>
            </a:r>
            <a:endParaRPr lang="en-US" sz="1450" dirty="0"/>
          </a:p>
        </p:txBody>
      </p:sp>
      <p:sp>
        <p:nvSpPr>
          <p:cNvPr id="4" name="Text 2"/>
          <p:cNvSpPr/>
          <p:nvPr/>
        </p:nvSpPr>
        <p:spPr>
          <a:xfrm>
            <a:off x="640080" y="3063240"/>
            <a:ext cx="6492240" cy="1554480"/>
          </a:xfrm>
          <a:prstGeom prst="rect">
            <a:avLst/>
          </a:prstGeom>
          <a:noFill/>
          <a:ln/>
        </p:spPr>
        <p:txBody>
          <a:bodyPr wrap="square" lIns="0" tIns="0" rIns="0" bIns="0" rtlCol="0" anchor="t"/>
          <a:lstStyle/>
          <a:p>
            <a:pPr algn="l" indent="0" marL="0">
              <a:lnSpc>
                <a:spcPct val="125000"/>
              </a:lnSpc>
              <a:buNone/>
            </a:pPr>
            <a:r>
              <a:rPr lang="en-US" sz="1450" dirty="0">
                <a:solidFill>
                  <a:srgbClr val="2B2B2B"/>
                </a:solidFill>
                <a:latin typeface="Calibri" pitchFamily="34" charset="0"/>
                <a:ea typeface="Calibri" pitchFamily="34" charset="-122"/>
                <a:cs typeface="Calibri" pitchFamily="34" charset="-120"/>
              </a:rPr>
              <a:t>Elle accompagne les institutions publiques, les collectivités locales, les organisations de la société civile, le secteur privé et les partenaires au développement dans la conception et la mise en œuvre d'initiatives à fort impact social et économique.</a:t>
            </a:r>
            <a:endParaRPr lang="en-US" sz="1450" dirty="0"/>
          </a:p>
        </p:txBody>
      </p:sp>
      <p:sp>
        <p:nvSpPr>
          <p:cNvPr id="5" name="Text 3"/>
          <p:cNvSpPr/>
          <p:nvPr/>
        </p:nvSpPr>
        <p:spPr>
          <a:xfrm>
            <a:off x="640080" y="4800600"/>
            <a:ext cx="6492240" cy="1463040"/>
          </a:xfrm>
          <a:prstGeom prst="rect">
            <a:avLst/>
          </a:prstGeom>
          <a:noFill/>
          <a:ln/>
        </p:spPr>
        <p:txBody>
          <a:bodyPr wrap="square" lIns="0" tIns="0" rIns="0" bIns="0" rtlCol="0" anchor="t"/>
          <a:lstStyle/>
          <a:p>
            <a:pPr algn="l" indent="0" marL="0">
              <a:lnSpc>
                <a:spcPct val="125000"/>
              </a:lnSpc>
              <a:buNone/>
            </a:pPr>
            <a:r>
              <a:rPr lang="en-US" sz="1450" dirty="0">
                <a:solidFill>
                  <a:srgbClr val="2B2B2B"/>
                </a:solidFill>
                <a:latin typeface="Calibri" pitchFamily="34" charset="0"/>
                <a:ea typeface="Calibri" pitchFamily="34" charset="-122"/>
                <a:cs typeface="Calibri" pitchFamily="34" charset="-120"/>
              </a:rPr>
              <a:t>Guidée par une approche participative et inclusive, Guinée Impact développe des programmes qui renforcent la participation citoyenne, favorisent la cohésion sociale, stimulent l'innovation et encouragent un développement local durable.</a:t>
            </a:r>
            <a:endParaRPr lang="en-US" sz="1450" dirty="0"/>
          </a:p>
        </p:txBody>
      </p:sp>
      <p:sp>
        <p:nvSpPr>
          <p:cNvPr id="6" name="Shape 4"/>
          <p:cNvSpPr/>
          <p:nvPr/>
        </p:nvSpPr>
        <p:spPr>
          <a:xfrm>
            <a:off x="7635240" y="1417320"/>
            <a:ext cx="3931920" cy="4937760"/>
          </a:xfrm>
          <a:prstGeom prst="roundRect">
            <a:avLst>
              <a:gd name="adj" fmla="val 2791"/>
            </a:avLst>
          </a:prstGeom>
          <a:solidFill>
            <a:srgbClr val="F7F5F1"/>
          </a:solidFill>
          <a:ln/>
        </p:spPr>
      </p:sp>
      <p:sp>
        <p:nvSpPr>
          <p:cNvPr id="7" name="Shape 5"/>
          <p:cNvSpPr/>
          <p:nvPr/>
        </p:nvSpPr>
        <p:spPr>
          <a:xfrm>
            <a:off x="9189720" y="1783080"/>
            <a:ext cx="822960" cy="822960"/>
          </a:xfrm>
          <a:prstGeom prst="ellipse">
            <a:avLst/>
          </a:prstGeom>
          <a:solidFill>
            <a:srgbClr val="1B4332"/>
          </a:solidFill>
          <a:ln/>
        </p:spPr>
      </p:sp>
      <p:pic>
        <p:nvPicPr>
          <p:cNvPr id="8" name="Image 0" descr="icon_compass_FFFFFF.png">    </p:cNvPr>
          <p:cNvPicPr>
            <a:picLocks noChangeAspect="1"/>
          </p:cNvPicPr>
          <p:nvPr/>
        </p:nvPicPr>
        <p:blipFill>
          <a:blip r:embed="rId1"/>
          <a:stretch>
            <a:fillRect/>
          </a:stretch>
        </p:blipFill>
        <p:spPr>
          <a:xfrm>
            <a:off x="9400032" y="1993392"/>
            <a:ext cx="402336" cy="402336"/>
          </a:xfrm>
          <a:prstGeom prst="rect">
            <a:avLst/>
          </a:prstGeom>
        </p:spPr>
      </p:pic>
      <p:sp>
        <p:nvSpPr>
          <p:cNvPr id="9" name="Text 6"/>
          <p:cNvSpPr/>
          <p:nvPr/>
        </p:nvSpPr>
        <p:spPr>
          <a:xfrm>
            <a:off x="7909560" y="2788920"/>
            <a:ext cx="3383280" cy="548640"/>
          </a:xfrm>
          <a:prstGeom prst="rect">
            <a:avLst/>
          </a:prstGeom>
          <a:noFill/>
          <a:ln/>
        </p:spPr>
        <p:txBody>
          <a:bodyPr wrap="square" lIns="0" tIns="0" rIns="0" bIns="0" rtlCol="0" anchor="ctr"/>
          <a:lstStyle/>
          <a:p>
            <a:pPr algn="ctr" indent="0" marL="0">
              <a:buNone/>
            </a:pPr>
            <a:r>
              <a:rPr lang="en-US" sz="1500" b="1" dirty="0">
                <a:solidFill>
                  <a:srgbClr val="1B4332"/>
                </a:solidFill>
                <a:latin typeface="Cambria" pitchFamily="34" charset="0"/>
                <a:ea typeface="Cambria" pitchFamily="34" charset="-122"/>
                <a:cs typeface="Cambria" pitchFamily="34" charset="-120"/>
              </a:rPr>
              <a:t>Une approche participative</a:t>
            </a:r>
            <a:endParaRPr lang="en-US" sz="1500" dirty="0"/>
          </a:p>
        </p:txBody>
      </p:sp>
      <p:sp>
        <p:nvSpPr>
          <p:cNvPr id="10" name="Text 7"/>
          <p:cNvSpPr/>
          <p:nvPr/>
        </p:nvSpPr>
        <p:spPr>
          <a:xfrm>
            <a:off x="7909560" y="3429000"/>
            <a:ext cx="3383280" cy="2560320"/>
          </a:xfrm>
          <a:prstGeom prst="rect">
            <a:avLst/>
          </a:prstGeom>
          <a:noFill/>
          <a:ln/>
        </p:spPr>
        <p:txBody>
          <a:bodyPr wrap="square" lIns="0" tIns="0" rIns="0" bIns="0" rtlCol="0" anchor="t"/>
          <a:lstStyle/>
          <a:p>
            <a:pPr algn="ctr" indent="0" marL="0">
              <a:lnSpc>
                <a:spcPct val="130000"/>
              </a:lnSpc>
              <a:buNone/>
            </a:pPr>
            <a:r>
              <a:rPr lang="en-US" sz="1250" dirty="0">
                <a:solidFill>
                  <a:srgbClr val="6B6B6B"/>
                </a:solidFill>
                <a:latin typeface="Calibri" pitchFamily="34" charset="0"/>
                <a:ea typeface="Calibri" pitchFamily="34" charset="-122"/>
                <a:cs typeface="Calibri" pitchFamily="34" charset="-120"/>
              </a:rPr>
              <a:t>Institutions publiques • Collectivités locales • Société civile • Secteur privé • Partenaires au développement</a:t>
            </a:r>
            <a:endParaRPr lang="en-US" sz="12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5F1"/>
        </a:solidFill>
      </p:bgPr>
    </p:bg>
    <p:spTree>
      <p:nvGrpSpPr>
        <p:cNvPr id="1" name=""/>
        <p:cNvGrpSpPr/>
        <p:nvPr/>
      </p:nvGrpSpPr>
      <p:grpSpPr>
        <a:xfrm>
          <a:off x="0" y="0"/>
          <a:ext cx="0" cy="0"/>
          <a:chOff x="0" y="0"/>
          <a:chExt cx="0" cy="0"/>
        </a:xfrm>
      </p:grpSpPr>
      <p:sp>
        <p:nvSpPr>
          <p:cNvPr id="2" name="Text 0"/>
          <p:cNvSpPr/>
          <p:nvPr/>
        </p:nvSpPr>
        <p:spPr>
          <a:xfrm>
            <a:off x="640080" y="502920"/>
            <a:ext cx="7315200" cy="640080"/>
          </a:xfrm>
          <a:prstGeom prst="rect">
            <a:avLst/>
          </a:prstGeom>
          <a:noFill/>
          <a:ln/>
        </p:spPr>
        <p:txBody>
          <a:bodyPr wrap="square" lIns="0" tIns="0" rIns="0" bIns="0" rtlCol="0" anchor="ctr"/>
          <a:lstStyle/>
          <a:p>
            <a:pPr indent="0" marL="0">
              <a:buNone/>
            </a:pPr>
            <a:r>
              <a:rPr lang="en-US" sz="3000" b="1" dirty="0">
                <a:solidFill>
                  <a:srgbClr val="1B4332"/>
                </a:solidFill>
                <a:latin typeface="Cambria" pitchFamily="34" charset="0"/>
                <a:ea typeface="Cambria" pitchFamily="34" charset="-122"/>
                <a:cs typeface="Cambria" pitchFamily="34" charset="-120"/>
              </a:rPr>
              <a:t>Vision &amp; Mission</a:t>
            </a:r>
            <a:endParaRPr lang="en-US" sz="3000" dirty="0"/>
          </a:p>
        </p:txBody>
      </p:sp>
      <p:sp>
        <p:nvSpPr>
          <p:cNvPr id="3" name="Shape 1"/>
          <p:cNvSpPr/>
          <p:nvPr/>
        </p:nvSpPr>
        <p:spPr>
          <a:xfrm>
            <a:off x="640080" y="1508760"/>
            <a:ext cx="5212080" cy="4709160"/>
          </a:xfrm>
          <a:prstGeom prst="roundRect">
            <a:avLst>
              <a:gd name="adj" fmla="val 2330"/>
            </a:avLst>
          </a:prstGeom>
          <a:solidFill>
            <a:srgbClr val="1B4332"/>
          </a:solidFill>
          <a:ln/>
        </p:spPr>
      </p:sp>
      <p:sp>
        <p:nvSpPr>
          <p:cNvPr id="4" name="Shape 2"/>
          <p:cNvSpPr/>
          <p:nvPr/>
        </p:nvSpPr>
        <p:spPr>
          <a:xfrm>
            <a:off x="1005840" y="1874520"/>
            <a:ext cx="777240" cy="777240"/>
          </a:xfrm>
          <a:prstGeom prst="ellipse">
            <a:avLst/>
          </a:prstGeom>
          <a:solidFill>
            <a:srgbClr val="FFFFFF">
              <a:alpha val="12000"/>
            </a:srgbClr>
          </a:solidFill>
          <a:ln/>
        </p:spPr>
      </p:sp>
      <p:pic>
        <p:nvPicPr>
          <p:cNvPr id="5" name="Image 0" descr="icon_compass_FFFFFF.png">    </p:cNvPr>
          <p:cNvPicPr>
            <a:picLocks noChangeAspect="1"/>
          </p:cNvPicPr>
          <p:nvPr/>
        </p:nvPicPr>
        <p:blipFill>
          <a:blip r:embed="rId1"/>
          <a:stretch>
            <a:fillRect/>
          </a:stretch>
        </p:blipFill>
        <p:spPr>
          <a:xfrm>
            <a:off x="1197864" y="2066544"/>
            <a:ext cx="393192" cy="393192"/>
          </a:xfrm>
          <a:prstGeom prst="rect">
            <a:avLst/>
          </a:prstGeom>
        </p:spPr>
      </p:pic>
      <p:sp>
        <p:nvSpPr>
          <p:cNvPr id="6" name="Text 3"/>
          <p:cNvSpPr/>
          <p:nvPr/>
        </p:nvSpPr>
        <p:spPr>
          <a:xfrm>
            <a:off x="960120" y="2788920"/>
            <a:ext cx="4480560" cy="411480"/>
          </a:xfrm>
          <a:prstGeom prst="rect">
            <a:avLst/>
          </a:prstGeom>
          <a:noFill/>
          <a:ln/>
        </p:spPr>
        <p:txBody>
          <a:bodyPr wrap="square" lIns="0" tIns="0" rIns="0" bIns="0" rtlCol="0" anchor="ctr"/>
          <a:lstStyle/>
          <a:p>
            <a:pPr indent="0" marL="0">
              <a:buNone/>
            </a:pPr>
            <a:r>
              <a:rPr lang="en-US" sz="1800" b="1" dirty="0">
                <a:solidFill>
                  <a:srgbClr val="D4A373"/>
                </a:solidFill>
                <a:latin typeface="Cambria" pitchFamily="34" charset="0"/>
                <a:ea typeface="Cambria" pitchFamily="34" charset="-122"/>
                <a:cs typeface="Cambria" pitchFamily="34" charset="-120"/>
              </a:rPr>
              <a:t>VISION</a:t>
            </a:r>
            <a:endParaRPr lang="en-US" sz="1800" dirty="0"/>
          </a:p>
        </p:txBody>
      </p:sp>
      <p:sp>
        <p:nvSpPr>
          <p:cNvPr id="7" name="Text 4"/>
          <p:cNvSpPr/>
          <p:nvPr/>
        </p:nvSpPr>
        <p:spPr>
          <a:xfrm>
            <a:off x="960120" y="3291840"/>
            <a:ext cx="4480560" cy="2651760"/>
          </a:xfrm>
          <a:prstGeom prst="rect">
            <a:avLst/>
          </a:prstGeom>
          <a:noFill/>
          <a:ln/>
        </p:spPr>
        <p:txBody>
          <a:bodyPr wrap="square" lIns="0" tIns="0" rIns="0" bIns="0" rtlCol="0" anchor="t"/>
          <a:lstStyle/>
          <a:p>
            <a:pPr algn="l" indent="0" marL="0">
              <a:lnSpc>
                <a:spcPct val="135000"/>
              </a:lnSpc>
              <a:buNone/>
            </a:pPr>
            <a:r>
              <a:rPr lang="en-US" sz="1500" dirty="0">
                <a:solidFill>
                  <a:srgbClr val="FFFFFF"/>
                </a:solidFill>
                <a:latin typeface="Calibri" pitchFamily="34" charset="0"/>
                <a:ea typeface="Calibri" pitchFamily="34" charset="-122"/>
                <a:cs typeface="Calibri" pitchFamily="34" charset="-120"/>
              </a:rPr>
              <a:t>Contribuer à l'émergence d'une Guinée inclusive, stable et prospère, où les citoyens participent activement à la gouvernance et au développement de leurs communautés.</a:t>
            </a:r>
            <a:endParaRPr lang="en-US" sz="1500" dirty="0"/>
          </a:p>
        </p:txBody>
      </p:sp>
      <p:sp>
        <p:nvSpPr>
          <p:cNvPr id="8" name="Shape 5"/>
          <p:cNvSpPr/>
          <p:nvPr/>
        </p:nvSpPr>
        <p:spPr>
          <a:xfrm>
            <a:off x="6309360" y="1508760"/>
            <a:ext cx="5212080" cy="4709160"/>
          </a:xfrm>
          <a:prstGeom prst="roundRect">
            <a:avLst>
              <a:gd name="adj" fmla="val 2330"/>
            </a:avLst>
          </a:prstGeom>
          <a:solidFill>
            <a:srgbClr val="FFFFFF"/>
          </a:solidFill>
          <a:ln w="15875">
            <a:solidFill>
              <a:srgbClr val="D4A373"/>
            </a:solidFill>
            <a:prstDash val="solid"/>
          </a:ln>
        </p:spPr>
      </p:sp>
      <p:sp>
        <p:nvSpPr>
          <p:cNvPr id="9" name="Shape 6"/>
          <p:cNvSpPr/>
          <p:nvPr/>
        </p:nvSpPr>
        <p:spPr>
          <a:xfrm>
            <a:off x="6675120" y="1874520"/>
            <a:ext cx="777240" cy="777240"/>
          </a:xfrm>
          <a:prstGeom prst="ellipse">
            <a:avLst/>
          </a:prstGeom>
          <a:solidFill>
            <a:srgbClr val="1B4332">
              <a:alpha val="90000"/>
            </a:srgbClr>
          </a:solidFill>
          <a:ln/>
        </p:spPr>
      </p:sp>
      <p:pic>
        <p:nvPicPr>
          <p:cNvPr id="10" name="Image 1" descr="icon_target_FFFFFF.png">    </p:cNvPr>
          <p:cNvPicPr>
            <a:picLocks noChangeAspect="1"/>
          </p:cNvPicPr>
          <p:nvPr/>
        </p:nvPicPr>
        <p:blipFill>
          <a:blip r:embed="rId2"/>
          <a:stretch>
            <a:fillRect/>
          </a:stretch>
        </p:blipFill>
        <p:spPr>
          <a:xfrm>
            <a:off x="6867144" y="2066544"/>
            <a:ext cx="393192" cy="393192"/>
          </a:xfrm>
          <a:prstGeom prst="rect">
            <a:avLst/>
          </a:prstGeom>
        </p:spPr>
      </p:pic>
      <p:sp>
        <p:nvSpPr>
          <p:cNvPr id="11" name="Text 7"/>
          <p:cNvSpPr/>
          <p:nvPr/>
        </p:nvSpPr>
        <p:spPr>
          <a:xfrm>
            <a:off x="6629400" y="2788920"/>
            <a:ext cx="4480560" cy="411480"/>
          </a:xfrm>
          <a:prstGeom prst="rect">
            <a:avLst/>
          </a:prstGeom>
          <a:noFill/>
          <a:ln/>
        </p:spPr>
        <p:txBody>
          <a:bodyPr wrap="square" lIns="0" tIns="0" rIns="0" bIns="0" rtlCol="0" anchor="ctr"/>
          <a:lstStyle/>
          <a:p>
            <a:pPr indent="0" marL="0">
              <a:buNone/>
            </a:pPr>
            <a:r>
              <a:rPr lang="en-US" sz="1800" b="1" dirty="0">
                <a:solidFill>
                  <a:srgbClr val="BC6C25"/>
                </a:solidFill>
                <a:latin typeface="Cambria" pitchFamily="34" charset="0"/>
                <a:ea typeface="Cambria" pitchFamily="34" charset="-122"/>
                <a:cs typeface="Cambria" pitchFamily="34" charset="-120"/>
              </a:rPr>
              <a:t>MISSION</a:t>
            </a:r>
            <a:endParaRPr lang="en-US" sz="1800" dirty="0"/>
          </a:p>
        </p:txBody>
      </p:sp>
      <p:sp>
        <p:nvSpPr>
          <p:cNvPr id="12" name="Text 8"/>
          <p:cNvSpPr/>
          <p:nvPr/>
        </p:nvSpPr>
        <p:spPr>
          <a:xfrm>
            <a:off x="6629400" y="3291840"/>
            <a:ext cx="4480560" cy="2651760"/>
          </a:xfrm>
          <a:prstGeom prst="rect">
            <a:avLst/>
          </a:prstGeom>
          <a:noFill/>
          <a:ln/>
        </p:spPr>
        <p:txBody>
          <a:bodyPr wrap="square" lIns="0" tIns="0" rIns="0" bIns="0" rtlCol="0" anchor="t"/>
          <a:lstStyle/>
          <a:p>
            <a:pPr algn="l" indent="0" marL="0">
              <a:lnSpc>
                <a:spcPct val="135000"/>
              </a:lnSpc>
              <a:buNone/>
            </a:pPr>
            <a:r>
              <a:rPr lang="en-US" sz="1500" dirty="0">
                <a:solidFill>
                  <a:srgbClr val="2B2B2B"/>
                </a:solidFill>
                <a:latin typeface="Calibri" pitchFamily="34" charset="0"/>
                <a:ea typeface="Calibri" pitchFamily="34" charset="-122"/>
                <a:cs typeface="Calibri" pitchFamily="34" charset="-120"/>
              </a:rPr>
              <a:t>Promouvoir une gouvernance responsable, renforcer la participation citoyenne et accompagner les initiatives de développement qui favorisent la paix, l'inclusion sociale, le leadership et l'autonomisation des populations.</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57200"/>
            <a:ext cx="8229600" cy="640080"/>
          </a:xfrm>
          <a:prstGeom prst="rect">
            <a:avLst/>
          </a:prstGeom>
          <a:noFill/>
          <a:ln/>
        </p:spPr>
        <p:txBody>
          <a:bodyPr wrap="square" lIns="0" tIns="0" rIns="0" bIns="0" rtlCol="0" anchor="ctr"/>
          <a:lstStyle/>
          <a:p>
            <a:pPr indent="0" marL="0">
              <a:buNone/>
            </a:pPr>
            <a:r>
              <a:rPr lang="en-US" sz="3000" b="1" dirty="0">
                <a:solidFill>
                  <a:srgbClr val="1B4332"/>
                </a:solidFill>
                <a:latin typeface="Cambria" pitchFamily="34" charset="0"/>
                <a:ea typeface="Cambria" pitchFamily="34" charset="-122"/>
                <a:cs typeface="Cambria" pitchFamily="34" charset="-120"/>
              </a:rPr>
              <a:t>Domaines d'intervention</a:t>
            </a:r>
            <a:endParaRPr lang="en-US" sz="3000" dirty="0"/>
          </a:p>
        </p:txBody>
      </p:sp>
      <p:sp>
        <p:nvSpPr>
          <p:cNvPr id="3" name="Shape 1"/>
          <p:cNvSpPr/>
          <p:nvPr/>
        </p:nvSpPr>
        <p:spPr>
          <a:xfrm>
            <a:off x="640080" y="1417320"/>
            <a:ext cx="3520440" cy="2331720"/>
          </a:xfrm>
          <a:prstGeom prst="roundRect">
            <a:avLst>
              <a:gd name="adj" fmla="val 3922"/>
            </a:avLst>
          </a:prstGeom>
          <a:solidFill>
            <a:srgbClr val="F7F5F1"/>
          </a:solidFill>
          <a:ln/>
        </p:spPr>
      </p:sp>
      <p:sp>
        <p:nvSpPr>
          <p:cNvPr id="4" name="Shape 2"/>
          <p:cNvSpPr/>
          <p:nvPr/>
        </p:nvSpPr>
        <p:spPr>
          <a:xfrm>
            <a:off x="914400" y="1673352"/>
            <a:ext cx="640080" cy="640080"/>
          </a:xfrm>
          <a:prstGeom prst="ellipse">
            <a:avLst/>
          </a:prstGeom>
          <a:solidFill>
            <a:srgbClr val="1B4332"/>
          </a:solidFill>
          <a:ln/>
        </p:spPr>
      </p:sp>
      <p:pic>
        <p:nvPicPr>
          <p:cNvPr id="5" name="Image 0" descr="icon_landmark_FFFFFF.png">    </p:cNvPr>
          <p:cNvPicPr>
            <a:picLocks noChangeAspect="1"/>
          </p:cNvPicPr>
          <p:nvPr/>
        </p:nvPicPr>
        <p:blipFill>
          <a:blip r:embed="rId1"/>
          <a:stretch>
            <a:fillRect/>
          </a:stretch>
        </p:blipFill>
        <p:spPr>
          <a:xfrm>
            <a:off x="1069848" y="1828800"/>
            <a:ext cx="329184" cy="329184"/>
          </a:xfrm>
          <a:prstGeom prst="rect">
            <a:avLst/>
          </a:prstGeom>
        </p:spPr>
      </p:pic>
      <p:sp>
        <p:nvSpPr>
          <p:cNvPr id="6" name="Text 3"/>
          <p:cNvSpPr/>
          <p:nvPr/>
        </p:nvSpPr>
        <p:spPr>
          <a:xfrm>
            <a:off x="896112" y="2468880"/>
            <a:ext cx="3008376" cy="1097280"/>
          </a:xfrm>
          <a:prstGeom prst="rect">
            <a:avLst/>
          </a:prstGeom>
          <a:noFill/>
          <a:ln/>
        </p:spPr>
        <p:txBody>
          <a:bodyPr wrap="square" lIns="0" tIns="0" rIns="0" bIns="0" rtlCol="0" anchor="t"/>
          <a:lstStyle/>
          <a:p>
            <a:pPr algn="l" indent="0" marL="0">
              <a:lnSpc>
                <a:spcPct val="120000"/>
              </a:lnSpc>
              <a:buNone/>
            </a:pPr>
            <a:r>
              <a:rPr lang="en-US" sz="1350" b="1" dirty="0">
                <a:solidFill>
                  <a:srgbClr val="2B2B2B"/>
                </a:solidFill>
                <a:latin typeface="Calibri" pitchFamily="34" charset="0"/>
                <a:ea typeface="Calibri" pitchFamily="34" charset="-122"/>
                <a:cs typeface="Calibri" pitchFamily="34" charset="-120"/>
              </a:rPr>
              <a:t>Gouvernance, démocratie et participation citoyenne</a:t>
            </a:r>
            <a:endParaRPr lang="en-US" sz="1350" dirty="0"/>
          </a:p>
        </p:txBody>
      </p:sp>
      <p:sp>
        <p:nvSpPr>
          <p:cNvPr id="7" name="Shape 4"/>
          <p:cNvSpPr/>
          <p:nvPr/>
        </p:nvSpPr>
        <p:spPr>
          <a:xfrm>
            <a:off x="4480560" y="1417320"/>
            <a:ext cx="3520440" cy="2331720"/>
          </a:xfrm>
          <a:prstGeom prst="roundRect">
            <a:avLst>
              <a:gd name="adj" fmla="val 3922"/>
            </a:avLst>
          </a:prstGeom>
          <a:solidFill>
            <a:srgbClr val="F7F5F1"/>
          </a:solidFill>
          <a:ln/>
        </p:spPr>
      </p:sp>
      <p:sp>
        <p:nvSpPr>
          <p:cNvPr id="8" name="Shape 5"/>
          <p:cNvSpPr/>
          <p:nvPr/>
        </p:nvSpPr>
        <p:spPr>
          <a:xfrm>
            <a:off x="4754880" y="1673352"/>
            <a:ext cx="640080" cy="640080"/>
          </a:xfrm>
          <a:prstGeom prst="ellipse">
            <a:avLst/>
          </a:prstGeom>
          <a:solidFill>
            <a:srgbClr val="1B4332"/>
          </a:solidFill>
          <a:ln/>
        </p:spPr>
      </p:sp>
      <p:pic>
        <p:nvPicPr>
          <p:cNvPr id="9" name="Image 1" descr="icon_handshake_FFFFFF.png">    </p:cNvPr>
          <p:cNvPicPr>
            <a:picLocks noChangeAspect="1"/>
          </p:cNvPicPr>
          <p:nvPr/>
        </p:nvPicPr>
        <p:blipFill>
          <a:blip r:embed="rId2"/>
          <a:stretch>
            <a:fillRect/>
          </a:stretch>
        </p:blipFill>
        <p:spPr>
          <a:xfrm>
            <a:off x="4910328" y="1828800"/>
            <a:ext cx="329184" cy="329184"/>
          </a:xfrm>
          <a:prstGeom prst="rect">
            <a:avLst/>
          </a:prstGeom>
        </p:spPr>
      </p:pic>
      <p:sp>
        <p:nvSpPr>
          <p:cNvPr id="10" name="Text 6"/>
          <p:cNvSpPr/>
          <p:nvPr/>
        </p:nvSpPr>
        <p:spPr>
          <a:xfrm>
            <a:off x="4736592" y="2468880"/>
            <a:ext cx="3008376" cy="1097280"/>
          </a:xfrm>
          <a:prstGeom prst="rect">
            <a:avLst/>
          </a:prstGeom>
          <a:noFill/>
          <a:ln/>
        </p:spPr>
        <p:txBody>
          <a:bodyPr wrap="square" lIns="0" tIns="0" rIns="0" bIns="0" rtlCol="0" anchor="t"/>
          <a:lstStyle/>
          <a:p>
            <a:pPr algn="l" indent="0" marL="0">
              <a:lnSpc>
                <a:spcPct val="120000"/>
              </a:lnSpc>
              <a:buNone/>
            </a:pPr>
            <a:r>
              <a:rPr lang="en-US" sz="1350" b="1" dirty="0">
                <a:solidFill>
                  <a:srgbClr val="2B2B2B"/>
                </a:solidFill>
                <a:latin typeface="Calibri" pitchFamily="34" charset="0"/>
                <a:ea typeface="Calibri" pitchFamily="34" charset="-122"/>
                <a:cs typeface="Calibri" pitchFamily="34" charset="-120"/>
              </a:rPr>
              <a:t>Paix, cohésion sociale et prévention des conflits</a:t>
            </a:r>
            <a:endParaRPr lang="en-US" sz="1350" dirty="0"/>
          </a:p>
        </p:txBody>
      </p:sp>
      <p:sp>
        <p:nvSpPr>
          <p:cNvPr id="11" name="Shape 7"/>
          <p:cNvSpPr/>
          <p:nvPr/>
        </p:nvSpPr>
        <p:spPr>
          <a:xfrm>
            <a:off x="8321040" y="1417320"/>
            <a:ext cx="3520440" cy="2331720"/>
          </a:xfrm>
          <a:prstGeom prst="roundRect">
            <a:avLst>
              <a:gd name="adj" fmla="val 3922"/>
            </a:avLst>
          </a:prstGeom>
          <a:solidFill>
            <a:srgbClr val="F7F5F1"/>
          </a:solidFill>
          <a:ln/>
        </p:spPr>
      </p:sp>
      <p:sp>
        <p:nvSpPr>
          <p:cNvPr id="12" name="Shape 8"/>
          <p:cNvSpPr/>
          <p:nvPr/>
        </p:nvSpPr>
        <p:spPr>
          <a:xfrm>
            <a:off x="8595360" y="1673352"/>
            <a:ext cx="640080" cy="640080"/>
          </a:xfrm>
          <a:prstGeom prst="ellipse">
            <a:avLst/>
          </a:prstGeom>
          <a:solidFill>
            <a:srgbClr val="1B4332"/>
          </a:solidFill>
          <a:ln/>
        </p:spPr>
      </p:sp>
      <p:pic>
        <p:nvPicPr>
          <p:cNvPr id="13" name="Image 2" descr="icon_users_FFFFFF.png">    </p:cNvPr>
          <p:cNvPicPr>
            <a:picLocks noChangeAspect="1"/>
          </p:cNvPicPr>
          <p:nvPr/>
        </p:nvPicPr>
        <p:blipFill>
          <a:blip r:embed="rId3"/>
          <a:stretch>
            <a:fillRect/>
          </a:stretch>
        </p:blipFill>
        <p:spPr>
          <a:xfrm>
            <a:off x="8750808" y="1828800"/>
            <a:ext cx="329184" cy="329184"/>
          </a:xfrm>
          <a:prstGeom prst="rect">
            <a:avLst/>
          </a:prstGeom>
        </p:spPr>
      </p:pic>
      <p:sp>
        <p:nvSpPr>
          <p:cNvPr id="14" name="Text 9"/>
          <p:cNvSpPr/>
          <p:nvPr/>
        </p:nvSpPr>
        <p:spPr>
          <a:xfrm>
            <a:off x="8577072" y="2468880"/>
            <a:ext cx="3008376" cy="1097280"/>
          </a:xfrm>
          <a:prstGeom prst="rect">
            <a:avLst/>
          </a:prstGeom>
          <a:noFill/>
          <a:ln/>
        </p:spPr>
        <p:txBody>
          <a:bodyPr wrap="square" lIns="0" tIns="0" rIns="0" bIns="0" rtlCol="0" anchor="t"/>
          <a:lstStyle/>
          <a:p>
            <a:pPr algn="l" indent="0" marL="0">
              <a:lnSpc>
                <a:spcPct val="120000"/>
              </a:lnSpc>
              <a:buNone/>
            </a:pPr>
            <a:r>
              <a:rPr lang="en-US" sz="1350" b="1" dirty="0">
                <a:solidFill>
                  <a:srgbClr val="2B2B2B"/>
                </a:solidFill>
                <a:latin typeface="Calibri" pitchFamily="34" charset="0"/>
                <a:ea typeface="Calibri" pitchFamily="34" charset="-122"/>
                <a:cs typeface="Calibri" pitchFamily="34" charset="-120"/>
              </a:rPr>
              <a:t>Leadership et autonomisation des jeunes et des femmes</a:t>
            </a:r>
            <a:endParaRPr lang="en-US" sz="1350" dirty="0"/>
          </a:p>
        </p:txBody>
      </p:sp>
      <p:sp>
        <p:nvSpPr>
          <p:cNvPr id="15" name="Shape 10"/>
          <p:cNvSpPr/>
          <p:nvPr/>
        </p:nvSpPr>
        <p:spPr>
          <a:xfrm>
            <a:off x="2560320" y="4069080"/>
            <a:ext cx="3520440" cy="2331720"/>
          </a:xfrm>
          <a:prstGeom prst="roundRect">
            <a:avLst>
              <a:gd name="adj" fmla="val 3922"/>
            </a:avLst>
          </a:prstGeom>
          <a:solidFill>
            <a:srgbClr val="F7F5F1"/>
          </a:solidFill>
          <a:ln/>
        </p:spPr>
      </p:sp>
      <p:sp>
        <p:nvSpPr>
          <p:cNvPr id="16" name="Shape 11"/>
          <p:cNvSpPr/>
          <p:nvPr/>
        </p:nvSpPr>
        <p:spPr>
          <a:xfrm>
            <a:off x="2834640" y="4325112"/>
            <a:ext cx="640080" cy="640080"/>
          </a:xfrm>
          <a:prstGeom prst="ellipse">
            <a:avLst/>
          </a:prstGeom>
          <a:solidFill>
            <a:srgbClr val="1B4332"/>
          </a:solidFill>
          <a:ln/>
        </p:spPr>
      </p:sp>
      <p:pic>
        <p:nvPicPr>
          <p:cNvPr id="17" name="Image 3" descr="icon_lightbulb_FFFFFF.png">    </p:cNvPr>
          <p:cNvPicPr>
            <a:picLocks noChangeAspect="1"/>
          </p:cNvPicPr>
          <p:nvPr/>
        </p:nvPicPr>
        <p:blipFill>
          <a:blip r:embed="rId4"/>
          <a:stretch>
            <a:fillRect/>
          </a:stretch>
        </p:blipFill>
        <p:spPr>
          <a:xfrm>
            <a:off x="2990088" y="4480560"/>
            <a:ext cx="329184" cy="329184"/>
          </a:xfrm>
          <a:prstGeom prst="rect">
            <a:avLst/>
          </a:prstGeom>
        </p:spPr>
      </p:pic>
      <p:sp>
        <p:nvSpPr>
          <p:cNvPr id="18" name="Text 12"/>
          <p:cNvSpPr/>
          <p:nvPr/>
        </p:nvSpPr>
        <p:spPr>
          <a:xfrm>
            <a:off x="2816352" y="5120640"/>
            <a:ext cx="3008376" cy="1097280"/>
          </a:xfrm>
          <a:prstGeom prst="rect">
            <a:avLst/>
          </a:prstGeom>
          <a:noFill/>
          <a:ln/>
        </p:spPr>
        <p:txBody>
          <a:bodyPr wrap="square" lIns="0" tIns="0" rIns="0" bIns="0" rtlCol="0" anchor="t"/>
          <a:lstStyle/>
          <a:p>
            <a:pPr algn="l" indent="0" marL="0">
              <a:lnSpc>
                <a:spcPct val="120000"/>
              </a:lnSpc>
              <a:buNone/>
            </a:pPr>
            <a:r>
              <a:rPr lang="en-US" sz="1350" b="1" dirty="0">
                <a:solidFill>
                  <a:srgbClr val="2B2B2B"/>
                </a:solidFill>
                <a:latin typeface="Calibri" pitchFamily="34" charset="0"/>
                <a:ea typeface="Calibri" pitchFamily="34" charset="-122"/>
                <a:cs typeface="Calibri" pitchFamily="34" charset="-120"/>
              </a:rPr>
              <a:t>Entrepreneuriat, innovation et employabilité</a:t>
            </a:r>
            <a:endParaRPr lang="en-US" sz="1350" dirty="0"/>
          </a:p>
        </p:txBody>
      </p:sp>
      <p:sp>
        <p:nvSpPr>
          <p:cNvPr id="19" name="Shape 13"/>
          <p:cNvSpPr/>
          <p:nvPr/>
        </p:nvSpPr>
        <p:spPr>
          <a:xfrm>
            <a:off x="6400800" y="4069080"/>
            <a:ext cx="3520440" cy="2331720"/>
          </a:xfrm>
          <a:prstGeom prst="roundRect">
            <a:avLst>
              <a:gd name="adj" fmla="val 3922"/>
            </a:avLst>
          </a:prstGeom>
          <a:solidFill>
            <a:srgbClr val="F7F5F1"/>
          </a:solidFill>
          <a:ln/>
        </p:spPr>
      </p:sp>
      <p:sp>
        <p:nvSpPr>
          <p:cNvPr id="20" name="Shape 14"/>
          <p:cNvSpPr/>
          <p:nvPr/>
        </p:nvSpPr>
        <p:spPr>
          <a:xfrm>
            <a:off x="6675120" y="4325112"/>
            <a:ext cx="640080" cy="640080"/>
          </a:xfrm>
          <a:prstGeom prst="ellipse">
            <a:avLst/>
          </a:prstGeom>
          <a:solidFill>
            <a:srgbClr val="1B4332"/>
          </a:solidFill>
          <a:ln/>
        </p:spPr>
      </p:sp>
      <p:pic>
        <p:nvPicPr>
          <p:cNvPr id="21" name="Image 4" descr="icon_building_FFFFFF.png">    </p:cNvPr>
          <p:cNvPicPr>
            <a:picLocks noChangeAspect="1"/>
          </p:cNvPicPr>
          <p:nvPr/>
        </p:nvPicPr>
        <p:blipFill>
          <a:blip r:embed="rId5"/>
          <a:stretch>
            <a:fillRect/>
          </a:stretch>
        </p:blipFill>
        <p:spPr>
          <a:xfrm>
            <a:off x="6830568" y="4480560"/>
            <a:ext cx="329184" cy="329184"/>
          </a:xfrm>
          <a:prstGeom prst="rect">
            <a:avLst/>
          </a:prstGeom>
        </p:spPr>
      </p:pic>
      <p:sp>
        <p:nvSpPr>
          <p:cNvPr id="22" name="Text 15"/>
          <p:cNvSpPr/>
          <p:nvPr/>
        </p:nvSpPr>
        <p:spPr>
          <a:xfrm>
            <a:off x="6656832" y="5120640"/>
            <a:ext cx="3008376" cy="1097280"/>
          </a:xfrm>
          <a:prstGeom prst="rect">
            <a:avLst/>
          </a:prstGeom>
          <a:noFill/>
          <a:ln/>
        </p:spPr>
        <p:txBody>
          <a:bodyPr wrap="square" lIns="0" tIns="0" rIns="0" bIns="0" rtlCol="0" anchor="t"/>
          <a:lstStyle/>
          <a:p>
            <a:pPr algn="l" indent="0" marL="0">
              <a:lnSpc>
                <a:spcPct val="120000"/>
              </a:lnSpc>
              <a:buNone/>
            </a:pPr>
            <a:r>
              <a:rPr lang="en-US" sz="1350" b="1" dirty="0">
                <a:solidFill>
                  <a:srgbClr val="2B2B2B"/>
                </a:solidFill>
                <a:latin typeface="Calibri" pitchFamily="34" charset="0"/>
                <a:ea typeface="Calibri" pitchFamily="34" charset="-122"/>
                <a:cs typeface="Calibri" pitchFamily="34" charset="-120"/>
              </a:rPr>
              <a:t>Développement local et territorial</a:t>
            </a:r>
            <a:endParaRPr lang="en-US" sz="13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B4332"/>
        </a:solidFill>
      </p:bgPr>
    </p:bg>
    <p:spTree>
      <p:nvGrpSpPr>
        <p:cNvPr id="1" name=""/>
        <p:cNvGrpSpPr/>
        <p:nvPr/>
      </p:nvGrpSpPr>
      <p:grpSpPr>
        <a:xfrm>
          <a:off x="0" y="0"/>
          <a:ext cx="0" cy="0"/>
          <a:chOff x="0" y="0"/>
          <a:chExt cx="0" cy="0"/>
        </a:xfrm>
      </p:grpSpPr>
      <p:sp>
        <p:nvSpPr>
          <p:cNvPr id="2" name="Shape 0"/>
          <p:cNvSpPr/>
          <p:nvPr/>
        </p:nvSpPr>
        <p:spPr>
          <a:xfrm>
            <a:off x="-1828800" y="-2011680"/>
            <a:ext cx="5486400" cy="5486400"/>
          </a:xfrm>
          <a:prstGeom prst="ellipse">
            <a:avLst/>
          </a:prstGeom>
          <a:solidFill>
            <a:srgbClr val="2D6A4F">
              <a:alpha val="55000"/>
            </a:srgbClr>
          </a:solidFill>
          <a:ln/>
        </p:spPr>
      </p:sp>
      <p:sp>
        <p:nvSpPr>
          <p:cNvPr id="3" name="Text 1"/>
          <p:cNvSpPr/>
          <p:nvPr/>
        </p:nvSpPr>
        <p:spPr>
          <a:xfrm>
            <a:off x="822960" y="685800"/>
            <a:ext cx="7315200" cy="73152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Contact</a:t>
            </a:r>
            <a:endParaRPr lang="en-US" sz="3200" dirty="0"/>
          </a:p>
        </p:txBody>
      </p:sp>
      <p:sp>
        <p:nvSpPr>
          <p:cNvPr id="4" name="Text 2"/>
          <p:cNvSpPr/>
          <p:nvPr/>
        </p:nvSpPr>
        <p:spPr>
          <a:xfrm>
            <a:off x="822960" y="1371600"/>
            <a:ext cx="7315200" cy="457200"/>
          </a:xfrm>
          <a:prstGeom prst="rect">
            <a:avLst/>
          </a:prstGeom>
          <a:noFill/>
          <a:ln/>
        </p:spPr>
        <p:txBody>
          <a:bodyPr wrap="square" lIns="0" tIns="0" rIns="0" bIns="0" rtlCol="0" anchor="ctr"/>
          <a:lstStyle/>
          <a:p>
            <a:pPr indent="0" marL="0">
              <a:buNone/>
            </a:pPr>
            <a:r>
              <a:rPr lang="en-US" sz="1600" i="1" dirty="0">
                <a:solidFill>
                  <a:srgbClr val="D4A373"/>
                </a:solidFill>
                <a:latin typeface="Calibri" pitchFamily="34" charset="0"/>
                <a:ea typeface="Calibri" pitchFamily="34" charset="-122"/>
                <a:cs typeface="Calibri" pitchFamily="34" charset="-120"/>
              </a:rPr>
              <a:t>Guinée Impact</a:t>
            </a:r>
            <a:endParaRPr lang="en-US" sz="1600" dirty="0"/>
          </a:p>
        </p:txBody>
      </p:sp>
      <p:sp>
        <p:nvSpPr>
          <p:cNvPr id="5" name="Shape 3"/>
          <p:cNvSpPr/>
          <p:nvPr/>
        </p:nvSpPr>
        <p:spPr>
          <a:xfrm>
            <a:off x="822960" y="2514600"/>
            <a:ext cx="566928" cy="566928"/>
          </a:xfrm>
          <a:prstGeom prst="ellipse">
            <a:avLst/>
          </a:prstGeom>
          <a:solidFill>
            <a:srgbClr val="FFFFFF">
              <a:alpha val="12000"/>
            </a:srgbClr>
          </a:solidFill>
          <a:ln/>
        </p:spPr>
      </p:sp>
      <p:pic>
        <p:nvPicPr>
          <p:cNvPr id="6" name="Image 0" descr="icon_users_FFFFFF.png">    </p:cNvPr>
          <p:cNvPicPr>
            <a:picLocks noChangeAspect="1"/>
          </p:cNvPicPr>
          <p:nvPr/>
        </p:nvPicPr>
        <p:blipFill>
          <a:blip r:embed="rId1"/>
          <a:stretch>
            <a:fillRect/>
          </a:stretch>
        </p:blipFill>
        <p:spPr>
          <a:xfrm>
            <a:off x="969264" y="2660904"/>
            <a:ext cx="274320" cy="274320"/>
          </a:xfrm>
          <a:prstGeom prst="rect">
            <a:avLst/>
          </a:prstGeom>
        </p:spPr>
      </p:pic>
      <p:sp>
        <p:nvSpPr>
          <p:cNvPr id="7" name="Text 4"/>
          <p:cNvSpPr/>
          <p:nvPr/>
        </p:nvSpPr>
        <p:spPr>
          <a:xfrm>
            <a:off x="1600200" y="2487168"/>
            <a:ext cx="8686800" cy="292608"/>
          </a:xfrm>
          <a:prstGeom prst="rect">
            <a:avLst/>
          </a:prstGeom>
          <a:noFill/>
          <a:ln/>
        </p:spPr>
        <p:txBody>
          <a:bodyPr wrap="square" lIns="0" tIns="0" rIns="0" bIns="0" rtlCol="0" anchor="ctr"/>
          <a:lstStyle/>
          <a:p>
            <a:pPr indent="0" marL="0">
              <a:buNone/>
            </a:pPr>
            <a:r>
              <a:rPr lang="en-US" sz="1150" b="1" dirty="0">
                <a:solidFill>
                  <a:srgbClr val="D4A373"/>
                </a:solidFill>
                <a:latin typeface="Calibri" pitchFamily="34" charset="0"/>
                <a:ea typeface="Calibri" pitchFamily="34" charset="-122"/>
                <a:cs typeface="Calibri" pitchFamily="34" charset="-120"/>
              </a:rPr>
              <a:t>PRÉSIDENT</a:t>
            </a:r>
            <a:endParaRPr lang="en-US" sz="1150" dirty="0"/>
          </a:p>
        </p:txBody>
      </p:sp>
      <p:sp>
        <p:nvSpPr>
          <p:cNvPr id="8" name="Text 5"/>
          <p:cNvSpPr/>
          <p:nvPr/>
        </p:nvSpPr>
        <p:spPr>
          <a:xfrm>
            <a:off x="1600200" y="2770632"/>
            <a:ext cx="9418320" cy="502920"/>
          </a:xfrm>
          <a:prstGeom prst="rect">
            <a:avLst/>
          </a:prstGeom>
          <a:noFill/>
          <a:ln/>
        </p:spPr>
        <p:txBody>
          <a:bodyPr wrap="square" lIns="0" tIns="0" rIns="0" bIns="0" rtlCol="0" anchor="ctr"/>
          <a:lstStyle/>
          <a:p>
            <a:pPr indent="0" marL="0">
              <a:buNone/>
            </a:pPr>
            <a:r>
              <a:rPr lang="en-US" sz="1450" dirty="0">
                <a:solidFill>
                  <a:srgbClr val="FFFFFF"/>
                </a:solidFill>
                <a:latin typeface="Calibri" pitchFamily="34" charset="0"/>
                <a:ea typeface="Calibri" pitchFamily="34" charset="-122"/>
                <a:cs typeface="Calibri" pitchFamily="34" charset="-120"/>
              </a:rPr>
              <a:t>Mamadou Adama Barry</a:t>
            </a:r>
            <a:endParaRPr lang="en-US" sz="1450" dirty="0"/>
          </a:p>
        </p:txBody>
      </p:sp>
      <p:sp>
        <p:nvSpPr>
          <p:cNvPr id="9" name="Shape 6"/>
          <p:cNvSpPr/>
          <p:nvPr/>
        </p:nvSpPr>
        <p:spPr>
          <a:xfrm>
            <a:off x="822960" y="3383280"/>
            <a:ext cx="566928" cy="566928"/>
          </a:xfrm>
          <a:prstGeom prst="ellipse">
            <a:avLst/>
          </a:prstGeom>
          <a:solidFill>
            <a:srgbClr val="FFFFFF">
              <a:alpha val="12000"/>
            </a:srgbClr>
          </a:solidFill>
          <a:ln/>
        </p:spPr>
      </p:sp>
      <p:pic>
        <p:nvPicPr>
          <p:cNvPr id="10" name="Image 1" descr="icon_mappin_FFFFFF.png">    </p:cNvPr>
          <p:cNvPicPr>
            <a:picLocks noChangeAspect="1"/>
          </p:cNvPicPr>
          <p:nvPr/>
        </p:nvPicPr>
        <p:blipFill>
          <a:blip r:embed="rId2"/>
          <a:stretch>
            <a:fillRect/>
          </a:stretch>
        </p:blipFill>
        <p:spPr>
          <a:xfrm>
            <a:off x="969264" y="3529584"/>
            <a:ext cx="274320" cy="274320"/>
          </a:xfrm>
          <a:prstGeom prst="rect">
            <a:avLst/>
          </a:prstGeom>
        </p:spPr>
      </p:pic>
      <p:sp>
        <p:nvSpPr>
          <p:cNvPr id="11" name="Text 7"/>
          <p:cNvSpPr/>
          <p:nvPr/>
        </p:nvSpPr>
        <p:spPr>
          <a:xfrm>
            <a:off x="1600200" y="3355848"/>
            <a:ext cx="8686800" cy="292608"/>
          </a:xfrm>
          <a:prstGeom prst="rect">
            <a:avLst/>
          </a:prstGeom>
          <a:noFill/>
          <a:ln/>
        </p:spPr>
        <p:txBody>
          <a:bodyPr wrap="square" lIns="0" tIns="0" rIns="0" bIns="0" rtlCol="0" anchor="ctr"/>
          <a:lstStyle/>
          <a:p>
            <a:pPr indent="0" marL="0">
              <a:buNone/>
            </a:pPr>
            <a:r>
              <a:rPr lang="en-US" sz="1150" b="1" dirty="0">
                <a:solidFill>
                  <a:srgbClr val="D4A373"/>
                </a:solidFill>
                <a:latin typeface="Calibri" pitchFamily="34" charset="0"/>
                <a:ea typeface="Calibri" pitchFamily="34" charset="-122"/>
                <a:cs typeface="Calibri" pitchFamily="34" charset="-120"/>
              </a:rPr>
              <a:t>SIÈGE SOCIAL</a:t>
            </a:r>
            <a:endParaRPr lang="en-US" sz="1150" dirty="0"/>
          </a:p>
        </p:txBody>
      </p:sp>
      <p:sp>
        <p:nvSpPr>
          <p:cNvPr id="12" name="Text 8"/>
          <p:cNvSpPr/>
          <p:nvPr/>
        </p:nvSpPr>
        <p:spPr>
          <a:xfrm>
            <a:off x="1600200" y="3639312"/>
            <a:ext cx="9418320" cy="502920"/>
          </a:xfrm>
          <a:prstGeom prst="rect">
            <a:avLst/>
          </a:prstGeom>
          <a:noFill/>
          <a:ln/>
        </p:spPr>
        <p:txBody>
          <a:bodyPr wrap="square" lIns="0" tIns="0" rIns="0" bIns="0" rtlCol="0" anchor="ctr"/>
          <a:lstStyle/>
          <a:p>
            <a:pPr indent="0" marL="0">
              <a:buNone/>
            </a:pPr>
            <a:r>
              <a:rPr lang="en-US" sz="1450" dirty="0">
                <a:solidFill>
                  <a:srgbClr val="FFFFFF"/>
                </a:solidFill>
                <a:latin typeface="Calibri" pitchFamily="34" charset="0"/>
                <a:ea typeface="Calibri" pitchFamily="34" charset="-122"/>
                <a:cs typeface="Calibri" pitchFamily="34" charset="-120"/>
              </a:rPr>
              <a:t>Yattayah Fossidet, Commune de Sonfonia, Conakry, République de Guinée</a:t>
            </a:r>
            <a:endParaRPr lang="en-US" sz="1450" dirty="0"/>
          </a:p>
        </p:txBody>
      </p:sp>
      <p:sp>
        <p:nvSpPr>
          <p:cNvPr id="13" name="Shape 9"/>
          <p:cNvSpPr/>
          <p:nvPr/>
        </p:nvSpPr>
        <p:spPr>
          <a:xfrm>
            <a:off x="822960" y="4251960"/>
            <a:ext cx="566928" cy="566928"/>
          </a:xfrm>
          <a:prstGeom prst="ellipse">
            <a:avLst/>
          </a:prstGeom>
          <a:solidFill>
            <a:srgbClr val="FFFFFF">
              <a:alpha val="12000"/>
            </a:srgbClr>
          </a:solidFill>
          <a:ln/>
        </p:spPr>
      </p:sp>
      <p:pic>
        <p:nvPicPr>
          <p:cNvPr id="14" name="Image 2" descr="icon_phone_FFFFFF.png">    </p:cNvPr>
          <p:cNvPicPr>
            <a:picLocks noChangeAspect="1"/>
          </p:cNvPicPr>
          <p:nvPr/>
        </p:nvPicPr>
        <p:blipFill>
          <a:blip r:embed="rId3"/>
          <a:stretch>
            <a:fillRect/>
          </a:stretch>
        </p:blipFill>
        <p:spPr>
          <a:xfrm>
            <a:off x="969264" y="4398264"/>
            <a:ext cx="274320" cy="274320"/>
          </a:xfrm>
          <a:prstGeom prst="rect">
            <a:avLst/>
          </a:prstGeom>
        </p:spPr>
      </p:pic>
      <p:sp>
        <p:nvSpPr>
          <p:cNvPr id="15" name="Text 10"/>
          <p:cNvSpPr/>
          <p:nvPr/>
        </p:nvSpPr>
        <p:spPr>
          <a:xfrm>
            <a:off x="1600200" y="4224528"/>
            <a:ext cx="8686800" cy="292608"/>
          </a:xfrm>
          <a:prstGeom prst="rect">
            <a:avLst/>
          </a:prstGeom>
          <a:noFill/>
          <a:ln/>
        </p:spPr>
        <p:txBody>
          <a:bodyPr wrap="square" lIns="0" tIns="0" rIns="0" bIns="0" rtlCol="0" anchor="ctr"/>
          <a:lstStyle/>
          <a:p>
            <a:pPr indent="0" marL="0">
              <a:buNone/>
            </a:pPr>
            <a:r>
              <a:rPr lang="en-US" sz="1150" b="1" dirty="0">
                <a:solidFill>
                  <a:srgbClr val="D4A373"/>
                </a:solidFill>
                <a:latin typeface="Calibri" pitchFamily="34" charset="0"/>
                <a:ea typeface="Calibri" pitchFamily="34" charset="-122"/>
                <a:cs typeface="Calibri" pitchFamily="34" charset="-120"/>
              </a:rPr>
              <a:t>TÉLÉPHONE</a:t>
            </a:r>
            <a:endParaRPr lang="en-US" sz="1150" dirty="0"/>
          </a:p>
        </p:txBody>
      </p:sp>
      <p:sp>
        <p:nvSpPr>
          <p:cNvPr id="16" name="Text 11"/>
          <p:cNvSpPr/>
          <p:nvPr/>
        </p:nvSpPr>
        <p:spPr>
          <a:xfrm>
            <a:off x="1600200" y="4507992"/>
            <a:ext cx="9418320" cy="502920"/>
          </a:xfrm>
          <a:prstGeom prst="rect">
            <a:avLst/>
          </a:prstGeom>
          <a:noFill/>
          <a:ln/>
        </p:spPr>
        <p:txBody>
          <a:bodyPr wrap="square" lIns="0" tIns="0" rIns="0" bIns="0" rtlCol="0" anchor="ctr"/>
          <a:lstStyle/>
          <a:p>
            <a:pPr indent="0" marL="0">
              <a:buNone/>
            </a:pPr>
            <a:r>
              <a:rPr lang="en-US" sz="1450" dirty="0">
                <a:solidFill>
                  <a:srgbClr val="FFFFFF"/>
                </a:solidFill>
                <a:latin typeface="Calibri" pitchFamily="34" charset="0"/>
                <a:ea typeface="Calibri" pitchFamily="34" charset="-122"/>
                <a:cs typeface="Calibri" pitchFamily="34" charset="-120"/>
              </a:rPr>
              <a:t>(+224) 620 42 52 10</a:t>
            </a:r>
            <a:endParaRPr lang="en-US" sz="1450" dirty="0"/>
          </a:p>
        </p:txBody>
      </p:sp>
      <p:sp>
        <p:nvSpPr>
          <p:cNvPr id="17" name="Shape 12"/>
          <p:cNvSpPr/>
          <p:nvPr/>
        </p:nvSpPr>
        <p:spPr>
          <a:xfrm>
            <a:off x="822960" y="5120640"/>
            <a:ext cx="566928" cy="566928"/>
          </a:xfrm>
          <a:prstGeom prst="ellipse">
            <a:avLst/>
          </a:prstGeom>
          <a:solidFill>
            <a:srgbClr val="FFFFFF">
              <a:alpha val="12000"/>
            </a:srgbClr>
          </a:solidFill>
          <a:ln/>
        </p:spPr>
      </p:sp>
      <p:pic>
        <p:nvPicPr>
          <p:cNvPr id="18" name="Image 3" descr="icon_mail_FFFFFF.png">    </p:cNvPr>
          <p:cNvPicPr>
            <a:picLocks noChangeAspect="1"/>
          </p:cNvPicPr>
          <p:nvPr/>
        </p:nvPicPr>
        <p:blipFill>
          <a:blip r:embed="rId4"/>
          <a:stretch>
            <a:fillRect/>
          </a:stretch>
        </p:blipFill>
        <p:spPr>
          <a:xfrm>
            <a:off x="969264" y="5266944"/>
            <a:ext cx="274320" cy="274320"/>
          </a:xfrm>
          <a:prstGeom prst="rect">
            <a:avLst/>
          </a:prstGeom>
        </p:spPr>
      </p:pic>
      <p:sp>
        <p:nvSpPr>
          <p:cNvPr id="19" name="Text 13"/>
          <p:cNvSpPr/>
          <p:nvPr/>
        </p:nvSpPr>
        <p:spPr>
          <a:xfrm>
            <a:off x="1600200" y="5093208"/>
            <a:ext cx="8686800" cy="292608"/>
          </a:xfrm>
          <a:prstGeom prst="rect">
            <a:avLst/>
          </a:prstGeom>
          <a:noFill/>
          <a:ln/>
        </p:spPr>
        <p:txBody>
          <a:bodyPr wrap="square" lIns="0" tIns="0" rIns="0" bIns="0" rtlCol="0" anchor="ctr"/>
          <a:lstStyle/>
          <a:p>
            <a:pPr indent="0" marL="0">
              <a:buNone/>
            </a:pPr>
            <a:r>
              <a:rPr lang="en-US" sz="1150" b="1" dirty="0">
                <a:solidFill>
                  <a:srgbClr val="D4A373"/>
                </a:solidFill>
                <a:latin typeface="Calibri" pitchFamily="34" charset="0"/>
                <a:ea typeface="Calibri" pitchFamily="34" charset="-122"/>
                <a:cs typeface="Calibri" pitchFamily="34" charset="-120"/>
              </a:rPr>
              <a:t>E-MAILS</a:t>
            </a:r>
            <a:endParaRPr lang="en-US" sz="1150" dirty="0"/>
          </a:p>
        </p:txBody>
      </p:sp>
      <p:sp>
        <p:nvSpPr>
          <p:cNvPr id="20" name="Text 14"/>
          <p:cNvSpPr/>
          <p:nvPr/>
        </p:nvSpPr>
        <p:spPr>
          <a:xfrm>
            <a:off x="1600200" y="5376672"/>
            <a:ext cx="9418320" cy="502920"/>
          </a:xfrm>
          <a:prstGeom prst="rect">
            <a:avLst/>
          </a:prstGeom>
          <a:noFill/>
          <a:ln/>
        </p:spPr>
        <p:txBody>
          <a:bodyPr wrap="square" lIns="0" tIns="0" rIns="0" bIns="0" rtlCol="0" anchor="ctr"/>
          <a:lstStyle/>
          <a:p>
            <a:pPr indent="0" marL="0">
              <a:buNone/>
            </a:pPr>
            <a:r>
              <a:rPr lang="en-US" sz="1450" dirty="0">
                <a:solidFill>
                  <a:srgbClr val="FFFFFF"/>
                </a:solidFill>
                <a:latin typeface="Calibri" pitchFamily="34" charset="0"/>
                <a:ea typeface="Calibri" pitchFamily="34" charset="-122"/>
                <a:cs typeface="Calibri" pitchFamily="34" charset="-120"/>
              </a:rPr>
              <a:t>guineeimpactgn@gmail.com  ·  barrymed45@gmail.com</a:t>
            </a:r>
            <a:endParaRPr lang="en-US" sz="14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Slides>
  <Notes>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vt:i4>
      </vt:variant>
    </vt:vector>
  </HeadingPairs>
  <TitlesOfParts>
    <vt:vector size="8" baseType="lpstr">
      <vt:lpstr>Arial</vt:lpstr>
      <vt:lpstr>Calibri</vt:lpstr>
      <vt:lpstr>Office Theme</vt:lpstr>
      <vt:lpstr>Slide 1</vt:lpstr>
      <vt:lpstr>Slide 2</vt:lpstr>
      <vt:lpstr>Slide 3</vt:lpstr>
      <vt:lpstr>Slide 4</vt:lpstr>
      <vt:lpstr>Slide 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2026-08-09T17:17:19Z</dcterms:created>
  <dcterms:modified xsi:type="dcterms:W3CDTF">2026-08-09T17:17:19Z</dcterms:modified>
</cp:coreProperties>
</file>